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1" r:id="rId2"/>
  </p:sldMasterIdLst>
  <p:notesMasterIdLst>
    <p:notesMasterId r:id="rId21"/>
  </p:notesMasterIdLst>
  <p:sldIdLst>
    <p:sldId id="307" r:id="rId3"/>
    <p:sldId id="321" r:id="rId4"/>
    <p:sldId id="308" r:id="rId5"/>
    <p:sldId id="309" r:id="rId6"/>
    <p:sldId id="310" r:id="rId7"/>
    <p:sldId id="311" r:id="rId8"/>
    <p:sldId id="312" r:id="rId9"/>
    <p:sldId id="313" r:id="rId10"/>
    <p:sldId id="314" r:id="rId11"/>
    <p:sldId id="323" r:id="rId12"/>
    <p:sldId id="315" r:id="rId13"/>
    <p:sldId id="316" r:id="rId14"/>
    <p:sldId id="317" r:id="rId15"/>
    <p:sldId id="322" r:id="rId16"/>
    <p:sldId id="318" r:id="rId17"/>
    <p:sldId id="324" r:id="rId18"/>
    <p:sldId id="319" r:id="rId19"/>
    <p:sldId id="320"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7B680"/>
    <a:srgbClr val="F4F6F6"/>
    <a:srgbClr val="ED7D31"/>
    <a:srgbClr val="F7F8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258" dt="2026-09-22T21:39:55.4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506"/>
    <p:restoredTop sz="94610"/>
  </p:normalViewPr>
  <p:slideViewPr>
    <p:cSldViewPr snapToGrid="0" snapToObjects="1">
      <p:cViewPr varScale="1">
        <p:scale>
          <a:sx n="102" d="100"/>
          <a:sy n="102" d="100"/>
        </p:scale>
        <p:origin x="200" y="6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5/10/relationships/revisionInfo" Target="revisionInfo.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7239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Speaker Notes"/>
          <p:cNvSpPr txBox="1"/>
          <p:nvPr/>
        </p:nvSpPr>
        <p:spPr>
          <a:xfrm>
            <a:off x="457200" y="457200"/>
            <a:ext cx="8229600" cy="5486400"/>
          </a:xfrm>
          <a:prstGeom prst="rect">
            <a:avLst/>
          </a:prstGeom>
        </p:spPr>
        <p:txBody>
          <a:bodyPr wrap="square">
            <a:normAutofit/>
          </a:bodyPr>
          <a:lstStyle/>
          <a:p>
            <a:r>
              <a:rPr lang="en-US" sz="1200" dirty="0"/>
              <a:t>Sources for the PostgreSQL vertical-scaling example on this slide:</a:t>
            </a:r>
          </a:p>
          <a:p>
            <a:r>
              <a:rPr lang="en-US" sz="1200" dirty="0"/>
              <a:t>- AWS, Amazon RDS DB instance classes (scaling compute means picking a larger instance class): https://docs.aws.amazon.com/AmazonRDS/latest/UserGuide/Concepts.DBInstanceClass.html</a:t>
            </a:r>
          </a:p>
          <a:p>
            <a:r>
              <a:rPr lang="en-US" sz="1200" dirty="0"/>
              <a:t>- Citus Data / Microsoft, "What is Citus?" (why vanilla PostgreSQL cannot shard a query across nodes on its own): https://docs.citusdata.com/en/stable/get_started/what_is_citus.html</a:t>
            </a:r>
          </a:p>
        </p:txBody>
      </p:sp>
      <p:sp>
        <p:nvSpPr>
          <p:cNvPr id="2" name="Notes Placeholder 1">
            <a:extLst>
              <a:ext uri="{FF2B5EF4-FFF2-40B4-BE49-F238E27FC236}">
                <a16:creationId xmlns:a16="http://schemas.microsoft.com/office/drawing/2014/main" id="{EC9A74B7-9384-C581-5313-DED8D039F7EA}"/>
              </a:ext>
            </a:extLst>
          </p:cNvPr>
          <p:cNvSpPr>
            <a:spLocks noGrp="1"/>
          </p:cNvSpPr>
          <p:nvPr>
            <p:ph type="body" idx="1"/>
          </p:nvPr>
        </p:nvSpPr>
        <p:spPr>
          <a:xfrm>
            <a:off x="685800" y="5867400"/>
            <a:ext cx="5486400" cy="4800600"/>
          </a:xfrm>
          <a:prstGeom prst="rect">
            <a:avLst/>
          </a:prstGeom>
        </p:spPr>
        <p:txBody>
          <a:bodyPr/>
          <a:lstStyle/>
          <a:p>
            <a:r>
              <a:rPr lang="en-US" dirty="0"/>
              <a:t>Schema-on-Write structures data according to a predefined schema before writing the data into the storage. This approach ensures data consistency and facilitates efficient querying. However, it requires a detailed understanding of the data schema before ingesting the data.</a:t>
            </a:r>
          </a:p>
          <a:p>
            <a:r>
              <a:rPr lang="en-US" dirty="0"/>
              <a:t>Schema-on-Read postpones the structuring of data to the time of analysis or reading. This approach supports flexible data models and is ideal for unstructured data. It allows for ad-hoc querying and makes evolving schemas easier to manage.</a:t>
            </a:r>
          </a:p>
          <a:p>
            <a:br>
              <a:rPr lang="en-US" dirty="0"/>
            </a:br>
            <a:br>
              <a:rPr lang="en-US" dirty="0">
                <a:cs typeface="+mn-lt"/>
              </a:rPr>
            </a:b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Speaker Notes"/>
          <p:cNvSpPr txBox="1"/>
          <p:nvPr/>
        </p:nvSpPr>
        <p:spPr>
          <a:xfrm>
            <a:off x="457200" y="457200"/>
            <a:ext cx="8229600" cy="5486400"/>
          </a:xfrm>
          <a:prstGeom prst="rect">
            <a:avLst/>
          </a:prstGeom>
        </p:spPr>
        <p:txBody>
          <a:bodyPr wrap="square">
            <a:normAutofit/>
          </a:bodyPr>
          <a:lstStyle/>
          <a:p>
            <a:r>
              <a:rPr lang="en-US" sz="1200" dirty="0"/>
              <a:t>Sources for the facts on this slide:</a:t>
            </a:r>
          </a:p>
          <a:p>
            <a:r>
              <a:rPr lang="en-US" sz="1200" dirty="0"/>
              <a:t>- AWS, Redshift Spectrum overview: https://docs.aws.amazon.com/redshift/latest/dg/c-spectrum-overview.html</a:t>
            </a:r>
          </a:p>
          <a:p>
            <a:r>
              <a:rPr lang="en-US" sz="1200" dirty="0"/>
              <a:t>- Google Cloud, "Separation of storage and compute in BigQuery": https://cloud.google.com/blog/products/bigquery/separation-of-storage-and-compute-in-bigquery</a:t>
            </a:r>
          </a:p>
          <a:p>
            <a:r>
              <a:rPr lang="en-US" sz="1200" dirty="0"/>
              <a:t>- Microsoft Learn, OneLake documentation (Microsoft Fabric): https://learn.microsoft.com/en-us/fabric/onelake/</a:t>
            </a:r>
          </a:p>
          <a:p>
            <a:r>
              <a:rPr lang="en-US" sz="1200" dirty="0"/>
              <a:t>- Databricks, "What is a data lakehouse" (SQL warehouses decoupled from storage): https://docs.databricks.com/aws/en/lakehouse/</a:t>
            </a:r>
          </a:p>
          <a:p>
            <a:r>
              <a:rPr lang="en-US" sz="1200" dirty="0"/>
              <a:t>- AWS, Amazon EMR overview (elastic Spark compute): https://aws.amazon.com/emr/</a:t>
            </a:r>
          </a:p>
          <a:p>
            <a:r>
              <a:rPr lang="en-US" sz="1200" dirty="0"/>
              <a:t>- Microsoft Learn, Azure Synapse serverless SQL pools: https://learn.microsoft.com/en-us/azure/synapse-analytics/sql/on-demand-workspace-overview</a:t>
            </a:r>
          </a:p>
          <a:p>
            <a:r>
              <a:rPr lang="en-US" sz="1200" dirty="0"/>
              <a:t>- Databricks, Unity Catalog Volumes: https://docs.databricks.com/aws/en/volumes/</a:t>
            </a:r>
          </a:p>
        </p:txBody>
      </p:sp>
      <p:sp>
        <p:nvSpPr>
          <p:cNvPr id="2" name="Notes Placeholder 1">
            <a:extLst>
              <a:ext uri="{FF2B5EF4-FFF2-40B4-BE49-F238E27FC236}">
                <a16:creationId xmlns:a16="http://schemas.microsoft.com/office/drawing/2014/main" id="{67A5B32F-9E39-4C31-65DC-1E3EA305BC6E}"/>
              </a:ext>
            </a:extLst>
          </p:cNvPr>
          <p:cNvSpPr>
            <a:spLocks noGrp="1"/>
          </p:cNvSpPr>
          <p:nvPr>
            <p:ph type="body" idx="1"/>
          </p:nvPr>
        </p:nvSpPr>
        <p:spPr>
          <a:xfrm>
            <a:off x="685800" y="5867400"/>
            <a:ext cx="5486400" cy="4800600"/>
          </a:xfrm>
          <a:prstGeom prst="rect">
            <a:avLst/>
          </a:prstGeom>
        </p:spPr>
        <p:txBody>
          <a:bodyPr/>
          <a:lstStyle/>
          <a:p>
            <a:r>
              <a:rPr lang="en-US" dirty="0">
                <a:solidFill>
                  <a:srgbClr val="4A5160"/>
                </a:solidFill>
              </a:rPr>
              <a:t>Elastic: capacity that scales up or down automatically, billed only for what runs, not a fixed box sized for peak load</a:t>
            </a:r>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Speaker Notes"/>
          <p:cNvSpPr txBox="1"/>
          <p:nvPr/>
        </p:nvSpPr>
        <p:spPr>
          <a:xfrm>
            <a:off x="457200" y="457200"/>
            <a:ext cx="8229600" cy="5486400"/>
          </a:xfrm>
          <a:prstGeom prst="rect">
            <a:avLst/>
          </a:prstGeom>
        </p:spPr>
        <p:txBody>
          <a:bodyPr wrap="square">
            <a:normAutofit/>
          </a:bodyPr>
          <a:lstStyle/>
          <a:p>
            <a:r>
              <a:rPr lang="en-US" sz="1200" dirty="0"/>
              <a:t>Sources for the schema-on-read vs schema-on-write facts on this slide:</a:t>
            </a:r>
          </a:p>
          <a:p>
            <a:r>
              <a:rPr lang="en-US" sz="1200" dirty="0"/>
              <a:t>- Apache Parquet documentation: https://parquet.apache.org/docs/</a:t>
            </a:r>
          </a:p>
          <a:p>
            <a:r>
              <a:rPr lang="en-US" sz="1200" dirty="0"/>
              <a:t>- Databricks, "What is Delta Lake": https://docs.databricks.com/aws/en/delta</a:t>
            </a:r>
          </a:p>
          <a:p>
            <a:r>
              <a:rPr lang="en-US" sz="1200" dirty="0"/>
              <a:t>- Databricks, schema enforcement and evolution: https://docs.databricks.com/aws/en/delta/update-schema</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Speaker Notes"/>
          <p:cNvSpPr txBox="1"/>
          <p:nvPr/>
        </p:nvSpPr>
        <p:spPr>
          <a:xfrm>
            <a:off x="457200" y="457200"/>
            <a:ext cx="8229600" cy="5486400"/>
          </a:xfrm>
          <a:prstGeom prst="rect">
            <a:avLst/>
          </a:prstGeom>
        </p:spPr>
        <p:txBody>
          <a:bodyPr wrap="square">
            <a:normAutofit/>
          </a:bodyPr>
          <a:lstStyle/>
          <a:p>
            <a:r>
              <a:rPr lang="en-US" sz="1200" dirty="0"/>
              <a:t>Sources for the facts on this slide:</a:t>
            </a:r>
          </a:p>
          <a:p>
            <a:r>
              <a:rPr lang="en-US" sz="1200" dirty="0"/>
              <a:t>- Databricks, Lakeflow Connect connector concepts: https://docs.databricks.com/aws/en/ingestion/lakeflow-connect/</a:t>
            </a:r>
          </a:p>
          <a:p>
            <a:r>
              <a:rPr lang="en-US" sz="1200" dirty="0"/>
              <a:t>- Fivetran, "ETL vs. ELT: Why a post-load process wins every time": https://www.fivetran.com/blog/etl-vs-elt-why-a-post-load-process-wins-every-time</a:t>
            </a:r>
          </a:p>
          <a:p>
            <a:r>
              <a:rPr lang="en-US" sz="1200" dirty="0"/>
              <a:t>- Google Cloud, "Separation of storage and compute in BigQuery": https://cloud.google.com/blog/products/bigquery/separation-of-storage-and-compute-in-bigquery</a:t>
            </a:r>
          </a:p>
          <a:p>
            <a:r>
              <a:rPr lang="en-US" sz="1200" dirty="0"/>
              <a:t>- Databricks, "What is Delta Lake": https://docs.databricks.com/aws/en/delta</a:t>
            </a:r>
          </a:p>
          <a:p>
            <a:r>
              <a:rPr lang="en-US" sz="1200" dirty="0"/>
              <a:t>- dbt Labs, "Data transformation vs ETL": https://www.getdbt.com/blog/data-transformation-vs-etl</a:t>
            </a:r>
          </a:p>
          <a:p>
            <a:r>
              <a:rPr lang="en-US" sz="1200" dirty="0"/>
              <a:t>- Databricks, compute options (all purpose clusters vs SQL warehouses): https://docs.databricks.com/aws/en/compute/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Speaker Notes"/>
          <p:cNvSpPr txBox="1"/>
          <p:nvPr/>
        </p:nvSpPr>
        <p:spPr>
          <a:xfrm>
            <a:off x="457200" y="457200"/>
            <a:ext cx="8229600" cy="5486400"/>
          </a:xfrm>
          <a:prstGeom prst="rect">
            <a:avLst/>
          </a:prstGeom>
        </p:spPr>
        <p:txBody>
          <a:bodyPr wrap="square">
            <a:normAutofit/>
          </a:bodyPr>
          <a:lstStyle/>
          <a:p>
            <a:r>
              <a:rPr lang="en-US" sz="1200" dirty="0"/>
              <a:t>Sources for the facts on this slide (dbt has no engine of its own, it pushes SQL down to whatever platform it is connected to):</a:t>
            </a:r>
          </a:p>
          <a:p>
            <a:r>
              <a:rPr lang="en-US" sz="1200" dirty="0"/>
              <a:t>- Apache Spark, official site: https://spark.apache.org/</a:t>
            </a:r>
          </a:p>
          <a:p>
            <a:r>
              <a:rPr lang="en-US" sz="1200" dirty="0"/>
              <a:t>- dbt Developer Hub, Supported data platforms: https://docs.getdbt.com/docs/supported-data-platforms</a:t>
            </a:r>
          </a:p>
          <a:p>
            <a:r>
              <a:rPr lang="en-US" sz="1200" dirty="0"/>
              <a:t>- dbt Developer Hub, "Why dbt compile needs a data platform connection": https://docs.getdbt.com/faqs/Warehouse/db-connection-dbt-compile</a:t>
            </a:r>
          </a:p>
          <a:p>
            <a:r>
              <a:rPr lang="en-US" sz="1200" dirty="0"/>
              <a:t>- dbt Developer Hub, "Migrate from dbt-spark to dbt-databricks" (dbt-databricks pushes down to Spark/Photon on Databricks): https://docs.getdbt.com/guides/migrate-from-spark-to-databricks</a:t>
            </a:r>
          </a:p>
          <a:p>
            <a:r>
              <a:rPr lang="en-US" sz="1200" dirty="0"/>
              <a:t>- AWS, Amazon EMR overview: https://aws.amazon.com/emr/</a:t>
            </a:r>
          </a:p>
          <a:p>
            <a:r>
              <a:rPr lang="en-US" sz="1200" dirty="0"/>
              <a:t>- Microsoft Learn, Apache Spark pools in Azure Synapse Analytics: https://learn.microsoft.com/en-us/azure/synapse-analytics/spark/apache-spark-overview</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Speaker Notes"/>
          <p:cNvSpPr txBox="1"/>
          <p:nvPr/>
        </p:nvSpPr>
        <p:spPr>
          <a:xfrm>
            <a:off x="457200" y="457200"/>
            <a:ext cx="8229600" cy="5486400"/>
          </a:xfrm>
          <a:prstGeom prst="rect">
            <a:avLst/>
          </a:prstGeom>
        </p:spPr>
        <p:txBody>
          <a:bodyPr wrap="square">
            <a:normAutofit/>
          </a:bodyPr>
          <a:lstStyle/>
          <a:p>
            <a:r>
              <a:rPr lang="en-US" sz="1200" dirty="0"/>
              <a:t>This is a real production pipeline I built, not a hypothetical:</a:t>
            </a:r>
          </a:p>
          <a:p>
            <a:r>
              <a:rPr lang="en-US" sz="1200" dirty="0"/>
              <a:t>- Kubeflow, Spark Operator documentation: https://www.kubeflow.org/docs/components/spark-operator/</a:t>
            </a:r>
          </a:p>
          <a:p>
            <a:r>
              <a:rPr lang="en-US" sz="1200" dirty="0"/>
              <a:t>- k3s, lightweight Kubernetes documentation: https://docs.k3s.io/</a:t>
            </a:r>
          </a:p>
          <a:p>
            <a:r>
              <a:rPr lang="en-US" sz="1200" dirty="0"/>
              <a:t>- Databricks, MERGE INTO (upsert and delete in one statement): https://docs.databricks.com/aws/en/sql/language-manual/delta-merge-into</a:t>
            </a:r>
          </a:p>
          <a:p>
            <a:r>
              <a:rPr lang="en-US" sz="1200" dirty="0"/>
              <a:t>- OHDSI, OMOP CDM and data standardization (why concept mapping must happen before load): https://www.ohdsi.org/data-standardization/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Speaker Notes"/>
          <p:cNvSpPr txBox="1"/>
          <p:nvPr/>
        </p:nvSpPr>
        <p:spPr>
          <a:xfrm>
            <a:off x="457200" y="457200"/>
            <a:ext cx="8229600" cy="5486400"/>
          </a:xfrm>
          <a:prstGeom prst="rect">
            <a:avLst/>
          </a:prstGeom>
        </p:spPr>
        <p:txBody>
          <a:bodyPr wrap="square">
            <a:normAutofit/>
          </a:bodyPr>
          <a:lstStyle/>
          <a:p>
            <a:r>
              <a:rPr lang="en-US" sz="1200" dirty="0"/>
              <a:t>Sources for the facts on this slide:</a:t>
            </a:r>
          </a:p>
          <a:p>
            <a:r>
              <a:rPr lang="en-US" sz="1200" dirty="0"/>
              <a:t>- Google Cloud, "Separation of storage and compute in BigQuery": https://cloud.google.com/blog/products/bigquery/separation-of-storage-and-compute-in-bigquery</a:t>
            </a:r>
          </a:p>
          <a:p>
            <a:r>
              <a:rPr lang="en-US" sz="1200" dirty="0"/>
              <a:t>- Databricks, "What is Delta Lake" (transaction log and time travel): https://docs.databricks.com/aws/en/delta</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4_Text Slide Dark Option 1">
  <p:cSld name="4_Text Slide Dark Option 1">
    <p:spTree>
      <p:nvGrpSpPr>
        <p:cNvPr id="1" name="Shape 34"/>
        <p:cNvGrpSpPr/>
        <p:nvPr/>
      </p:nvGrpSpPr>
      <p:grpSpPr>
        <a:xfrm>
          <a:off x="0" y="0"/>
          <a:ext cx="0" cy="0"/>
          <a:chOff x="0" y="0"/>
          <a:chExt cx="0" cy="0"/>
        </a:xfrm>
      </p:grpSpPr>
      <p:pic>
        <p:nvPicPr>
          <p:cNvPr id="35" name="Google Shape;35;p14"/>
          <p:cNvPicPr preferRelativeResize="0"/>
          <p:nvPr/>
        </p:nvPicPr>
        <p:blipFill rotWithShape="1">
          <a:blip r:embed="rId2">
            <a:alphaModFix/>
          </a:blip>
          <a:srcRect l="19092" t="16107" b="2985"/>
          <a:stretch/>
        </p:blipFill>
        <p:spPr>
          <a:xfrm rot="10800000">
            <a:off x="-6751" y="-13225"/>
            <a:ext cx="12213601" cy="6876625"/>
          </a:xfrm>
          <a:prstGeom prst="rect">
            <a:avLst/>
          </a:prstGeom>
          <a:noFill/>
          <a:ln>
            <a:noFill/>
          </a:ln>
        </p:spPr>
      </p:pic>
      <p:pic>
        <p:nvPicPr>
          <p:cNvPr id="36" name="Google Shape;36;p14"/>
          <p:cNvPicPr preferRelativeResize="0"/>
          <p:nvPr/>
        </p:nvPicPr>
        <p:blipFill rotWithShape="1">
          <a:blip r:embed="rId3">
            <a:alphaModFix/>
          </a:blip>
          <a:srcRect l="17639" r="33632"/>
          <a:stretch/>
        </p:blipFill>
        <p:spPr>
          <a:xfrm rot="5400000">
            <a:off x="7649099" y="2291950"/>
            <a:ext cx="6932101" cy="2215900"/>
          </a:xfrm>
          <a:prstGeom prst="rect">
            <a:avLst/>
          </a:prstGeom>
          <a:noFill/>
          <a:ln>
            <a:noFill/>
          </a:ln>
        </p:spPr>
      </p:pic>
      <p:sp>
        <p:nvSpPr>
          <p:cNvPr id="37" name="Google Shape;37;p14"/>
          <p:cNvSpPr txBox="1">
            <a:spLocks noGrp="1"/>
          </p:cNvSpPr>
          <p:nvPr>
            <p:ph type="title"/>
          </p:nvPr>
        </p:nvSpPr>
        <p:spPr>
          <a:xfrm>
            <a:off x="438900" y="423900"/>
            <a:ext cx="9423300" cy="2940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rgbClr val="FFFFFF"/>
              </a:buClr>
              <a:buSzPts val="2600"/>
              <a:buFont typeface="Arvo"/>
              <a:buNone/>
              <a:defRPr>
                <a:solidFill>
                  <a:srgbClr val="FFFFFF"/>
                </a:solidFill>
                <a:latin typeface="Arvo"/>
                <a:ea typeface="Arvo"/>
                <a:cs typeface="Arvo"/>
                <a:sym typeface="Arvo"/>
              </a:defRPr>
            </a:lvl1pPr>
            <a:lvl2pPr lvl="1" algn="l">
              <a:lnSpc>
                <a:spcPct val="100000"/>
              </a:lnSpc>
              <a:spcBef>
                <a:spcPts val="0"/>
              </a:spcBef>
              <a:spcAft>
                <a:spcPts val="0"/>
              </a:spcAft>
              <a:buClr>
                <a:srgbClr val="FFFFFF"/>
              </a:buClr>
              <a:buSzPts val="1500"/>
              <a:buNone/>
              <a:defRPr>
                <a:solidFill>
                  <a:srgbClr val="FFFFFF"/>
                </a:solidFill>
              </a:defRPr>
            </a:lvl2pPr>
            <a:lvl3pPr lvl="2" algn="l">
              <a:lnSpc>
                <a:spcPct val="100000"/>
              </a:lnSpc>
              <a:spcBef>
                <a:spcPts val="0"/>
              </a:spcBef>
              <a:spcAft>
                <a:spcPts val="0"/>
              </a:spcAft>
              <a:buClr>
                <a:srgbClr val="FFFFFF"/>
              </a:buClr>
              <a:buSzPts val="1500"/>
              <a:buNone/>
              <a:defRPr>
                <a:solidFill>
                  <a:srgbClr val="FFFFFF"/>
                </a:solidFill>
              </a:defRPr>
            </a:lvl3pPr>
            <a:lvl4pPr lvl="3" algn="l">
              <a:lnSpc>
                <a:spcPct val="100000"/>
              </a:lnSpc>
              <a:spcBef>
                <a:spcPts val="0"/>
              </a:spcBef>
              <a:spcAft>
                <a:spcPts val="0"/>
              </a:spcAft>
              <a:buClr>
                <a:srgbClr val="FFFFFF"/>
              </a:buClr>
              <a:buSzPts val="1500"/>
              <a:buNone/>
              <a:defRPr>
                <a:solidFill>
                  <a:srgbClr val="FFFFFF"/>
                </a:solidFill>
              </a:defRPr>
            </a:lvl4pPr>
            <a:lvl5pPr lvl="4" algn="l">
              <a:lnSpc>
                <a:spcPct val="100000"/>
              </a:lnSpc>
              <a:spcBef>
                <a:spcPts val="0"/>
              </a:spcBef>
              <a:spcAft>
                <a:spcPts val="0"/>
              </a:spcAft>
              <a:buClr>
                <a:srgbClr val="FFFFFF"/>
              </a:buClr>
              <a:buSzPts val="1500"/>
              <a:buNone/>
              <a:defRPr>
                <a:solidFill>
                  <a:srgbClr val="FFFFFF"/>
                </a:solidFill>
              </a:defRPr>
            </a:lvl5pPr>
            <a:lvl6pPr lvl="5" algn="l">
              <a:lnSpc>
                <a:spcPct val="100000"/>
              </a:lnSpc>
              <a:spcBef>
                <a:spcPts val="0"/>
              </a:spcBef>
              <a:spcAft>
                <a:spcPts val="0"/>
              </a:spcAft>
              <a:buClr>
                <a:srgbClr val="FFFFFF"/>
              </a:buClr>
              <a:buSzPts val="1500"/>
              <a:buNone/>
              <a:defRPr>
                <a:solidFill>
                  <a:srgbClr val="FFFFFF"/>
                </a:solidFill>
              </a:defRPr>
            </a:lvl6pPr>
            <a:lvl7pPr lvl="6" algn="l">
              <a:lnSpc>
                <a:spcPct val="100000"/>
              </a:lnSpc>
              <a:spcBef>
                <a:spcPts val="0"/>
              </a:spcBef>
              <a:spcAft>
                <a:spcPts val="0"/>
              </a:spcAft>
              <a:buClr>
                <a:srgbClr val="FFFFFF"/>
              </a:buClr>
              <a:buSzPts val="1500"/>
              <a:buNone/>
              <a:defRPr>
                <a:solidFill>
                  <a:srgbClr val="FFFFFF"/>
                </a:solidFill>
              </a:defRPr>
            </a:lvl7pPr>
            <a:lvl8pPr lvl="7" algn="l">
              <a:lnSpc>
                <a:spcPct val="100000"/>
              </a:lnSpc>
              <a:spcBef>
                <a:spcPts val="0"/>
              </a:spcBef>
              <a:spcAft>
                <a:spcPts val="0"/>
              </a:spcAft>
              <a:buClr>
                <a:srgbClr val="FFFFFF"/>
              </a:buClr>
              <a:buSzPts val="1500"/>
              <a:buNone/>
              <a:defRPr>
                <a:solidFill>
                  <a:srgbClr val="FFFFFF"/>
                </a:solidFill>
              </a:defRPr>
            </a:lvl8pPr>
            <a:lvl9pPr lvl="8" algn="l">
              <a:lnSpc>
                <a:spcPct val="100000"/>
              </a:lnSpc>
              <a:spcBef>
                <a:spcPts val="0"/>
              </a:spcBef>
              <a:spcAft>
                <a:spcPts val="0"/>
              </a:spcAft>
              <a:buClr>
                <a:srgbClr val="FFFFFF"/>
              </a:buClr>
              <a:buSzPts val="1500"/>
              <a:buNone/>
              <a:defRPr>
                <a:solidFill>
                  <a:srgbClr val="FFFFFF"/>
                </a:solidFill>
              </a:defRPr>
            </a:lvl9pPr>
          </a:lstStyle>
          <a:p>
            <a:endParaRPr/>
          </a:p>
        </p:txBody>
      </p:sp>
      <p:sp>
        <p:nvSpPr>
          <p:cNvPr id="38" name="Google Shape;38;p14"/>
          <p:cNvSpPr txBox="1">
            <a:spLocks noGrp="1"/>
          </p:cNvSpPr>
          <p:nvPr>
            <p:ph type="sldNum" idx="12"/>
          </p:nvPr>
        </p:nvSpPr>
        <p:spPr>
          <a:xfrm>
            <a:off x="9258300" y="6356350"/>
            <a:ext cx="26667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900" b="0" i="0" u="none" strike="noStrike" cap="none">
                <a:solidFill>
                  <a:srgbClr val="888888"/>
                </a:solidFill>
                <a:latin typeface="Inter Light"/>
                <a:ea typeface="Inter Light"/>
                <a:cs typeface="Inter Light"/>
                <a:sym typeface="Inter Light"/>
              </a:defRPr>
            </a:lvl1pPr>
            <a:lvl2pPr marL="0" marR="0" lvl="1" indent="0" algn="r">
              <a:lnSpc>
                <a:spcPct val="100000"/>
              </a:lnSpc>
              <a:spcBef>
                <a:spcPts val="0"/>
              </a:spcBef>
              <a:spcAft>
                <a:spcPts val="0"/>
              </a:spcAft>
              <a:buClr>
                <a:srgbClr val="000000"/>
              </a:buClr>
              <a:buSzPts val="1100"/>
              <a:buFont typeface="Arial"/>
              <a:buNone/>
              <a:defRPr sz="900" b="0" i="0" u="none" strike="noStrike" cap="none">
                <a:solidFill>
                  <a:srgbClr val="888888"/>
                </a:solidFill>
                <a:latin typeface="Inter Light"/>
                <a:ea typeface="Inter Light"/>
                <a:cs typeface="Inter Light"/>
                <a:sym typeface="Inter Light"/>
              </a:defRPr>
            </a:lvl2pPr>
            <a:lvl3pPr marL="0" marR="0" lvl="2" indent="0" algn="r">
              <a:lnSpc>
                <a:spcPct val="100000"/>
              </a:lnSpc>
              <a:spcBef>
                <a:spcPts val="0"/>
              </a:spcBef>
              <a:spcAft>
                <a:spcPts val="0"/>
              </a:spcAft>
              <a:buClr>
                <a:srgbClr val="000000"/>
              </a:buClr>
              <a:buSzPts val="1100"/>
              <a:buFont typeface="Arial"/>
              <a:buNone/>
              <a:defRPr sz="900" b="0" i="0" u="none" strike="noStrike" cap="none">
                <a:solidFill>
                  <a:srgbClr val="888888"/>
                </a:solidFill>
                <a:latin typeface="Inter Light"/>
                <a:ea typeface="Inter Light"/>
                <a:cs typeface="Inter Light"/>
                <a:sym typeface="Inter Light"/>
              </a:defRPr>
            </a:lvl3pPr>
            <a:lvl4pPr marL="0" marR="0" lvl="3" indent="0" algn="r">
              <a:lnSpc>
                <a:spcPct val="100000"/>
              </a:lnSpc>
              <a:spcBef>
                <a:spcPts val="0"/>
              </a:spcBef>
              <a:spcAft>
                <a:spcPts val="0"/>
              </a:spcAft>
              <a:buClr>
                <a:srgbClr val="000000"/>
              </a:buClr>
              <a:buSzPts val="1100"/>
              <a:buFont typeface="Arial"/>
              <a:buNone/>
              <a:defRPr sz="900" b="0" i="0" u="none" strike="noStrike" cap="none">
                <a:solidFill>
                  <a:srgbClr val="888888"/>
                </a:solidFill>
                <a:latin typeface="Inter Light"/>
                <a:ea typeface="Inter Light"/>
                <a:cs typeface="Inter Light"/>
                <a:sym typeface="Inter Light"/>
              </a:defRPr>
            </a:lvl4pPr>
            <a:lvl5pPr marL="0" marR="0" lvl="4" indent="0" algn="r">
              <a:lnSpc>
                <a:spcPct val="100000"/>
              </a:lnSpc>
              <a:spcBef>
                <a:spcPts val="0"/>
              </a:spcBef>
              <a:spcAft>
                <a:spcPts val="0"/>
              </a:spcAft>
              <a:buClr>
                <a:srgbClr val="000000"/>
              </a:buClr>
              <a:buSzPts val="1100"/>
              <a:buFont typeface="Arial"/>
              <a:buNone/>
              <a:defRPr sz="900" b="0" i="0" u="none" strike="noStrike" cap="none">
                <a:solidFill>
                  <a:srgbClr val="888888"/>
                </a:solidFill>
                <a:latin typeface="Inter Light"/>
                <a:ea typeface="Inter Light"/>
                <a:cs typeface="Inter Light"/>
                <a:sym typeface="Inter Light"/>
              </a:defRPr>
            </a:lvl5pPr>
            <a:lvl6pPr marL="0" marR="0" lvl="5" indent="0" algn="r">
              <a:lnSpc>
                <a:spcPct val="100000"/>
              </a:lnSpc>
              <a:spcBef>
                <a:spcPts val="0"/>
              </a:spcBef>
              <a:spcAft>
                <a:spcPts val="0"/>
              </a:spcAft>
              <a:buClr>
                <a:srgbClr val="000000"/>
              </a:buClr>
              <a:buSzPts val="1100"/>
              <a:buFont typeface="Arial"/>
              <a:buNone/>
              <a:defRPr sz="900" b="0" i="0" u="none" strike="noStrike" cap="none">
                <a:solidFill>
                  <a:srgbClr val="888888"/>
                </a:solidFill>
                <a:latin typeface="Inter Light"/>
                <a:ea typeface="Inter Light"/>
                <a:cs typeface="Inter Light"/>
                <a:sym typeface="Inter Light"/>
              </a:defRPr>
            </a:lvl6pPr>
            <a:lvl7pPr marL="0" marR="0" lvl="6" indent="0" algn="r">
              <a:lnSpc>
                <a:spcPct val="100000"/>
              </a:lnSpc>
              <a:spcBef>
                <a:spcPts val="0"/>
              </a:spcBef>
              <a:spcAft>
                <a:spcPts val="0"/>
              </a:spcAft>
              <a:buClr>
                <a:srgbClr val="000000"/>
              </a:buClr>
              <a:buSzPts val="1100"/>
              <a:buFont typeface="Arial"/>
              <a:buNone/>
              <a:defRPr sz="900" b="0" i="0" u="none" strike="noStrike" cap="none">
                <a:solidFill>
                  <a:srgbClr val="888888"/>
                </a:solidFill>
                <a:latin typeface="Inter Light"/>
                <a:ea typeface="Inter Light"/>
                <a:cs typeface="Inter Light"/>
                <a:sym typeface="Inter Light"/>
              </a:defRPr>
            </a:lvl7pPr>
            <a:lvl8pPr marL="0" marR="0" lvl="7" indent="0" algn="r">
              <a:lnSpc>
                <a:spcPct val="100000"/>
              </a:lnSpc>
              <a:spcBef>
                <a:spcPts val="0"/>
              </a:spcBef>
              <a:spcAft>
                <a:spcPts val="0"/>
              </a:spcAft>
              <a:buClr>
                <a:srgbClr val="000000"/>
              </a:buClr>
              <a:buSzPts val="1100"/>
              <a:buFont typeface="Arial"/>
              <a:buNone/>
              <a:defRPr sz="900" b="0" i="0" u="none" strike="noStrike" cap="none">
                <a:solidFill>
                  <a:srgbClr val="888888"/>
                </a:solidFill>
                <a:latin typeface="Inter Light"/>
                <a:ea typeface="Inter Light"/>
                <a:cs typeface="Inter Light"/>
                <a:sym typeface="Inter Light"/>
              </a:defRPr>
            </a:lvl8pPr>
            <a:lvl9pPr marL="0" marR="0" lvl="8" indent="0" algn="r">
              <a:lnSpc>
                <a:spcPct val="100000"/>
              </a:lnSpc>
              <a:spcBef>
                <a:spcPts val="0"/>
              </a:spcBef>
              <a:spcAft>
                <a:spcPts val="0"/>
              </a:spcAft>
              <a:buClr>
                <a:srgbClr val="000000"/>
              </a:buClr>
              <a:buSzPts val="1100"/>
              <a:buFont typeface="Arial"/>
              <a:buNone/>
              <a:defRPr sz="900" b="0" i="0" u="none" strike="noStrike" cap="none">
                <a:solidFill>
                  <a:srgbClr val="888888"/>
                </a:solidFill>
                <a:latin typeface="Inter Light"/>
                <a:ea typeface="Inter Light"/>
                <a:cs typeface="Inter Light"/>
                <a:sym typeface="Inter Light"/>
              </a:defRPr>
            </a:lvl9pPr>
          </a:lstStyle>
          <a:p>
            <a:pPr marL="0" lvl="0" indent="0" algn="r" rtl="0">
              <a:spcBef>
                <a:spcPts val="0"/>
              </a:spcBef>
              <a:spcAft>
                <a:spcPts val="0"/>
              </a:spcAft>
              <a:buNone/>
            </a:pPr>
            <a:fld id="{00000000-1234-1234-1234-123412341234}" type="slidenum">
              <a:rPr lang="en-US"/>
              <a:t>‹#›</a:t>
            </a:fld>
            <a:endParaRPr/>
          </a:p>
        </p:txBody>
      </p:sp>
      <p:sp>
        <p:nvSpPr>
          <p:cNvPr id="39" name="Google Shape;39;p14"/>
          <p:cNvSpPr txBox="1">
            <a:spLocks noGrp="1"/>
          </p:cNvSpPr>
          <p:nvPr>
            <p:ph type="subTitle" idx="1"/>
          </p:nvPr>
        </p:nvSpPr>
        <p:spPr>
          <a:xfrm>
            <a:off x="455175" y="978000"/>
            <a:ext cx="9407100" cy="244800"/>
          </a:xfrm>
          <a:prstGeom prst="rect">
            <a:avLst/>
          </a:prstGeom>
          <a:noFill/>
          <a:ln>
            <a:noFill/>
          </a:ln>
        </p:spPr>
        <p:txBody>
          <a:bodyPr spcFirstLastPara="1" wrap="square" lIns="0" tIns="0" rIns="0" bIns="0" anchor="t" anchorCtr="0">
            <a:spAutoFit/>
          </a:bodyPr>
          <a:lstStyle>
            <a:lvl1pPr lvl="0" algn="l">
              <a:lnSpc>
                <a:spcPct val="90000"/>
              </a:lnSpc>
              <a:spcBef>
                <a:spcPts val="1100"/>
              </a:spcBef>
              <a:spcAft>
                <a:spcPts val="0"/>
              </a:spcAft>
              <a:buSzPts val="1700"/>
              <a:buFont typeface="Inter SemiBold"/>
              <a:buNone/>
              <a:defRPr sz="1700">
                <a:solidFill>
                  <a:schemeClr val="dk2"/>
                </a:solidFill>
                <a:latin typeface="Inter SemiBold"/>
                <a:ea typeface="Inter SemiBold"/>
                <a:cs typeface="Inter SemiBold"/>
                <a:sym typeface="Inter SemiBold"/>
              </a:defRPr>
            </a:lvl1pPr>
            <a:lvl2pPr lvl="1" algn="l">
              <a:lnSpc>
                <a:spcPct val="90000"/>
              </a:lnSpc>
              <a:spcBef>
                <a:spcPts val="500"/>
              </a:spcBef>
              <a:spcAft>
                <a:spcPts val="0"/>
              </a:spcAft>
              <a:buSzPts val="1300"/>
              <a:buNone/>
              <a:defRPr/>
            </a:lvl2pPr>
            <a:lvl3pPr lvl="2" algn="l">
              <a:lnSpc>
                <a:spcPct val="90000"/>
              </a:lnSpc>
              <a:spcBef>
                <a:spcPts val="500"/>
              </a:spcBef>
              <a:spcAft>
                <a:spcPts val="0"/>
              </a:spcAft>
              <a:buSzPts val="1200"/>
              <a:buNone/>
              <a:defRPr/>
            </a:lvl3pPr>
            <a:lvl4pPr lvl="3" algn="l">
              <a:lnSpc>
                <a:spcPct val="90000"/>
              </a:lnSpc>
              <a:spcBef>
                <a:spcPts val="500"/>
              </a:spcBef>
              <a:spcAft>
                <a:spcPts val="0"/>
              </a:spcAft>
              <a:buSzPts val="1100"/>
              <a:buNone/>
              <a:defRPr/>
            </a:lvl4pPr>
            <a:lvl5pPr lvl="4" algn="l">
              <a:lnSpc>
                <a:spcPct val="90000"/>
              </a:lnSpc>
              <a:spcBef>
                <a:spcPts val="500"/>
              </a:spcBef>
              <a:spcAft>
                <a:spcPts val="0"/>
              </a:spcAft>
              <a:buSzPts val="1100"/>
              <a:buNone/>
              <a:defRPr/>
            </a:lvl5pPr>
            <a:lvl6pPr lvl="5" algn="l">
              <a:lnSpc>
                <a:spcPct val="90000"/>
              </a:lnSpc>
              <a:spcBef>
                <a:spcPts val="500"/>
              </a:spcBef>
              <a:spcAft>
                <a:spcPts val="0"/>
              </a:spcAft>
              <a:buSzPts val="1100"/>
              <a:buNone/>
              <a:defRPr/>
            </a:lvl6pPr>
            <a:lvl7pPr lvl="6" algn="l">
              <a:lnSpc>
                <a:spcPct val="90000"/>
              </a:lnSpc>
              <a:spcBef>
                <a:spcPts val="500"/>
              </a:spcBef>
              <a:spcAft>
                <a:spcPts val="0"/>
              </a:spcAft>
              <a:buSzPts val="1100"/>
              <a:buNone/>
              <a:defRPr/>
            </a:lvl7pPr>
            <a:lvl8pPr lvl="7" algn="l">
              <a:lnSpc>
                <a:spcPct val="90000"/>
              </a:lnSpc>
              <a:spcBef>
                <a:spcPts val="500"/>
              </a:spcBef>
              <a:spcAft>
                <a:spcPts val="0"/>
              </a:spcAft>
              <a:buSzPts val="1100"/>
              <a:buNone/>
              <a:defRPr/>
            </a:lvl8pPr>
            <a:lvl9pPr lvl="8" algn="l">
              <a:lnSpc>
                <a:spcPct val="90000"/>
              </a:lnSpc>
              <a:spcBef>
                <a:spcPts val="500"/>
              </a:spcBef>
              <a:spcAft>
                <a:spcPts val="0"/>
              </a:spcAft>
              <a:buSzPts val="1100"/>
              <a:buNone/>
              <a:defRPr/>
            </a:lvl9pPr>
          </a:lstStyle>
          <a:p>
            <a:endParaRPr/>
          </a:p>
        </p:txBody>
      </p:sp>
      <p:sp>
        <p:nvSpPr>
          <p:cNvPr id="40" name="Google Shape;40;p14"/>
          <p:cNvSpPr txBox="1">
            <a:spLocks noGrp="1"/>
          </p:cNvSpPr>
          <p:nvPr>
            <p:ph type="body" idx="2"/>
          </p:nvPr>
        </p:nvSpPr>
        <p:spPr>
          <a:xfrm>
            <a:off x="455175" y="1643700"/>
            <a:ext cx="11317200" cy="4442400"/>
          </a:xfrm>
          <a:prstGeom prst="rect">
            <a:avLst/>
          </a:prstGeom>
          <a:noFill/>
          <a:ln>
            <a:noFill/>
          </a:ln>
        </p:spPr>
        <p:txBody>
          <a:bodyPr spcFirstLastPara="1" wrap="square" lIns="0" tIns="0" rIns="0" bIns="0" anchor="t" anchorCtr="0">
            <a:spAutoFit/>
          </a:bodyPr>
          <a:lstStyle>
            <a:lvl1pPr marL="457200" lvl="0" indent="-317500" algn="l">
              <a:lnSpc>
                <a:spcPct val="90000"/>
              </a:lnSpc>
              <a:spcBef>
                <a:spcPts val="1100"/>
              </a:spcBef>
              <a:spcAft>
                <a:spcPts val="0"/>
              </a:spcAft>
              <a:buSzPts val="1400"/>
              <a:buChar char="●"/>
              <a:defRPr>
                <a:solidFill>
                  <a:schemeClr val="lt1"/>
                </a:solidFill>
              </a:defRPr>
            </a:lvl1pPr>
            <a:lvl2pPr marL="914400" lvl="1" indent="-311150" algn="l">
              <a:lnSpc>
                <a:spcPct val="90000"/>
              </a:lnSpc>
              <a:spcBef>
                <a:spcPts val="500"/>
              </a:spcBef>
              <a:spcAft>
                <a:spcPts val="0"/>
              </a:spcAft>
              <a:buClr>
                <a:schemeClr val="dk2"/>
              </a:buClr>
              <a:buSzPts val="1300"/>
              <a:buChar char="○"/>
              <a:defRPr>
                <a:solidFill>
                  <a:srgbClr val="FFFFFF"/>
                </a:solidFill>
              </a:defRPr>
            </a:lvl2pPr>
            <a:lvl3pPr marL="1371600" lvl="2" indent="-304800" algn="l">
              <a:lnSpc>
                <a:spcPct val="90000"/>
              </a:lnSpc>
              <a:spcBef>
                <a:spcPts val="500"/>
              </a:spcBef>
              <a:spcAft>
                <a:spcPts val="0"/>
              </a:spcAft>
              <a:buClr>
                <a:schemeClr val="dk2"/>
              </a:buClr>
              <a:buSzPts val="1200"/>
              <a:buChar char="■"/>
              <a:defRPr>
                <a:solidFill>
                  <a:srgbClr val="FFFFFF"/>
                </a:solidFill>
              </a:defRPr>
            </a:lvl3pPr>
            <a:lvl4pPr marL="1828800" lvl="3" indent="-298450" algn="l">
              <a:lnSpc>
                <a:spcPct val="90000"/>
              </a:lnSpc>
              <a:spcBef>
                <a:spcPts val="500"/>
              </a:spcBef>
              <a:spcAft>
                <a:spcPts val="0"/>
              </a:spcAft>
              <a:buClr>
                <a:schemeClr val="dk2"/>
              </a:buClr>
              <a:buSzPts val="1100"/>
              <a:buChar char="●"/>
              <a:defRPr>
                <a:solidFill>
                  <a:srgbClr val="FFFFFF"/>
                </a:solidFill>
              </a:defRPr>
            </a:lvl4pPr>
            <a:lvl5pPr marL="2286000" lvl="4" indent="-298450" algn="l">
              <a:lnSpc>
                <a:spcPct val="90000"/>
              </a:lnSpc>
              <a:spcBef>
                <a:spcPts val="500"/>
              </a:spcBef>
              <a:spcAft>
                <a:spcPts val="0"/>
              </a:spcAft>
              <a:buClr>
                <a:srgbClr val="FFFFFF"/>
              </a:buClr>
              <a:buSzPts val="1100"/>
              <a:buChar char="○"/>
              <a:defRPr>
                <a:solidFill>
                  <a:srgbClr val="FFFFFF"/>
                </a:solidFill>
              </a:defRPr>
            </a:lvl5pPr>
            <a:lvl6pPr marL="2743200" lvl="5" indent="-298450" algn="l">
              <a:lnSpc>
                <a:spcPct val="90000"/>
              </a:lnSpc>
              <a:spcBef>
                <a:spcPts val="500"/>
              </a:spcBef>
              <a:spcAft>
                <a:spcPts val="0"/>
              </a:spcAft>
              <a:buClr>
                <a:srgbClr val="FFFFFF"/>
              </a:buClr>
              <a:buSzPts val="1100"/>
              <a:buChar char="■"/>
              <a:defRPr sz="1100">
                <a:solidFill>
                  <a:srgbClr val="FFFFFF"/>
                </a:solidFill>
              </a:defRPr>
            </a:lvl6pPr>
            <a:lvl7pPr marL="3200400" lvl="6" indent="-298450" algn="l">
              <a:lnSpc>
                <a:spcPct val="90000"/>
              </a:lnSpc>
              <a:spcBef>
                <a:spcPts val="500"/>
              </a:spcBef>
              <a:spcAft>
                <a:spcPts val="0"/>
              </a:spcAft>
              <a:buClr>
                <a:srgbClr val="FFFFFF"/>
              </a:buClr>
              <a:buSzPts val="1100"/>
              <a:buChar char="●"/>
              <a:defRPr sz="1100">
                <a:solidFill>
                  <a:srgbClr val="FFFFFF"/>
                </a:solidFill>
              </a:defRPr>
            </a:lvl7pPr>
            <a:lvl8pPr marL="3657600" lvl="7" indent="-298450" algn="l">
              <a:lnSpc>
                <a:spcPct val="90000"/>
              </a:lnSpc>
              <a:spcBef>
                <a:spcPts val="500"/>
              </a:spcBef>
              <a:spcAft>
                <a:spcPts val="0"/>
              </a:spcAft>
              <a:buClr>
                <a:srgbClr val="FFFFFF"/>
              </a:buClr>
              <a:buSzPts val="1100"/>
              <a:buChar char="○"/>
              <a:defRPr sz="1100">
                <a:solidFill>
                  <a:srgbClr val="FFFFFF"/>
                </a:solidFill>
              </a:defRPr>
            </a:lvl8pPr>
            <a:lvl9pPr marL="4114800" lvl="8" indent="-298450" algn="l">
              <a:lnSpc>
                <a:spcPct val="90000"/>
              </a:lnSpc>
              <a:spcBef>
                <a:spcPts val="500"/>
              </a:spcBef>
              <a:spcAft>
                <a:spcPts val="0"/>
              </a:spcAft>
              <a:buClr>
                <a:srgbClr val="FFFFFF"/>
              </a:buClr>
              <a:buSzPts val="1100"/>
              <a:buChar char="■"/>
              <a:defRPr sz="1100">
                <a:solidFill>
                  <a:srgbClr val="FFFFFF"/>
                </a:solidFill>
              </a:defRPr>
            </a:lvl9pPr>
          </a:lstStyle>
          <a:p>
            <a:endParaRPr/>
          </a:p>
        </p:txBody>
      </p:sp>
    </p:spTree>
    <p:extLst>
      <p:ext uri="{BB962C8B-B14F-4D97-AF65-F5344CB8AC3E}">
        <p14:creationId xmlns:p14="http://schemas.microsoft.com/office/powerpoint/2010/main" val="16993742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1744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4_Text Slide Dark Option 1">
  <p:cSld name="4_Text Slide Dark Option 1">
    <p:spTree>
      <p:nvGrpSpPr>
        <p:cNvPr id="1" name="Shape 34"/>
        <p:cNvGrpSpPr/>
        <p:nvPr/>
      </p:nvGrpSpPr>
      <p:grpSpPr>
        <a:xfrm>
          <a:off x="0" y="0"/>
          <a:ext cx="0" cy="0"/>
          <a:chOff x="0" y="0"/>
          <a:chExt cx="0" cy="0"/>
        </a:xfrm>
      </p:grpSpPr>
      <p:pic>
        <p:nvPicPr>
          <p:cNvPr id="35" name="Google Shape;35;p14"/>
          <p:cNvPicPr preferRelativeResize="0"/>
          <p:nvPr/>
        </p:nvPicPr>
        <p:blipFill rotWithShape="1">
          <a:blip r:embed="rId2">
            <a:alphaModFix/>
          </a:blip>
          <a:srcRect l="19092" t="16107" b="2985"/>
          <a:stretch/>
        </p:blipFill>
        <p:spPr>
          <a:xfrm rot="10800000">
            <a:off x="-6751" y="-13225"/>
            <a:ext cx="12213601" cy="6876625"/>
          </a:xfrm>
          <a:prstGeom prst="rect">
            <a:avLst/>
          </a:prstGeom>
          <a:noFill/>
          <a:ln>
            <a:noFill/>
          </a:ln>
        </p:spPr>
      </p:pic>
      <p:pic>
        <p:nvPicPr>
          <p:cNvPr id="36" name="Google Shape;36;p14"/>
          <p:cNvPicPr preferRelativeResize="0"/>
          <p:nvPr/>
        </p:nvPicPr>
        <p:blipFill rotWithShape="1">
          <a:blip r:embed="rId3">
            <a:alphaModFix/>
          </a:blip>
          <a:srcRect l="17639" r="33632"/>
          <a:stretch/>
        </p:blipFill>
        <p:spPr>
          <a:xfrm rot="5400000">
            <a:off x="7649099" y="2291950"/>
            <a:ext cx="6932101" cy="2215900"/>
          </a:xfrm>
          <a:prstGeom prst="rect">
            <a:avLst/>
          </a:prstGeom>
          <a:noFill/>
          <a:ln>
            <a:noFill/>
          </a:ln>
        </p:spPr>
      </p:pic>
      <p:sp>
        <p:nvSpPr>
          <p:cNvPr id="37" name="Google Shape;37;p14"/>
          <p:cNvSpPr txBox="1">
            <a:spLocks noGrp="1"/>
          </p:cNvSpPr>
          <p:nvPr>
            <p:ph type="title"/>
          </p:nvPr>
        </p:nvSpPr>
        <p:spPr>
          <a:xfrm>
            <a:off x="438900" y="423900"/>
            <a:ext cx="9423300" cy="2940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rgbClr val="FFFFFF"/>
              </a:buClr>
              <a:buSzPts val="2600"/>
              <a:buFont typeface="Arvo"/>
              <a:buNone/>
              <a:defRPr>
                <a:solidFill>
                  <a:srgbClr val="FFFFFF"/>
                </a:solidFill>
                <a:latin typeface="Arvo"/>
                <a:ea typeface="Arvo"/>
                <a:cs typeface="Arvo"/>
                <a:sym typeface="Arvo"/>
              </a:defRPr>
            </a:lvl1pPr>
            <a:lvl2pPr lvl="1" algn="l">
              <a:lnSpc>
                <a:spcPct val="100000"/>
              </a:lnSpc>
              <a:spcBef>
                <a:spcPts val="0"/>
              </a:spcBef>
              <a:spcAft>
                <a:spcPts val="0"/>
              </a:spcAft>
              <a:buClr>
                <a:srgbClr val="FFFFFF"/>
              </a:buClr>
              <a:buSzPts val="1500"/>
              <a:buNone/>
              <a:defRPr>
                <a:solidFill>
                  <a:srgbClr val="FFFFFF"/>
                </a:solidFill>
              </a:defRPr>
            </a:lvl2pPr>
            <a:lvl3pPr lvl="2" algn="l">
              <a:lnSpc>
                <a:spcPct val="100000"/>
              </a:lnSpc>
              <a:spcBef>
                <a:spcPts val="0"/>
              </a:spcBef>
              <a:spcAft>
                <a:spcPts val="0"/>
              </a:spcAft>
              <a:buClr>
                <a:srgbClr val="FFFFFF"/>
              </a:buClr>
              <a:buSzPts val="1500"/>
              <a:buNone/>
              <a:defRPr>
                <a:solidFill>
                  <a:srgbClr val="FFFFFF"/>
                </a:solidFill>
              </a:defRPr>
            </a:lvl3pPr>
            <a:lvl4pPr lvl="3" algn="l">
              <a:lnSpc>
                <a:spcPct val="100000"/>
              </a:lnSpc>
              <a:spcBef>
                <a:spcPts val="0"/>
              </a:spcBef>
              <a:spcAft>
                <a:spcPts val="0"/>
              </a:spcAft>
              <a:buClr>
                <a:srgbClr val="FFFFFF"/>
              </a:buClr>
              <a:buSzPts val="1500"/>
              <a:buNone/>
              <a:defRPr>
                <a:solidFill>
                  <a:srgbClr val="FFFFFF"/>
                </a:solidFill>
              </a:defRPr>
            </a:lvl4pPr>
            <a:lvl5pPr lvl="4" algn="l">
              <a:lnSpc>
                <a:spcPct val="100000"/>
              </a:lnSpc>
              <a:spcBef>
                <a:spcPts val="0"/>
              </a:spcBef>
              <a:spcAft>
                <a:spcPts val="0"/>
              </a:spcAft>
              <a:buClr>
                <a:srgbClr val="FFFFFF"/>
              </a:buClr>
              <a:buSzPts val="1500"/>
              <a:buNone/>
              <a:defRPr>
                <a:solidFill>
                  <a:srgbClr val="FFFFFF"/>
                </a:solidFill>
              </a:defRPr>
            </a:lvl5pPr>
            <a:lvl6pPr lvl="5" algn="l">
              <a:lnSpc>
                <a:spcPct val="100000"/>
              </a:lnSpc>
              <a:spcBef>
                <a:spcPts val="0"/>
              </a:spcBef>
              <a:spcAft>
                <a:spcPts val="0"/>
              </a:spcAft>
              <a:buClr>
                <a:srgbClr val="FFFFFF"/>
              </a:buClr>
              <a:buSzPts val="1500"/>
              <a:buNone/>
              <a:defRPr>
                <a:solidFill>
                  <a:srgbClr val="FFFFFF"/>
                </a:solidFill>
              </a:defRPr>
            </a:lvl6pPr>
            <a:lvl7pPr lvl="6" algn="l">
              <a:lnSpc>
                <a:spcPct val="100000"/>
              </a:lnSpc>
              <a:spcBef>
                <a:spcPts val="0"/>
              </a:spcBef>
              <a:spcAft>
                <a:spcPts val="0"/>
              </a:spcAft>
              <a:buClr>
                <a:srgbClr val="FFFFFF"/>
              </a:buClr>
              <a:buSzPts val="1500"/>
              <a:buNone/>
              <a:defRPr>
                <a:solidFill>
                  <a:srgbClr val="FFFFFF"/>
                </a:solidFill>
              </a:defRPr>
            </a:lvl7pPr>
            <a:lvl8pPr lvl="7" algn="l">
              <a:lnSpc>
                <a:spcPct val="100000"/>
              </a:lnSpc>
              <a:spcBef>
                <a:spcPts val="0"/>
              </a:spcBef>
              <a:spcAft>
                <a:spcPts val="0"/>
              </a:spcAft>
              <a:buClr>
                <a:srgbClr val="FFFFFF"/>
              </a:buClr>
              <a:buSzPts val="1500"/>
              <a:buNone/>
              <a:defRPr>
                <a:solidFill>
                  <a:srgbClr val="FFFFFF"/>
                </a:solidFill>
              </a:defRPr>
            </a:lvl8pPr>
            <a:lvl9pPr lvl="8" algn="l">
              <a:lnSpc>
                <a:spcPct val="100000"/>
              </a:lnSpc>
              <a:spcBef>
                <a:spcPts val="0"/>
              </a:spcBef>
              <a:spcAft>
                <a:spcPts val="0"/>
              </a:spcAft>
              <a:buClr>
                <a:srgbClr val="FFFFFF"/>
              </a:buClr>
              <a:buSzPts val="1500"/>
              <a:buNone/>
              <a:defRPr>
                <a:solidFill>
                  <a:srgbClr val="FFFFFF"/>
                </a:solidFill>
              </a:defRPr>
            </a:lvl9pPr>
          </a:lstStyle>
          <a:p>
            <a:endParaRPr/>
          </a:p>
        </p:txBody>
      </p:sp>
      <p:sp>
        <p:nvSpPr>
          <p:cNvPr id="38" name="Google Shape;38;p14"/>
          <p:cNvSpPr txBox="1">
            <a:spLocks noGrp="1"/>
          </p:cNvSpPr>
          <p:nvPr>
            <p:ph type="sldNum" idx="12"/>
          </p:nvPr>
        </p:nvSpPr>
        <p:spPr>
          <a:xfrm>
            <a:off x="9258300" y="6356350"/>
            <a:ext cx="26667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900" b="0" i="0" u="none" strike="noStrike" cap="none">
                <a:solidFill>
                  <a:srgbClr val="888888"/>
                </a:solidFill>
                <a:latin typeface="Inter Light"/>
                <a:ea typeface="Inter Light"/>
                <a:cs typeface="Inter Light"/>
                <a:sym typeface="Inter Light"/>
              </a:defRPr>
            </a:lvl1pPr>
            <a:lvl2pPr marL="0" marR="0" lvl="1" indent="0" algn="r">
              <a:lnSpc>
                <a:spcPct val="100000"/>
              </a:lnSpc>
              <a:spcBef>
                <a:spcPts val="0"/>
              </a:spcBef>
              <a:spcAft>
                <a:spcPts val="0"/>
              </a:spcAft>
              <a:buClr>
                <a:srgbClr val="000000"/>
              </a:buClr>
              <a:buSzPts val="1100"/>
              <a:buFont typeface="Arial"/>
              <a:buNone/>
              <a:defRPr sz="900" b="0" i="0" u="none" strike="noStrike" cap="none">
                <a:solidFill>
                  <a:srgbClr val="888888"/>
                </a:solidFill>
                <a:latin typeface="Inter Light"/>
                <a:ea typeface="Inter Light"/>
                <a:cs typeface="Inter Light"/>
                <a:sym typeface="Inter Light"/>
              </a:defRPr>
            </a:lvl2pPr>
            <a:lvl3pPr marL="0" marR="0" lvl="2" indent="0" algn="r">
              <a:lnSpc>
                <a:spcPct val="100000"/>
              </a:lnSpc>
              <a:spcBef>
                <a:spcPts val="0"/>
              </a:spcBef>
              <a:spcAft>
                <a:spcPts val="0"/>
              </a:spcAft>
              <a:buClr>
                <a:srgbClr val="000000"/>
              </a:buClr>
              <a:buSzPts val="1100"/>
              <a:buFont typeface="Arial"/>
              <a:buNone/>
              <a:defRPr sz="900" b="0" i="0" u="none" strike="noStrike" cap="none">
                <a:solidFill>
                  <a:srgbClr val="888888"/>
                </a:solidFill>
                <a:latin typeface="Inter Light"/>
                <a:ea typeface="Inter Light"/>
                <a:cs typeface="Inter Light"/>
                <a:sym typeface="Inter Light"/>
              </a:defRPr>
            </a:lvl3pPr>
            <a:lvl4pPr marL="0" marR="0" lvl="3" indent="0" algn="r">
              <a:lnSpc>
                <a:spcPct val="100000"/>
              </a:lnSpc>
              <a:spcBef>
                <a:spcPts val="0"/>
              </a:spcBef>
              <a:spcAft>
                <a:spcPts val="0"/>
              </a:spcAft>
              <a:buClr>
                <a:srgbClr val="000000"/>
              </a:buClr>
              <a:buSzPts val="1100"/>
              <a:buFont typeface="Arial"/>
              <a:buNone/>
              <a:defRPr sz="900" b="0" i="0" u="none" strike="noStrike" cap="none">
                <a:solidFill>
                  <a:srgbClr val="888888"/>
                </a:solidFill>
                <a:latin typeface="Inter Light"/>
                <a:ea typeface="Inter Light"/>
                <a:cs typeface="Inter Light"/>
                <a:sym typeface="Inter Light"/>
              </a:defRPr>
            </a:lvl4pPr>
            <a:lvl5pPr marL="0" marR="0" lvl="4" indent="0" algn="r">
              <a:lnSpc>
                <a:spcPct val="100000"/>
              </a:lnSpc>
              <a:spcBef>
                <a:spcPts val="0"/>
              </a:spcBef>
              <a:spcAft>
                <a:spcPts val="0"/>
              </a:spcAft>
              <a:buClr>
                <a:srgbClr val="000000"/>
              </a:buClr>
              <a:buSzPts val="1100"/>
              <a:buFont typeface="Arial"/>
              <a:buNone/>
              <a:defRPr sz="900" b="0" i="0" u="none" strike="noStrike" cap="none">
                <a:solidFill>
                  <a:srgbClr val="888888"/>
                </a:solidFill>
                <a:latin typeface="Inter Light"/>
                <a:ea typeface="Inter Light"/>
                <a:cs typeface="Inter Light"/>
                <a:sym typeface="Inter Light"/>
              </a:defRPr>
            </a:lvl5pPr>
            <a:lvl6pPr marL="0" marR="0" lvl="5" indent="0" algn="r">
              <a:lnSpc>
                <a:spcPct val="100000"/>
              </a:lnSpc>
              <a:spcBef>
                <a:spcPts val="0"/>
              </a:spcBef>
              <a:spcAft>
                <a:spcPts val="0"/>
              </a:spcAft>
              <a:buClr>
                <a:srgbClr val="000000"/>
              </a:buClr>
              <a:buSzPts val="1100"/>
              <a:buFont typeface="Arial"/>
              <a:buNone/>
              <a:defRPr sz="900" b="0" i="0" u="none" strike="noStrike" cap="none">
                <a:solidFill>
                  <a:srgbClr val="888888"/>
                </a:solidFill>
                <a:latin typeface="Inter Light"/>
                <a:ea typeface="Inter Light"/>
                <a:cs typeface="Inter Light"/>
                <a:sym typeface="Inter Light"/>
              </a:defRPr>
            </a:lvl6pPr>
            <a:lvl7pPr marL="0" marR="0" lvl="6" indent="0" algn="r">
              <a:lnSpc>
                <a:spcPct val="100000"/>
              </a:lnSpc>
              <a:spcBef>
                <a:spcPts val="0"/>
              </a:spcBef>
              <a:spcAft>
                <a:spcPts val="0"/>
              </a:spcAft>
              <a:buClr>
                <a:srgbClr val="000000"/>
              </a:buClr>
              <a:buSzPts val="1100"/>
              <a:buFont typeface="Arial"/>
              <a:buNone/>
              <a:defRPr sz="900" b="0" i="0" u="none" strike="noStrike" cap="none">
                <a:solidFill>
                  <a:srgbClr val="888888"/>
                </a:solidFill>
                <a:latin typeface="Inter Light"/>
                <a:ea typeface="Inter Light"/>
                <a:cs typeface="Inter Light"/>
                <a:sym typeface="Inter Light"/>
              </a:defRPr>
            </a:lvl7pPr>
            <a:lvl8pPr marL="0" marR="0" lvl="7" indent="0" algn="r">
              <a:lnSpc>
                <a:spcPct val="100000"/>
              </a:lnSpc>
              <a:spcBef>
                <a:spcPts val="0"/>
              </a:spcBef>
              <a:spcAft>
                <a:spcPts val="0"/>
              </a:spcAft>
              <a:buClr>
                <a:srgbClr val="000000"/>
              </a:buClr>
              <a:buSzPts val="1100"/>
              <a:buFont typeface="Arial"/>
              <a:buNone/>
              <a:defRPr sz="900" b="0" i="0" u="none" strike="noStrike" cap="none">
                <a:solidFill>
                  <a:srgbClr val="888888"/>
                </a:solidFill>
                <a:latin typeface="Inter Light"/>
                <a:ea typeface="Inter Light"/>
                <a:cs typeface="Inter Light"/>
                <a:sym typeface="Inter Light"/>
              </a:defRPr>
            </a:lvl8pPr>
            <a:lvl9pPr marL="0" marR="0" lvl="8" indent="0" algn="r">
              <a:lnSpc>
                <a:spcPct val="100000"/>
              </a:lnSpc>
              <a:spcBef>
                <a:spcPts val="0"/>
              </a:spcBef>
              <a:spcAft>
                <a:spcPts val="0"/>
              </a:spcAft>
              <a:buClr>
                <a:srgbClr val="000000"/>
              </a:buClr>
              <a:buSzPts val="1100"/>
              <a:buFont typeface="Arial"/>
              <a:buNone/>
              <a:defRPr sz="900" b="0" i="0" u="none" strike="noStrike" cap="none">
                <a:solidFill>
                  <a:srgbClr val="888888"/>
                </a:solidFill>
                <a:latin typeface="Inter Light"/>
                <a:ea typeface="Inter Light"/>
                <a:cs typeface="Inter Light"/>
                <a:sym typeface="Inter Light"/>
              </a:defRPr>
            </a:lvl9pPr>
          </a:lstStyle>
          <a:p>
            <a:pPr marL="0" lvl="0" indent="0" algn="r" rtl="0">
              <a:spcBef>
                <a:spcPts val="0"/>
              </a:spcBef>
              <a:spcAft>
                <a:spcPts val="0"/>
              </a:spcAft>
              <a:buNone/>
            </a:pPr>
            <a:fld id="{00000000-1234-1234-1234-123412341234}" type="slidenum">
              <a:rPr lang="en-US"/>
              <a:t>‹#›</a:t>
            </a:fld>
            <a:endParaRPr/>
          </a:p>
        </p:txBody>
      </p:sp>
      <p:sp>
        <p:nvSpPr>
          <p:cNvPr id="39" name="Google Shape;39;p14"/>
          <p:cNvSpPr txBox="1">
            <a:spLocks noGrp="1"/>
          </p:cNvSpPr>
          <p:nvPr>
            <p:ph type="subTitle" idx="1"/>
          </p:nvPr>
        </p:nvSpPr>
        <p:spPr>
          <a:xfrm>
            <a:off x="455175" y="978000"/>
            <a:ext cx="9407100" cy="244800"/>
          </a:xfrm>
          <a:prstGeom prst="rect">
            <a:avLst/>
          </a:prstGeom>
          <a:noFill/>
          <a:ln>
            <a:noFill/>
          </a:ln>
        </p:spPr>
        <p:txBody>
          <a:bodyPr spcFirstLastPara="1" wrap="square" lIns="0" tIns="0" rIns="0" bIns="0" anchor="t" anchorCtr="0">
            <a:spAutoFit/>
          </a:bodyPr>
          <a:lstStyle>
            <a:lvl1pPr lvl="0" algn="l">
              <a:lnSpc>
                <a:spcPct val="90000"/>
              </a:lnSpc>
              <a:spcBef>
                <a:spcPts val="1100"/>
              </a:spcBef>
              <a:spcAft>
                <a:spcPts val="0"/>
              </a:spcAft>
              <a:buSzPts val="1700"/>
              <a:buFont typeface="Inter SemiBold"/>
              <a:buNone/>
              <a:defRPr sz="1700">
                <a:solidFill>
                  <a:schemeClr val="dk2"/>
                </a:solidFill>
                <a:latin typeface="Inter SemiBold"/>
                <a:ea typeface="Inter SemiBold"/>
                <a:cs typeface="Inter SemiBold"/>
                <a:sym typeface="Inter SemiBold"/>
              </a:defRPr>
            </a:lvl1pPr>
            <a:lvl2pPr lvl="1" algn="l">
              <a:lnSpc>
                <a:spcPct val="90000"/>
              </a:lnSpc>
              <a:spcBef>
                <a:spcPts val="500"/>
              </a:spcBef>
              <a:spcAft>
                <a:spcPts val="0"/>
              </a:spcAft>
              <a:buSzPts val="1300"/>
              <a:buNone/>
              <a:defRPr/>
            </a:lvl2pPr>
            <a:lvl3pPr lvl="2" algn="l">
              <a:lnSpc>
                <a:spcPct val="90000"/>
              </a:lnSpc>
              <a:spcBef>
                <a:spcPts val="500"/>
              </a:spcBef>
              <a:spcAft>
                <a:spcPts val="0"/>
              </a:spcAft>
              <a:buSzPts val="1200"/>
              <a:buNone/>
              <a:defRPr/>
            </a:lvl3pPr>
            <a:lvl4pPr lvl="3" algn="l">
              <a:lnSpc>
                <a:spcPct val="90000"/>
              </a:lnSpc>
              <a:spcBef>
                <a:spcPts val="500"/>
              </a:spcBef>
              <a:spcAft>
                <a:spcPts val="0"/>
              </a:spcAft>
              <a:buSzPts val="1100"/>
              <a:buNone/>
              <a:defRPr/>
            </a:lvl4pPr>
            <a:lvl5pPr lvl="4" algn="l">
              <a:lnSpc>
                <a:spcPct val="90000"/>
              </a:lnSpc>
              <a:spcBef>
                <a:spcPts val="500"/>
              </a:spcBef>
              <a:spcAft>
                <a:spcPts val="0"/>
              </a:spcAft>
              <a:buSzPts val="1100"/>
              <a:buNone/>
              <a:defRPr/>
            </a:lvl5pPr>
            <a:lvl6pPr lvl="5" algn="l">
              <a:lnSpc>
                <a:spcPct val="90000"/>
              </a:lnSpc>
              <a:spcBef>
                <a:spcPts val="500"/>
              </a:spcBef>
              <a:spcAft>
                <a:spcPts val="0"/>
              </a:spcAft>
              <a:buSzPts val="1100"/>
              <a:buNone/>
              <a:defRPr/>
            </a:lvl6pPr>
            <a:lvl7pPr lvl="6" algn="l">
              <a:lnSpc>
                <a:spcPct val="90000"/>
              </a:lnSpc>
              <a:spcBef>
                <a:spcPts val="500"/>
              </a:spcBef>
              <a:spcAft>
                <a:spcPts val="0"/>
              </a:spcAft>
              <a:buSzPts val="1100"/>
              <a:buNone/>
              <a:defRPr/>
            </a:lvl7pPr>
            <a:lvl8pPr lvl="7" algn="l">
              <a:lnSpc>
                <a:spcPct val="90000"/>
              </a:lnSpc>
              <a:spcBef>
                <a:spcPts val="500"/>
              </a:spcBef>
              <a:spcAft>
                <a:spcPts val="0"/>
              </a:spcAft>
              <a:buSzPts val="1100"/>
              <a:buNone/>
              <a:defRPr/>
            </a:lvl8pPr>
            <a:lvl9pPr lvl="8" algn="l">
              <a:lnSpc>
                <a:spcPct val="90000"/>
              </a:lnSpc>
              <a:spcBef>
                <a:spcPts val="500"/>
              </a:spcBef>
              <a:spcAft>
                <a:spcPts val="0"/>
              </a:spcAft>
              <a:buSzPts val="1100"/>
              <a:buNone/>
              <a:defRPr/>
            </a:lvl9pPr>
          </a:lstStyle>
          <a:p>
            <a:endParaRPr/>
          </a:p>
        </p:txBody>
      </p:sp>
      <p:sp>
        <p:nvSpPr>
          <p:cNvPr id="40" name="Google Shape;40;p14"/>
          <p:cNvSpPr txBox="1">
            <a:spLocks noGrp="1"/>
          </p:cNvSpPr>
          <p:nvPr>
            <p:ph type="body" idx="2"/>
          </p:nvPr>
        </p:nvSpPr>
        <p:spPr>
          <a:xfrm>
            <a:off x="455175" y="1643700"/>
            <a:ext cx="11317200" cy="4442400"/>
          </a:xfrm>
          <a:prstGeom prst="rect">
            <a:avLst/>
          </a:prstGeom>
          <a:noFill/>
          <a:ln>
            <a:noFill/>
          </a:ln>
        </p:spPr>
        <p:txBody>
          <a:bodyPr spcFirstLastPara="1" wrap="square" lIns="0" tIns="0" rIns="0" bIns="0" anchor="t" anchorCtr="0">
            <a:spAutoFit/>
          </a:bodyPr>
          <a:lstStyle>
            <a:lvl1pPr marL="457200" lvl="0" indent="-317500" algn="l">
              <a:lnSpc>
                <a:spcPct val="90000"/>
              </a:lnSpc>
              <a:spcBef>
                <a:spcPts val="1100"/>
              </a:spcBef>
              <a:spcAft>
                <a:spcPts val="0"/>
              </a:spcAft>
              <a:buSzPts val="1400"/>
              <a:buChar char="●"/>
              <a:defRPr>
                <a:solidFill>
                  <a:schemeClr val="lt1"/>
                </a:solidFill>
              </a:defRPr>
            </a:lvl1pPr>
            <a:lvl2pPr marL="914400" lvl="1" indent="-311150" algn="l">
              <a:lnSpc>
                <a:spcPct val="90000"/>
              </a:lnSpc>
              <a:spcBef>
                <a:spcPts val="500"/>
              </a:spcBef>
              <a:spcAft>
                <a:spcPts val="0"/>
              </a:spcAft>
              <a:buClr>
                <a:schemeClr val="dk2"/>
              </a:buClr>
              <a:buSzPts val="1300"/>
              <a:buChar char="○"/>
              <a:defRPr>
                <a:solidFill>
                  <a:srgbClr val="FFFFFF"/>
                </a:solidFill>
              </a:defRPr>
            </a:lvl2pPr>
            <a:lvl3pPr marL="1371600" lvl="2" indent="-304800" algn="l">
              <a:lnSpc>
                <a:spcPct val="90000"/>
              </a:lnSpc>
              <a:spcBef>
                <a:spcPts val="500"/>
              </a:spcBef>
              <a:spcAft>
                <a:spcPts val="0"/>
              </a:spcAft>
              <a:buClr>
                <a:schemeClr val="dk2"/>
              </a:buClr>
              <a:buSzPts val="1200"/>
              <a:buChar char="■"/>
              <a:defRPr>
                <a:solidFill>
                  <a:srgbClr val="FFFFFF"/>
                </a:solidFill>
              </a:defRPr>
            </a:lvl3pPr>
            <a:lvl4pPr marL="1828800" lvl="3" indent="-298450" algn="l">
              <a:lnSpc>
                <a:spcPct val="90000"/>
              </a:lnSpc>
              <a:spcBef>
                <a:spcPts val="500"/>
              </a:spcBef>
              <a:spcAft>
                <a:spcPts val="0"/>
              </a:spcAft>
              <a:buClr>
                <a:schemeClr val="dk2"/>
              </a:buClr>
              <a:buSzPts val="1100"/>
              <a:buChar char="●"/>
              <a:defRPr>
                <a:solidFill>
                  <a:srgbClr val="FFFFFF"/>
                </a:solidFill>
              </a:defRPr>
            </a:lvl4pPr>
            <a:lvl5pPr marL="2286000" lvl="4" indent="-298450" algn="l">
              <a:lnSpc>
                <a:spcPct val="90000"/>
              </a:lnSpc>
              <a:spcBef>
                <a:spcPts val="500"/>
              </a:spcBef>
              <a:spcAft>
                <a:spcPts val="0"/>
              </a:spcAft>
              <a:buClr>
                <a:srgbClr val="FFFFFF"/>
              </a:buClr>
              <a:buSzPts val="1100"/>
              <a:buChar char="○"/>
              <a:defRPr>
                <a:solidFill>
                  <a:srgbClr val="FFFFFF"/>
                </a:solidFill>
              </a:defRPr>
            </a:lvl5pPr>
            <a:lvl6pPr marL="2743200" lvl="5" indent="-298450" algn="l">
              <a:lnSpc>
                <a:spcPct val="90000"/>
              </a:lnSpc>
              <a:spcBef>
                <a:spcPts val="500"/>
              </a:spcBef>
              <a:spcAft>
                <a:spcPts val="0"/>
              </a:spcAft>
              <a:buClr>
                <a:srgbClr val="FFFFFF"/>
              </a:buClr>
              <a:buSzPts val="1100"/>
              <a:buChar char="■"/>
              <a:defRPr sz="1100">
                <a:solidFill>
                  <a:srgbClr val="FFFFFF"/>
                </a:solidFill>
              </a:defRPr>
            </a:lvl6pPr>
            <a:lvl7pPr marL="3200400" lvl="6" indent="-298450" algn="l">
              <a:lnSpc>
                <a:spcPct val="90000"/>
              </a:lnSpc>
              <a:spcBef>
                <a:spcPts val="500"/>
              </a:spcBef>
              <a:spcAft>
                <a:spcPts val="0"/>
              </a:spcAft>
              <a:buClr>
                <a:srgbClr val="FFFFFF"/>
              </a:buClr>
              <a:buSzPts val="1100"/>
              <a:buChar char="●"/>
              <a:defRPr sz="1100">
                <a:solidFill>
                  <a:srgbClr val="FFFFFF"/>
                </a:solidFill>
              </a:defRPr>
            </a:lvl7pPr>
            <a:lvl8pPr marL="3657600" lvl="7" indent="-298450" algn="l">
              <a:lnSpc>
                <a:spcPct val="90000"/>
              </a:lnSpc>
              <a:spcBef>
                <a:spcPts val="500"/>
              </a:spcBef>
              <a:spcAft>
                <a:spcPts val="0"/>
              </a:spcAft>
              <a:buClr>
                <a:srgbClr val="FFFFFF"/>
              </a:buClr>
              <a:buSzPts val="1100"/>
              <a:buChar char="○"/>
              <a:defRPr sz="1100">
                <a:solidFill>
                  <a:srgbClr val="FFFFFF"/>
                </a:solidFill>
              </a:defRPr>
            </a:lvl8pPr>
            <a:lvl9pPr marL="4114800" lvl="8" indent="-298450" algn="l">
              <a:lnSpc>
                <a:spcPct val="90000"/>
              </a:lnSpc>
              <a:spcBef>
                <a:spcPts val="500"/>
              </a:spcBef>
              <a:spcAft>
                <a:spcPts val="0"/>
              </a:spcAft>
              <a:buClr>
                <a:srgbClr val="FFFFFF"/>
              </a:buClr>
              <a:buSzPts val="1100"/>
              <a:buChar char="■"/>
              <a:defRPr sz="1100">
                <a:solidFill>
                  <a:srgbClr val="FFFFFF"/>
                </a:solidFill>
              </a:defRPr>
            </a:lvl9pPr>
          </a:lstStyle>
          <a:p>
            <a:endParaRPr/>
          </a:p>
        </p:txBody>
      </p:sp>
    </p:spTree>
    <p:extLst>
      <p:ext uri="{BB962C8B-B14F-4D97-AF65-F5344CB8AC3E}">
        <p14:creationId xmlns:p14="http://schemas.microsoft.com/office/powerpoint/2010/main" val="3590202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9_Ending Slide" userDrawn="1">
  <p:cSld name="9_Ending Slide">
    <p:spTree>
      <p:nvGrpSpPr>
        <p:cNvPr id="1" name="Shape 59"/>
        <p:cNvGrpSpPr/>
        <p:nvPr/>
      </p:nvGrpSpPr>
      <p:grpSpPr>
        <a:xfrm>
          <a:off x="0" y="0"/>
          <a:ext cx="0" cy="0"/>
          <a:chOff x="0" y="0"/>
          <a:chExt cx="0" cy="0"/>
        </a:xfrm>
      </p:grpSpPr>
      <p:pic>
        <p:nvPicPr>
          <p:cNvPr id="60" name="Google Shape;60;p17"/>
          <p:cNvPicPr preferRelativeResize="0"/>
          <p:nvPr userDrawn="1"/>
        </p:nvPicPr>
        <p:blipFill rotWithShape="1">
          <a:blip r:embed="rId2">
            <a:alphaModFix/>
          </a:blip>
          <a:srcRect/>
          <a:stretch/>
        </p:blipFill>
        <p:spPr>
          <a:xfrm>
            <a:off x="0" y="0"/>
            <a:ext cx="12192000" cy="6858000"/>
          </a:xfrm>
          <a:prstGeom prst="rect">
            <a:avLst/>
          </a:prstGeom>
          <a:noFill/>
          <a:ln>
            <a:noFill/>
          </a:ln>
        </p:spPr>
      </p:pic>
      <p:pic>
        <p:nvPicPr>
          <p:cNvPr id="61" name="Google Shape;61;p17"/>
          <p:cNvPicPr preferRelativeResize="0"/>
          <p:nvPr/>
        </p:nvPicPr>
        <p:blipFill rotWithShape="1">
          <a:blip r:embed="rId3">
            <a:alphaModFix/>
          </a:blip>
          <a:srcRect l="8913" r="-5793"/>
          <a:stretch/>
        </p:blipFill>
        <p:spPr>
          <a:xfrm rot="10800000">
            <a:off x="-8426" y="4642100"/>
            <a:ext cx="12205476" cy="2215900"/>
          </a:xfrm>
          <a:prstGeom prst="rect">
            <a:avLst/>
          </a:prstGeom>
          <a:noFill/>
          <a:ln>
            <a:noFill/>
          </a:ln>
        </p:spPr>
      </p:pic>
    </p:spTree>
    <p:extLst>
      <p:ext uri="{BB962C8B-B14F-4D97-AF65-F5344CB8AC3E}">
        <p14:creationId xmlns:p14="http://schemas.microsoft.com/office/powerpoint/2010/main" val="39795817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369739"/>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1">
            <a:extLst>
              <a:ext uri="{FF2B5EF4-FFF2-40B4-BE49-F238E27FC236}">
                <a16:creationId xmlns:a16="http://schemas.microsoft.com/office/drawing/2014/main" id="{9754ADE2-BA59-1FF8-16E0-E2CB29BBE64F}"/>
              </a:ext>
            </a:extLst>
          </p:cNvPr>
          <p:cNvSpPr/>
          <p:nvPr/>
        </p:nvSpPr>
        <p:spPr>
          <a:xfrm>
            <a:off x="762000" y="1933575"/>
            <a:ext cx="7220712" cy="238125"/>
          </a:xfrm>
          <a:prstGeom prst="rect">
            <a:avLst/>
          </a:prstGeom>
          <a:noFill/>
          <a:ln/>
        </p:spPr>
        <p:txBody>
          <a:bodyPr wrap="square" lIns="25400" tIns="25400" rIns="25400" bIns="25400" rtlCol="0" anchor="t">
            <a:normAutofit/>
          </a:bodyPr>
          <a:lstStyle/>
          <a:p>
            <a:pPr marL="0" indent="0" algn="l">
              <a:lnSpc>
                <a:spcPct val="150000"/>
              </a:lnSpc>
              <a:buNone/>
            </a:pPr>
            <a:r>
              <a:rPr lang="en-US" sz="1100" b="1" kern="0" spc="231" dirty="0">
                <a:solidFill>
                  <a:srgbClr val="EAFAF2"/>
                </a:solidFill>
                <a:latin typeface="Roboto Mono" pitchFamily="34" charset="0"/>
                <a:ea typeface="Roboto Mono" pitchFamily="34" charset="-122"/>
                <a:cs typeface="Roboto Mono" pitchFamily="34" charset="-120"/>
              </a:rPr>
              <a:t>ROOTSACADEMY 2026 · DE &amp; DP</a:t>
            </a:r>
            <a:endParaRPr lang="en-US" sz="1050" dirty="0">
              <a:latin typeface="Roboto Mono"/>
            </a:endParaRPr>
          </a:p>
        </p:txBody>
      </p:sp>
      <p:sp>
        <p:nvSpPr>
          <p:cNvPr id="10" name="Text 2">
            <a:extLst>
              <a:ext uri="{FF2B5EF4-FFF2-40B4-BE49-F238E27FC236}">
                <a16:creationId xmlns:a16="http://schemas.microsoft.com/office/drawing/2014/main" id="{43DF0C16-91BB-680C-A7BB-DDA35609E05E}"/>
              </a:ext>
            </a:extLst>
          </p:cNvPr>
          <p:cNvSpPr/>
          <p:nvPr/>
        </p:nvSpPr>
        <p:spPr>
          <a:xfrm>
            <a:off x="762000" y="2343149"/>
            <a:ext cx="7220712" cy="3669343"/>
          </a:xfrm>
          <a:prstGeom prst="rect">
            <a:avLst/>
          </a:prstGeom>
          <a:noFill/>
          <a:ln/>
        </p:spPr>
        <p:txBody>
          <a:bodyPr wrap="square" lIns="25400" tIns="25400" rIns="25400" bIns="25400" rtlCol="0" anchor="t">
            <a:normAutofit/>
          </a:bodyPr>
          <a:lstStyle/>
          <a:p>
            <a:pPr marL="0" indent="0" algn="l">
              <a:lnSpc>
                <a:spcPct val="100000"/>
              </a:lnSpc>
              <a:buNone/>
            </a:pPr>
            <a:r>
              <a:rPr lang="en-US" sz="6600" b="1" kern="0" spc="-198" dirty="0">
                <a:solidFill>
                  <a:srgbClr val="FFFFFF"/>
                </a:solidFill>
                <a:latin typeface="Roboto Mono" pitchFamily="49" charset="0"/>
                <a:ea typeface="Roboto Mono" pitchFamily="49" charset="0"/>
                <a:cs typeface="Roboto Mono" pitchFamily="34" charset="-120"/>
              </a:rPr>
              <a:t>From ETL to ELT: What Changed, and Why</a:t>
            </a:r>
            <a:endParaRPr lang="en-US" sz="6600" dirty="0">
              <a:latin typeface="Roboto Mono" pitchFamily="49" charset="0"/>
              <a:ea typeface="Roboto Mono" pitchFamily="49" charset="0"/>
            </a:endParaRPr>
          </a:p>
        </p:txBody>
      </p:sp>
      <p:sp>
        <p:nvSpPr>
          <p:cNvPr id="11" name="Shape 3">
            <a:extLst>
              <a:ext uri="{FF2B5EF4-FFF2-40B4-BE49-F238E27FC236}">
                <a16:creationId xmlns:a16="http://schemas.microsoft.com/office/drawing/2014/main" id="{A2938BBE-838F-1494-2ABD-C15C62BF0E83}"/>
              </a:ext>
            </a:extLst>
          </p:cNvPr>
          <p:cNvSpPr/>
          <p:nvPr/>
        </p:nvSpPr>
        <p:spPr>
          <a:xfrm>
            <a:off x="8382000" y="2343150"/>
            <a:ext cx="3048000" cy="3467100"/>
          </a:xfrm>
          <a:prstGeom prst="roundRect">
            <a:avLst>
              <a:gd name="adj" fmla="val 5000"/>
            </a:avLst>
          </a:prstGeom>
          <a:solidFill>
            <a:srgbClr val="FFFFFF">
              <a:alpha val="6000"/>
            </a:srgbClr>
          </a:solidFill>
          <a:ln w="19050">
            <a:solidFill>
              <a:srgbClr val="FFFFFF">
                <a:alpha val="28000"/>
              </a:srgbClr>
            </a:solidFill>
            <a:prstDash val="dash"/>
          </a:ln>
        </p:spPr>
        <p:txBody>
          <a:bodyPr>
            <a:normAutofit/>
          </a:bodyPr>
          <a:lstStyle/>
          <a:p>
            <a:endParaRPr lang="nl-BE">
              <a:latin typeface="Roboto Mono"/>
            </a:endParaRPr>
          </a:p>
        </p:txBody>
      </p:sp>
      <p:sp>
        <p:nvSpPr>
          <p:cNvPr id="13" name="Text 5">
            <a:extLst>
              <a:ext uri="{FF2B5EF4-FFF2-40B4-BE49-F238E27FC236}">
                <a16:creationId xmlns:a16="http://schemas.microsoft.com/office/drawing/2014/main" id="{4A5BA440-B6FA-D521-6531-43BFE4E4CC54}"/>
              </a:ext>
            </a:extLst>
          </p:cNvPr>
          <p:cNvSpPr/>
          <p:nvPr/>
        </p:nvSpPr>
        <p:spPr>
          <a:xfrm>
            <a:off x="761999" y="6067245"/>
            <a:ext cx="3033623" cy="524055"/>
          </a:xfrm>
          <a:prstGeom prst="rect">
            <a:avLst/>
          </a:prstGeom>
          <a:noFill/>
          <a:ln/>
        </p:spPr>
        <p:txBody>
          <a:bodyPr wrap="square" lIns="25400" tIns="25400" rIns="25400" bIns="25400" rtlCol="0" anchor="b">
            <a:normAutofit/>
          </a:bodyPr>
          <a:lstStyle/>
          <a:p>
            <a:pPr lvl="0">
              <a:lnSpc>
                <a:spcPct val="150000"/>
              </a:lnSpc>
              <a:defRPr>
                <a:latin typeface="Roboto Mono"/>
              </a:defRPr>
            </a:pPr>
            <a:r>
              <a:rPr lang="en-US" sz="900" kern="0" spc="90" dirty="0">
                <a:solidFill>
                  <a:srgbClr val="C9D1DE"/>
                </a:solidFill>
                <a:latin typeface="Roboto Mono" pitchFamily="34" charset="0"/>
                <a:ea typeface="Roboto Mono" pitchFamily="34" charset="-122"/>
                <a:cs typeface="Roboto Mono" pitchFamily="34" charset="-120"/>
              </a:rPr>
              <a:t>Han | han@dataroots.io</a:t>
            </a:r>
            <a:endParaRPr lang="en-US" sz="600" dirty="0">
              <a:latin typeface="Roboto Mono"/>
            </a:endParaRPr>
          </a:p>
        </p:txBody>
      </p:sp>
      <p:pic>
        <p:nvPicPr>
          <p:cNvPr id="5" name="Image 1" descr="preencoded.png">
            <a:extLst>
              <a:ext uri="{FF2B5EF4-FFF2-40B4-BE49-F238E27FC236}">
                <a16:creationId xmlns:a16="http://schemas.microsoft.com/office/drawing/2014/main" id="{7C2A8FE5-5990-A292-C7F0-64EAE46DF9E2}"/>
              </a:ext>
            </a:extLst>
          </p:cNvPr>
          <p:cNvPicPr>
            <a:picLocks noChangeAspect="1"/>
          </p:cNvPicPr>
          <p:nvPr/>
        </p:nvPicPr>
        <p:blipFill>
          <a:blip r:embed="rId2"/>
          <a:stretch>
            <a:fillRect/>
          </a:stretch>
        </p:blipFill>
        <p:spPr>
          <a:xfrm>
            <a:off x="10830560" y="292100"/>
            <a:ext cx="985520" cy="386444"/>
          </a:xfrm>
          <a:prstGeom prst="rect">
            <a:avLst/>
          </a:prstGeom>
        </p:spPr>
      </p:pic>
      <p:pic>
        <p:nvPicPr>
          <p:cNvPr id="14" name="Picture 13" descr="slide-01-diagram.png"/>
          <p:cNvPicPr>
            <a:picLocks noChangeAspect="1"/>
          </p:cNvPicPr>
          <p:nvPr/>
        </p:nvPicPr>
        <p:blipFill>
          <a:blip r:embed="rId3"/>
          <a:stretch>
            <a:fillRect/>
          </a:stretch>
        </p:blipFill>
        <p:spPr>
          <a:xfrm>
            <a:off x="8355330" y="2362200"/>
            <a:ext cx="3101340" cy="34671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1" name="Image 0" descr="preencoded.png"/>
          <p:cNvPicPr>
            <a:picLocks noChangeAspect="1"/>
          </p:cNvPicPr>
          <p:nvPr/>
        </p:nvPicPr>
        <p:blipFill>
          <a:blip r:embed="rId2"/>
          <a:stretch>
            <a:fillRect/>
          </a:stretch>
        </p:blipFill>
        <p:spPr>
          <a:xfrm>
            <a:off x="762000" y="6286500"/>
            <a:ext cx="663327" cy="266700"/>
          </a:xfrm>
          <a:prstGeom prst="rect">
            <a:avLst/>
          </a:prstGeom>
        </p:spPr>
      </p:pic>
      <p:sp>
        <p:nvSpPr>
          <p:cNvPr id="32" name="TextBox 31"/>
          <p:cNvSpPr txBox="1"/>
          <p:nvPr/>
        </p:nvSpPr>
        <p:spPr>
          <a:xfrm>
            <a:off x="457200" y="310896"/>
            <a:ext cx="6400800" cy="274320"/>
          </a:xfrm>
          <a:prstGeom prst="rect">
            <a:avLst/>
          </a:prstGeom>
          <a:noFill/>
        </p:spPr>
        <p:txBody>
          <a:bodyPr wrap="square">
            <a:normAutofit/>
          </a:bodyPr>
          <a:lstStyle/>
          <a:p>
            <a:pPr algn="l"/>
            <a:r>
              <a:rPr sz="1100" b="1">
                <a:solidFill>
                  <a:srgbClr val="38B580"/>
                </a:solidFill>
                <a:latin typeface="Roboto Mono" pitchFamily="49" charset="0"/>
                <a:ea typeface="Roboto Mono" pitchFamily="49" charset="0"/>
                <a:cs typeface="Roboto Mono" pitchFamily="49" charset="0"/>
              </a:rPr>
              <a:t>YOUR TRAINER</a:t>
            </a:r>
          </a:p>
        </p:txBody>
      </p:sp>
      <p:sp>
        <p:nvSpPr>
          <p:cNvPr id="33" name="TextBox 32"/>
          <p:cNvSpPr txBox="1"/>
          <p:nvPr/>
        </p:nvSpPr>
        <p:spPr>
          <a:xfrm>
            <a:off x="457200" y="566928"/>
            <a:ext cx="7498079" cy="731520"/>
          </a:xfrm>
          <a:prstGeom prst="rect">
            <a:avLst/>
          </a:prstGeom>
          <a:noFill/>
        </p:spPr>
        <p:txBody>
          <a:bodyPr wrap="square">
            <a:normAutofit/>
          </a:bodyPr>
          <a:lstStyle/>
          <a:p>
            <a:pPr algn="l"/>
            <a:r>
              <a:rPr sz="2200" b="1">
                <a:solidFill>
                  <a:srgbClr val="212121"/>
                </a:solidFill>
                <a:latin typeface="Roboto Mono" pitchFamily="49" charset="0"/>
                <a:ea typeface="Roboto Mono" pitchFamily="49" charset="0"/>
                <a:cs typeface="Roboto Mono" pitchFamily="49" charset="0"/>
              </a:rPr>
              <a:t>Meet your trainer</a:t>
            </a:r>
          </a:p>
        </p:txBody>
      </p:sp>
      <p:sp>
        <p:nvSpPr>
          <p:cNvPr id="34" name="Rectangle 33"/>
          <p:cNvSpPr/>
          <p:nvPr/>
        </p:nvSpPr>
        <p:spPr>
          <a:xfrm>
            <a:off x="457200" y="1493520"/>
            <a:ext cx="5527040" cy="91440"/>
          </a:xfrm>
          <a:prstGeom prst="rect">
            <a:avLst/>
          </a:prstGeom>
          <a:solidFill>
            <a:srgbClr val="38B580"/>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fontScale="25000" lnSpcReduction="20000"/>
          </a:bodyPr>
          <a:lstStyle/>
          <a:p>
            <a:pPr algn="ctr"/>
            <a:endParaRPr/>
          </a:p>
        </p:txBody>
      </p:sp>
      <p:sp>
        <p:nvSpPr>
          <p:cNvPr id="35" name="Rectangle 34"/>
          <p:cNvSpPr/>
          <p:nvPr/>
        </p:nvSpPr>
        <p:spPr>
          <a:xfrm>
            <a:off x="457200" y="1595120"/>
            <a:ext cx="5527040" cy="38811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36" name="TextBox 35"/>
          <p:cNvSpPr txBox="1"/>
          <p:nvPr/>
        </p:nvSpPr>
        <p:spPr>
          <a:xfrm>
            <a:off x="640080" y="1783080"/>
            <a:ext cx="2651760" cy="310896"/>
          </a:xfrm>
          <a:prstGeom prst="rect">
            <a:avLst/>
          </a:prstGeom>
          <a:noFill/>
        </p:spPr>
        <p:txBody>
          <a:bodyPr wrap="square">
            <a:normAutofit/>
          </a:bodyPr>
          <a:lstStyle/>
          <a:p>
            <a:pPr algn="l"/>
            <a:r>
              <a:rPr sz="1300" b="1">
                <a:solidFill>
                  <a:srgbClr val="212121"/>
                </a:solidFill>
                <a:latin typeface="Roboto Mono" pitchFamily="49" charset="0"/>
                <a:ea typeface="Roboto Mono" pitchFamily="49" charset="0"/>
                <a:cs typeface="Roboto Mono" pitchFamily="49" charset="0"/>
              </a:rPr>
              <a:t>Han Sahin</a:t>
            </a:r>
          </a:p>
        </p:txBody>
      </p:sp>
      <p:sp>
        <p:nvSpPr>
          <p:cNvPr id="37" name="TextBox 36"/>
          <p:cNvSpPr txBox="1"/>
          <p:nvPr/>
        </p:nvSpPr>
        <p:spPr>
          <a:xfrm>
            <a:off x="640080" y="2080768"/>
            <a:ext cx="3764280" cy="2372360"/>
          </a:xfrm>
          <a:prstGeom prst="rect">
            <a:avLst/>
          </a:prstGeom>
          <a:noFill/>
        </p:spPr>
        <p:txBody>
          <a:bodyPr wrap="square" lIns="91440" tIns="45720" rIns="91440" bIns="45720" anchor="t">
            <a:noAutofit/>
          </a:bodyPr>
          <a:lstStyle/>
          <a:p>
            <a:pPr marL="171450" indent="-171450" algn="l">
              <a:buFont typeface="Courier New"/>
              <a:buChar char="o"/>
            </a:pPr>
            <a:endParaRPr lang="en-US" sz="1100" b="0" dirty="0">
              <a:solidFill>
                <a:srgbClr val="64748B"/>
              </a:solidFill>
              <a:latin typeface="Roboto Mono" pitchFamily="49" charset="0"/>
              <a:ea typeface="Roboto Mono" pitchFamily="49" charset="0"/>
              <a:cs typeface="Roboto Mono" pitchFamily="49" charset="0"/>
            </a:endParaRPr>
          </a:p>
          <a:p>
            <a:pPr marL="171450" indent="-171450" algn="l">
              <a:buFont typeface="Courier New"/>
              <a:buChar char="o"/>
            </a:pPr>
            <a:r>
              <a:rPr sz="1100" b="0" dirty="0">
                <a:solidFill>
                  <a:srgbClr val="64748B"/>
                </a:solidFill>
                <a:latin typeface="Roboto Mono"/>
                <a:ea typeface="Roboto Mono"/>
                <a:cs typeface="Roboto Mono" pitchFamily="49" charset="0"/>
              </a:rPr>
              <a:t>Tech Lead - Data Engineering @dataroots</a:t>
            </a:r>
          </a:p>
          <a:p>
            <a:pPr marL="171450" indent="-171450">
              <a:buFont typeface="Courier New"/>
              <a:buChar char="o"/>
            </a:pPr>
            <a:r>
              <a:rPr sz="1100" b="0" dirty="0">
                <a:solidFill>
                  <a:srgbClr val="64748B"/>
                </a:solidFill>
                <a:latin typeface="Roboto Mono"/>
                <a:ea typeface="Roboto Mono"/>
                <a:cs typeface="Roboto Mono" pitchFamily="49" charset="0"/>
              </a:rPr>
              <a:t>AWS, Azure, </a:t>
            </a:r>
            <a:r>
              <a:rPr lang="en-US" sz="1100" dirty="0">
                <a:solidFill>
                  <a:srgbClr val="64748B"/>
                </a:solidFill>
                <a:latin typeface="Roboto Mono"/>
                <a:ea typeface="Roboto Mono"/>
                <a:cs typeface="Roboto Mono" pitchFamily="49" charset="0"/>
              </a:rPr>
              <a:t>GCP, Kubernetes</a:t>
            </a:r>
            <a:r>
              <a:rPr sz="1100" b="0" dirty="0">
                <a:solidFill>
                  <a:srgbClr val="64748B"/>
                </a:solidFill>
                <a:latin typeface="Roboto Mono"/>
                <a:ea typeface="Roboto Mono"/>
                <a:cs typeface="Roboto Mono" pitchFamily="49" charset="0"/>
              </a:rPr>
              <a:t>, </a:t>
            </a:r>
            <a:r>
              <a:rPr sz="1100" b="0" dirty="0" err="1">
                <a:solidFill>
                  <a:srgbClr val="64748B"/>
                </a:solidFill>
                <a:latin typeface="Roboto Mono"/>
                <a:ea typeface="Roboto Mono"/>
                <a:cs typeface="Roboto Mono" pitchFamily="49" charset="0"/>
              </a:rPr>
              <a:t>Databricks,Spark,dbt</a:t>
            </a:r>
            <a:r>
              <a:rPr sz="1100" b="0" dirty="0">
                <a:solidFill>
                  <a:srgbClr val="64748B"/>
                </a:solidFill>
                <a:latin typeface="Roboto Mono"/>
                <a:ea typeface="Roboto Mono"/>
                <a:cs typeface="Roboto Mono" pitchFamily="49" charset="0"/>
              </a:rPr>
              <a:t>, Python &amp; SQL</a:t>
            </a:r>
          </a:p>
          <a:p>
            <a:pPr marL="171450" indent="-171450">
              <a:buFont typeface="Courier New"/>
              <a:buChar char="o"/>
            </a:pPr>
            <a:r>
              <a:rPr sz="1100" b="0" dirty="0">
                <a:solidFill>
                  <a:srgbClr val="64748B"/>
                </a:solidFill>
                <a:latin typeface="Roboto Mono"/>
                <a:ea typeface="Roboto Mono"/>
                <a:cs typeface="Roboto Mono" pitchFamily="49" charset="0"/>
              </a:rPr>
              <a:t>Lately working on Hybrid </a:t>
            </a:r>
            <a:r>
              <a:rPr lang="en-US" sz="1100" dirty="0">
                <a:solidFill>
                  <a:srgbClr val="64748B"/>
                </a:solidFill>
                <a:latin typeface="Roboto Mono"/>
                <a:ea typeface="Roboto Mono"/>
                <a:cs typeface="Roboto Mono" pitchFamily="49" charset="0"/>
              </a:rPr>
              <a:t>Cloud </a:t>
            </a:r>
            <a:r>
              <a:rPr sz="1100" b="0" dirty="0">
                <a:solidFill>
                  <a:srgbClr val="64748B"/>
                </a:solidFill>
                <a:latin typeface="Roboto Mono"/>
                <a:ea typeface="Roboto Mono"/>
                <a:cs typeface="Roboto Mono" pitchFamily="49" charset="0"/>
              </a:rPr>
              <a:t>Data Platform Deployment for Belgium Government</a:t>
            </a:r>
          </a:p>
          <a:p>
            <a:pPr marL="171450" indent="-171450">
              <a:buFont typeface="Courier New"/>
              <a:buChar char="o"/>
            </a:pPr>
            <a:r>
              <a:rPr lang="en-US" sz="1100" dirty="0">
                <a:solidFill>
                  <a:srgbClr val="64748B"/>
                </a:solidFill>
                <a:latin typeface="Roboto Mono"/>
                <a:ea typeface="Roboto Mono"/>
                <a:cs typeface="Roboto Mono" pitchFamily="49" charset="0"/>
              </a:rPr>
              <a:t>Education:</a:t>
            </a:r>
          </a:p>
          <a:p>
            <a:pPr marL="628650" lvl="1" indent="-171450">
              <a:buFont typeface="Courier New"/>
              <a:buChar char="o"/>
            </a:pPr>
            <a:r>
              <a:rPr lang="en-US" sz="1100" dirty="0">
                <a:solidFill>
                  <a:srgbClr val="64748B"/>
                </a:solidFill>
                <a:latin typeface="Roboto Mono"/>
                <a:ea typeface="Roboto Mono"/>
                <a:cs typeface="Roboto Mono" pitchFamily="49" charset="0"/>
              </a:rPr>
              <a:t>BSc</a:t>
            </a:r>
            <a:r>
              <a:rPr sz="1100" b="0" dirty="0">
                <a:solidFill>
                  <a:srgbClr val="64748B"/>
                </a:solidFill>
                <a:latin typeface="Roboto Mono"/>
                <a:ea typeface="Roboto Mono"/>
                <a:cs typeface="Roboto Mono" pitchFamily="49" charset="0"/>
              </a:rPr>
              <a:t>. Engineering, Istanbul</a:t>
            </a:r>
            <a:endParaRPr lang="en-US" sz="1100">
              <a:solidFill>
                <a:srgbClr val="000000"/>
              </a:solidFill>
              <a:latin typeface="Calibri" panose="020F0502020204030204"/>
              <a:ea typeface="Calibri" panose="020F0502020204030204"/>
              <a:cs typeface="Calibri" panose="020F0502020204030204"/>
            </a:endParaRPr>
          </a:p>
          <a:p>
            <a:pPr marL="628650" lvl="1" indent="-171450" algn="l">
              <a:buFont typeface="Courier New"/>
              <a:buChar char="o"/>
            </a:pPr>
            <a:r>
              <a:rPr sz="1100" b="0" dirty="0">
                <a:solidFill>
                  <a:srgbClr val="64748B"/>
                </a:solidFill>
                <a:latin typeface="Roboto Mono"/>
                <a:ea typeface="Roboto Mono"/>
                <a:cs typeface="Roboto Mono" pitchFamily="49" charset="0"/>
              </a:rPr>
              <a:t>MSc. Artificial Engineering, Copenhagen</a:t>
            </a:r>
            <a:endParaRPr sz="1100">
              <a:ea typeface="Calibri" panose="020F0502020204030204"/>
              <a:cs typeface="Calibri" panose="020F0502020204030204"/>
            </a:endParaRPr>
          </a:p>
          <a:p>
            <a:pPr marL="171450" indent="-171450">
              <a:buFont typeface="Courier New"/>
              <a:buChar char="o"/>
            </a:pPr>
            <a:r>
              <a:rPr lang="en-US" sz="1100" dirty="0">
                <a:solidFill>
                  <a:srgbClr val="64748B"/>
                </a:solidFill>
                <a:latin typeface="Roboto Mono"/>
                <a:ea typeface="Roboto Mono"/>
                <a:cs typeface="Roboto Mono" pitchFamily="49" charset="0"/>
              </a:rPr>
              <a:t>Previously worked</a:t>
            </a:r>
            <a:r>
              <a:rPr sz="1100" b="0" dirty="0">
                <a:solidFill>
                  <a:srgbClr val="64748B"/>
                </a:solidFill>
                <a:latin typeface="Roboto Mono"/>
                <a:ea typeface="Roboto Mono"/>
                <a:cs typeface="Roboto Mono" pitchFamily="49" charset="0"/>
              </a:rPr>
              <a:t> at Novo Nordisk as Data Scientist, Data &amp; Cloud Engineer</a:t>
            </a:r>
          </a:p>
          <a:p>
            <a:pPr marL="171450" indent="-171450">
              <a:buFont typeface="Courier New"/>
              <a:buChar char="o"/>
            </a:pPr>
            <a:endParaRPr lang="en-US" sz="1100" dirty="0">
              <a:solidFill>
                <a:srgbClr val="64748B"/>
              </a:solidFill>
              <a:latin typeface="Roboto Mono" pitchFamily="49" charset="0"/>
              <a:ea typeface="Roboto Mono" pitchFamily="49" charset="0"/>
              <a:cs typeface="Roboto Mono" pitchFamily="49" charset="0"/>
            </a:endParaRPr>
          </a:p>
          <a:p>
            <a:pPr marL="171450" indent="-171450">
              <a:buFont typeface="Courier New"/>
              <a:buChar char="o"/>
            </a:pPr>
            <a:endParaRPr lang="en-US" sz="1100" dirty="0">
              <a:solidFill>
                <a:srgbClr val="64748B"/>
              </a:solidFill>
              <a:latin typeface="Roboto Mono"/>
              <a:ea typeface="Roboto Mono"/>
              <a:cs typeface="Roboto Mono" pitchFamily="49" charset="0"/>
            </a:endParaRPr>
          </a:p>
          <a:p>
            <a:pPr algn="l"/>
            <a:r>
              <a:rPr sz="1100" b="0" dirty="0">
                <a:solidFill>
                  <a:srgbClr val="64748B"/>
                </a:solidFill>
                <a:latin typeface="Roboto Mono"/>
                <a:ea typeface="Roboto Mono"/>
                <a:cs typeface="Roboto Mono" pitchFamily="49" charset="0"/>
              </a:rPr>
              <a:t>han@dataroots.io</a:t>
            </a:r>
            <a:endParaRPr lang="en-US" sz="1100" b="0" dirty="0">
              <a:solidFill>
                <a:srgbClr val="64748B"/>
              </a:solidFill>
              <a:latin typeface="Roboto Mono"/>
              <a:ea typeface="Roboto Mono"/>
              <a:cs typeface="Roboto Mono" pitchFamily="49" charset="0"/>
            </a:endParaRPr>
          </a:p>
        </p:txBody>
      </p:sp>
      <p:pic>
        <p:nvPicPr>
          <p:cNvPr id="38" name="Picture 37" descr="han_photo.jpg"/>
          <p:cNvPicPr>
            <a:picLocks noChangeAspect="1"/>
          </p:cNvPicPr>
          <p:nvPr/>
        </p:nvPicPr>
        <p:blipFill>
          <a:blip r:embed="rId3"/>
          <a:stretch>
            <a:fillRect/>
          </a:stretch>
        </p:blipFill>
        <p:spPr>
          <a:xfrm>
            <a:off x="4602480" y="1711960"/>
            <a:ext cx="1225296" cy="1658112"/>
          </a:xfrm>
          <a:prstGeom prst="rect">
            <a:avLst/>
          </a:prstGeom>
        </p:spPr>
      </p:pic>
      <p:sp>
        <p:nvSpPr>
          <p:cNvPr id="39" name="Rectangle 38"/>
          <p:cNvSpPr/>
          <p:nvPr/>
        </p:nvSpPr>
        <p:spPr>
          <a:xfrm>
            <a:off x="6553200" y="2011680"/>
            <a:ext cx="4023360" cy="91440"/>
          </a:xfrm>
          <a:prstGeom prst="rect">
            <a:avLst/>
          </a:prstGeom>
          <a:solidFill>
            <a:srgbClr val="D95F3B"/>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40" name="Rectangle 39"/>
          <p:cNvSpPr/>
          <p:nvPr/>
        </p:nvSpPr>
        <p:spPr>
          <a:xfrm>
            <a:off x="6553200" y="2103120"/>
            <a:ext cx="4023360" cy="29260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41" name="TextBox 40"/>
          <p:cNvSpPr txBox="1"/>
          <p:nvPr/>
        </p:nvSpPr>
        <p:spPr>
          <a:xfrm>
            <a:off x="6736080" y="2240280"/>
            <a:ext cx="3657600" cy="310896"/>
          </a:xfrm>
          <a:prstGeom prst="rect">
            <a:avLst/>
          </a:prstGeom>
          <a:noFill/>
        </p:spPr>
        <p:txBody>
          <a:bodyPr wrap="square">
            <a:normAutofit/>
          </a:bodyPr>
          <a:lstStyle/>
          <a:p>
            <a:pPr algn="l"/>
            <a:r>
              <a:rPr sz="1300" b="1">
                <a:solidFill>
                  <a:srgbClr val="212121"/>
                </a:solidFill>
                <a:latin typeface="Roboto Mono" pitchFamily="49" charset="0"/>
                <a:ea typeface="Roboto Mono" pitchFamily="49" charset="0"/>
                <a:cs typeface="Roboto Mono" pitchFamily="49" charset="0"/>
              </a:rPr>
              <a:t>This session</a:t>
            </a:r>
          </a:p>
        </p:txBody>
      </p:sp>
      <p:sp>
        <p:nvSpPr>
          <p:cNvPr id="42" name="TextBox 41"/>
          <p:cNvSpPr txBox="1"/>
          <p:nvPr/>
        </p:nvSpPr>
        <p:spPr>
          <a:xfrm>
            <a:off x="6736080" y="2578608"/>
            <a:ext cx="3657600" cy="2331720"/>
          </a:xfrm>
          <a:prstGeom prst="rect">
            <a:avLst/>
          </a:prstGeom>
          <a:noFill/>
        </p:spPr>
        <p:txBody>
          <a:bodyPr wrap="square">
            <a:normAutofit/>
          </a:bodyPr>
          <a:lstStyle/>
          <a:p>
            <a:pPr algn="l"/>
            <a:r>
              <a:rPr sz="1050" b="0">
                <a:solidFill>
                  <a:srgbClr val="64748B"/>
                </a:solidFill>
                <a:latin typeface="Roboto Mono" pitchFamily="49" charset="0"/>
                <a:ea typeface="Roboto Mono" pitchFamily="49" charset="0"/>
                <a:cs typeface="Roboto Mono" pitchFamily="49" charset="0"/>
              </a:rPr>
              <a:t>RootsAcademy 2026</a:t>
            </a:r>
          </a:p>
          <a:p>
            <a:pPr algn="l"/>
            <a:endParaRPr sz="1050" b="0">
              <a:solidFill>
                <a:srgbClr val="64748B"/>
              </a:solidFill>
              <a:latin typeface="Roboto Mono" pitchFamily="49" charset="0"/>
              <a:ea typeface="Roboto Mono" pitchFamily="49" charset="0"/>
              <a:cs typeface="Roboto Mono" pitchFamily="49" charset="0"/>
            </a:endParaRPr>
          </a:p>
          <a:p>
            <a:pPr algn="l"/>
            <a:r>
              <a:rPr sz="1050" b="0">
                <a:solidFill>
                  <a:srgbClr val="64748B"/>
                </a:solidFill>
                <a:latin typeface="Roboto Mono" pitchFamily="49" charset="0"/>
                <a:ea typeface="Roboto Mono" pitchFamily="49" charset="0"/>
                <a:cs typeface="Roboto Mono" pitchFamily="49" charset="0"/>
              </a:rPr>
              <a:t>Data Engineering &amp; Data Platform track</a:t>
            </a:r>
          </a:p>
          <a:p>
            <a:pPr algn="l"/>
            <a:r>
              <a:rPr sz="1050" b="0">
                <a:solidFill>
                  <a:srgbClr val="64748B"/>
                </a:solidFill>
                <a:latin typeface="Roboto Mono" pitchFamily="49" charset="0"/>
                <a:ea typeface="Roboto Mono" pitchFamily="49" charset="0"/>
                <a:cs typeface="Roboto Mono" pitchFamily="49" charset="0"/>
              </a:rPr>
              <a:t>From ETL to ELT - what changed, and why</a:t>
            </a:r>
          </a:p>
          <a:p>
            <a:pPr algn="l"/>
            <a:r>
              <a:rPr sz="1050" b="0">
                <a:solidFill>
                  <a:srgbClr val="64748B"/>
                </a:solidFill>
                <a:latin typeface="Roboto Mono" pitchFamily="49" charset="0"/>
                <a:ea typeface="Roboto Mono" pitchFamily="49" charset="0"/>
                <a:cs typeface="Roboto Mono" pitchFamily="49" charset="0"/>
              </a:rPr>
              <a:t>Then straight into the Olist exercise</a:t>
            </a:r>
          </a:p>
          <a:p>
            <a:pPr algn="l"/>
            <a:endParaRPr sz="1050" b="0">
              <a:solidFill>
                <a:srgbClr val="64748B"/>
              </a:solidFill>
              <a:latin typeface="Roboto Mono" pitchFamily="49" charset="0"/>
              <a:ea typeface="Roboto Mono" pitchFamily="49" charset="0"/>
              <a:cs typeface="Roboto Mono" pitchFamily="49" charset="0"/>
            </a:endParaRPr>
          </a:p>
          <a:p>
            <a:pPr algn="l"/>
            <a:r>
              <a:rPr sz="1050" b="0">
                <a:solidFill>
                  <a:srgbClr val="64748B"/>
                </a:solidFill>
                <a:latin typeface="Roboto Mono" pitchFamily="49" charset="0"/>
                <a:ea typeface="Roboto Mono" pitchFamily="49" charset="0"/>
                <a:cs typeface="Roboto Mono" pitchFamily="49" charset="0"/>
              </a:rPr>
              <a:t>Solo build, hands-on, all questions welcome</a:t>
            </a:r>
          </a:p>
        </p:txBody>
      </p:sp>
      <p:sp>
        <p:nvSpPr>
          <p:cNvPr id="43" name="TextBox 42"/>
          <p:cNvSpPr txBox="1"/>
          <p:nvPr/>
        </p:nvSpPr>
        <p:spPr>
          <a:xfrm>
            <a:off x="579120" y="5872480"/>
            <a:ext cx="8229600" cy="292608"/>
          </a:xfrm>
          <a:prstGeom prst="rect">
            <a:avLst/>
          </a:prstGeom>
          <a:noFill/>
        </p:spPr>
        <p:txBody>
          <a:bodyPr wrap="square">
            <a:normAutofit/>
          </a:bodyPr>
          <a:lstStyle/>
          <a:p>
            <a:pPr algn="l"/>
            <a:r>
              <a:rPr sz="1050" b="0">
                <a:solidFill>
                  <a:srgbClr val="64748B"/>
                </a:solidFill>
                <a:latin typeface="Roboto Mono" pitchFamily="49" charset="0"/>
                <a:ea typeface="Roboto Mono" pitchFamily="49" charset="0"/>
                <a:cs typeface="Roboto Mono" pitchFamily="49" charset="0"/>
              </a:rPr>
              <a:t>RootsAcademy 2026 - Data Engineering &amp; Data Platform track - ask questions any time.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609600"/>
            <a:ext cx="7299198" cy="478110"/>
          </a:xfrm>
          <a:prstGeom prst="rect">
            <a:avLst/>
          </a:prstGeom>
          <a:noFill/>
          <a:ln/>
        </p:spPr>
        <p:txBody>
          <a:bodyPr wrap="square" lIns="25400" tIns="25400" rIns="25400" bIns="25400" rtlCol="0" anchor="t">
            <a:normAutofit/>
          </a:bodyPr>
          <a:lstStyle/>
          <a:p>
            <a:pPr marL="0" indent="0" algn="l">
              <a:lnSpc>
                <a:spcPct val="105000"/>
              </a:lnSpc>
              <a:buNone/>
            </a:pPr>
            <a:r>
              <a:rPr lang="en-US" sz="3300" b="1" kern="0" spc="-66" dirty="0">
                <a:solidFill>
                  <a:srgbClr val="212121"/>
                </a:solidFill>
                <a:latin typeface="Roboto Mono" pitchFamily="49" charset="0"/>
                <a:ea typeface="Roboto Mono" pitchFamily="49" charset="0"/>
                <a:cs typeface="Roboto Mono" pitchFamily="34" charset="-120"/>
              </a:rPr>
              <a:t>What we will cover</a:t>
            </a:r>
            <a:endParaRPr lang="en-US" sz="3300" dirty="0">
              <a:latin typeface="Roboto Mono" pitchFamily="49" charset="0"/>
              <a:ea typeface="Roboto Mono" pitchFamily="49" charset="0"/>
            </a:endParaRPr>
          </a:p>
        </p:txBody>
      </p:sp>
      <p:sp>
        <p:nvSpPr>
          <p:cNvPr id="3" name="Shape 1"/>
          <p:cNvSpPr/>
          <p:nvPr/>
        </p:nvSpPr>
        <p:spPr>
          <a:xfrm>
            <a:off x="762000" y="1278210"/>
            <a:ext cx="7086600" cy="9525"/>
          </a:xfrm>
          <a:prstGeom prst="rect">
            <a:avLst/>
          </a:prstGeom>
          <a:solidFill>
            <a:srgbClr val="DFE3EB"/>
          </a:solidFill>
          <a:ln/>
        </p:spPr>
        <p:txBody>
          <a:bodyPr>
            <a:normAutofit/>
          </a:bodyPr>
          <a:lstStyle/>
          <a:p>
            <a:endParaRPr lang="nl-BE">
              <a:latin typeface="Roboto Mono" pitchFamily="49" charset="0"/>
              <a:ea typeface="Roboto Mono" pitchFamily="49" charset="0"/>
            </a:endParaRPr>
          </a:p>
        </p:txBody>
      </p:sp>
      <p:sp>
        <p:nvSpPr>
          <p:cNvPr id="4" name="Shape 2"/>
          <p:cNvSpPr/>
          <p:nvPr/>
        </p:nvSpPr>
        <p:spPr>
          <a:xfrm>
            <a:off x="762000" y="2159273"/>
            <a:ext cx="7086600" cy="9525"/>
          </a:xfrm>
          <a:prstGeom prst="rect">
            <a:avLst/>
          </a:prstGeom>
          <a:solidFill>
            <a:srgbClr val="DFE3EB"/>
          </a:solidFill>
          <a:ln/>
        </p:spPr>
        <p:txBody>
          <a:bodyPr>
            <a:normAutofit/>
          </a:bodyPr>
          <a:lstStyle/>
          <a:p>
            <a:endParaRPr lang="nl-BE">
              <a:latin typeface="Roboto Mono" pitchFamily="49" charset="0"/>
              <a:ea typeface="Roboto Mono" pitchFamily="49" charset="0"/>
            </a:endParaRPr>
          </a:p>
        </p:txBody>
      </p:sp>
      <p:sp>
        <p:nvSpPr>
          <p:cNvPr id="5" name="Text 3"/>
          <p:cNvSpPr/>
          <p:nvPr/>
        </p:nvSpPr>
        <p:spPr>
          <a:xfrm>
            <a:off x="762000" y="1623492"/>
            <a:ext cx="762000" cy="238125"/>
          </a:xfrm>
          <a:prstGeom prst="rect">
            <a:avLst/>
          </a:prstGeom>
          <a:noFill/>
          <a:ln/>
        </p:spPr>
        <p:txBody>
          <a:bodyPr wrap="square" lIns="25400" tIns="25400" rIns="25400" bIns="25400" rtlCol="0" anchor="t">
            <a:normAutofit/>
          </a:bodyPr>
          <a:lstStyle/>
          <a:p>
            <a:pPr marL="0" indent="0" algn="l">
              <a:lnSpc>
                <a:spcPct val="150000"/>
              </a:lnSpc>
              <a:buNone/>
            </a:pPr>
            <a:r>
              <a:rPr lang="en-US" sz="1100" b="1" kern="0" spc="189" dirty="0">
                <a:solidFill>
                  <a:srgbClr val="38B580"/>
                </a:solidFill>
                <a:latin typeface="Roboto Mono" pitchFamily="49" charset="0"/>
                <a:ea typeface="Roboto Mono" pitchFamily="49" charset="0"/>
                <a:cs typeface="Roboto Mono" pitchFamily="34" charset="-120"/>
              </a:rPr>
              <a:t>01</a:t>
            </a:r>
            <a:endParaRPr lang="en-US" sz="1050" dirty="0">
              <a:latin typeface="Roboto Mono" pitchFamily="49" charset="0"/>
              <a:ea typeface="Roboto Mono" pitchFamily="49" charset="0"/>
            </a:endParaRPr>
          </a:p>
        </p:txBody>
      </p:sp>
      <p:sp>
        <p:nvSpPr>
          <p:cNvPr id="6" name="Text 4"/>
          <p:cNvSpPr/>
          <p:nvPr/>
        </p:nvSpPr>
        <p:spPr>
          <a:xfrm>
            <a:off x="1447800" y="1449660"/>
            <a:ext cx="5650992" cy="366713"/>
          </a:xfrm>
          <a:prstGeom prst="rect">
            <a:avLst/>
          </a:prstGeom>
          <a:noFill/>
          <a:ln/>
        </p:spPr>
        <p:txBody>
          <a:bodyPr wrap="square" lIns="25400" tIns="25400" rIns="25400" bIns="25400" rtlCol="0" anchor="t">
            <a:normAutofit/>
          </a:bodyPr>
          <a:lstStyle/>
          <a:p>
            <a:pPr marL="0" indent="0" algn="l">
              <a:lnSpc>
                <a:spcPct val="150000"/>
              </a:lnSpc>
              <a:buNone/>
            </a:pPr>
            <a:r>
              <a:rPr lang="en-US" sz="1725" b="1" kern="0" spc="-17" dirty="0">
                <a:solidFill>
                  <a:srgbClr val="212121"/>
                </a:solidFill>
                <a:latin typeface="Roboto Mono" pitchFamily="49" charset="0"/>
                <a:ea typeface="Roboto Mono" pitchFamily="49" charset="0"/>
                <a:cs typeface="Roboto Mono" pitchFamily="34" charset="-120"/>
              </a:rPr>
              <a:t>Why ETL was the default</a:t>
            </a:r>
            <a:endParaRPr lang="en-US" sz="1725" dirty="0">
              <a:latin typeface="Roboto Mono" pitchFamily="49" charset="0"/>
              <a:ea typeface="Roboto Mono" pitchFamily="49" charset="0"/>
            </a:endParaRPr>
          </a:p>
        </p:txBody>
      </p:sp>
      <p:sp>
        <p:nvSpPr>
          <p:cNvPr id="7" name="Text 5"/>
          <p:cNvSpPr/>
          <p:nvPr/>
        </p:nvSpPr>
        <p:spPr>
          <a:xfrm>
            <a:off x="1447800" y="1797323"/>
            <a:ext cx="5650992" cy="238125"/>
          </a:xfrm>
          <a:prstGeom prst="rect">
            <a:avLst/>
          </a:prstGeom>
          <a:noFill/>
          <a:ln/>
        </p:spPr>
        <p:txBody>
          <a:bodyPr wrap="square" lIns="25400" tIns="25400" rIns="25400" bIns="25400" rtlCol="0" anchor="t">
            <a:normAutofit/>
          </a:bodyPr>
          <a:lstStyle/>
          <a:p>
            <a:pPr marL="0" indent="0" algn="l">
              <a:lnSpc>
                <a:spcPct val="150000"/>
              </a:lnSpc>
              <a:buNone/>
            </a:pPr>
            <a:r>
              <a:rPr lang="en-US" sz="1100" dirty="0">
                <a:solidFill>
                  <a:srgbClr val="6B7285"/>
                </a:solidFill>
                <a:latin typeface="Roboto Mono" pitchFamily="49" charset="0"/>
                <a:ea typeface="Roboto Mono" pitchFamily="49" charset="0"/>
                <a:cs typeface="Roboto Mono" pitchFamily="34" charset="-120"/>
              </a:rPr>
              <a:t>The old constraints</a:t>
            </a:r>
            <a:endParaRPr lang="en-US" sz="1050" dirty="0">
              <a:latin typeface="Roboto Mono" pitchFamily="49" charset="0"/>
              <a:ea typeface="Roboto Mono" pitchFamily="49" charset="0"/>
            </a:endParaRPr>
          </a:p>
        </p:txBody>
      </p:sp>
      <p:sp>
        <p:nvSpPr>
          <p:cNvPr id="8" name="Text 6"/>
          <p:cNvSpPr/>
          <p:nvPr/>
        </p:nvSpPr>
        <p:spPr>
          <a:xfrm>
            <a:off x="6858000" y="1630635"/>
            <a:ext cx="990600" cy="223838"/>
          </a:xfrm>
          <a:prstGeom prst="rect">
            <a:avLst/>
          </a:prstGeom>
          <a:noFill/>
          <a:ln/>
        </p:spPr>
        <p:txBody>
          <a:bodyPr wrap="square" lIns="25400" tIns="25400" rIns="25400" bIns="25400" rtlCol="0" anchor="t">
            <a:normAutofit/>
          </a:bodyPr>
          <a:lstStyle/>
          <a:p>
            <a:pPr marL="0" indent="0" algn="r">
              <a:lnSpc>
                <a:spcPct val="150000"/>
              </a:lnSpc>
              <a:buNone/>
            </a:pPr>
            <a:r>
              <a:rPr lang="en-US" sz="1100" kern="0" spc="117" dirty="0">
                <a:solidFill>
                  <a:srgbClr val="9AA2B3"/>
                </a:solidFill>
                <a:latin typeface="Roboto Mono" pitchFamily="49" charset="0"/>
                <a:ea typeface="Roboto Mono" pitchFamily="49" charset="0"/>
                <a:cs typeface="Roboto Mono" pitchFamily="34" charset="-120"/>
              </a:rPr>
              <a:t>8 min</a:t>
            </a:r>
            <a:endParaRPr lang="en-US" sz="975" dirty="0">
              <a:latin typeface="Roboto Mono" pitchFamily="49" charset="0"/>
              <a:ea typeface="Roboto Mono" pitchFamily="49" charset="0"/>
            </a:endParaRPr>
          </a:p>
        </p:txBody>
      </p:sp>
      <p:sp>
        <p:nvSpPr>
          <p:cNvPr id="9" name="Shape 7"/>
          <p:cNvSpPr/>
          <p:nvPr/>
        </p:nvSpPr>
        <p:spPr>
          <a:xfrm>
            <a:off x="762000" y="3040335"/>
            <a:ext cx="7086600" cy="9525"/>
          </a:xfrm>
          <a:prstGeom prst="rect">
            <a:avLst/>
          </a:prstGeom>
          <a:solidFill>
            <a:srgbClr val="DFE3EB"/>
          </a:solidFill>
          <a:ln/>
        </p:spPr>
        <p:txBody>
          <a:bodyPr>
            <a:normAutofit/>
          </a:bodyPr>
          <a:lstStyle/>
          <a:p>
            <a:endParaRPr lang="nl-BE">
              <a:latin typeface="Roboto Mono" pitchFamily="49" charset="0"/>
              <a:ea typeface="Roboto Mono" pitchFamily="49" charset="0"/>
            </a:endParaRPr>
          </a:p>
        </p:txBody>
      </p:sp>
      <p:sp>
        <p:nvSpPr>
          <p:cNvPr id="10" name="Text 8"/>
          <p:cNvSpPr/>
          <p:nvPr/>
        </p:nvSpPr>
        <p:spPr>
          <a:xfrm>
            <a:off x="762000" y="2504554"/>
            <a:ext cx="762000" cy="238125"/>
          </a:xfrm>
          <a:prstGeom prst="rect">
            <a:avLst/>
          </a:prstGeom>
          <a:noFill/>
          <a:ln/>
        </p:spPr>
        <p:txBody>
          <a:bodyPr wrap="square" lIns="25400" tIns="25400" rIns="25400" bIns="25400" rtlCol="0" anchor="t">
            <a:normAutofit/>
          </a:bodyPr>
          <a:lstStyle/>
          <a:p>
            <a:pPr marL="0" indent="0" algn="l">
              <a:lnSpc>
                <a:spcPct val="150000"/>
              </a:lnSpc>
              <a:buNone/>
            </a:pPr>
            <a:r>
              <a:rPr lang="en-US" sz="1100" b="1" kern="0" spc="189" dirty="0">
                <a:solidFill>
                  <a:srgbClr val="38B580"/>
                </a:solidFill>
                <a:latin typeface="Roboto Mono" pitchFamily="49" charset="0"/>
                <a:ea typeface="Roboto Mono" pitchFamily="49" charset="0"/>
                <a:cs typeface="Roboto Mono" pitchFamily="34" charset="-120"/>
              </a:rPr>
              <a:t>02</a:t>
            </a:r>
            <a:endParaRPr lang="en-US" sz="1050" dirty="0">
              <a:latin typeface="Roboto Mono" pitchFamily="49" charset="0"/>
              <a:ea typeface="Roboto Mono" pitchFamily="49" charset="0"/>
            </a:endParaRPr>
          </a:p>
        </p:txBody>
      </p:sp>
      <p:sp>
        <p:nvSpPr>
          <p:cNvPr id="11" name="Text 9"/>
          <p:cNvSpPr/>
          <p:nvPr/>
        </p:nvSpPr>
        <p:spPr>
          <a:xfrm>
            <a:off x="1447800" y="2330723"/>
            <a:ext cx="5650992" cy="366713"/>
          </a:xfrm>
          <a:prstGeom prst="rect">
            <a:avLst/>
          </a:prstGeom>
          <a:noFill/>
          <a:ln/>
        </p:spPr>
        <p:txBody>
          <a:bodyPr wrap="square" lIns="25400" tIns="25400" rIns="25400" bIns="25400" rtlCol="0" anchor="t">
            <a:normAutofit/>
          </a:bodyPr>
          <a:lstStyle/>
          <a:p>
            <a:pPr marL="0" indent="0" algn="l">
              <a:lnSpc>
                <a:spcPct val="150000"/>
              </a:lnSpc>
              <a:buNone/>
            </a:pPr>
            <a:r>
              <a:rPr lang="en-US" sz="1725" b="1" kern="0" spc="-17" dirty="0">
                <a:solidFill>
                  <a:srgbClr val="212121"/>
                </a:solidFill>
                <a:latin typeface="Roboto Mono" pitchFamily="49" charset="0"/>
                <a:ea typeface="Roboto Mono" pitchFamily="49" charset="0"/>
                <a:cs typeface="Roboto Mono" pitchFamily="34" charset="-120"/>
              </a:rPr>
              <a:t>What actually changed</a:t>
            </a:r>
            <a:endParaRPr lang="en-US" sz="1725" dirty="0">
              <a:latin typeface="Roboto Mono" pitchFamily="49" charset="0"/>
              <a:ea typeface="Roboto Mono" pitchFamily="49" charset="0"/>
            </a:endParaRPr>
          </a:p>
        </p:txBody>
      </p:sp>
      <p:sp>
        <p:nvSpPr>
          <p:cNvPr id="12" name="Text 10"/>
          <p:cNvSpPr/>
          <p:nvPr/>
        </p:nvSpPr>
        <p:spPr>
          <a:xfrm>
            <a:off x="1447800" y="2678385"/>
            <a:ext cx="5650992" cy="238125"/>
          </a:xfrm>
          <a:prstGeom prst="rect">
            <a:avLst/>
          </a:prstGeom>
          <a:noFill/>
          <a:ln/>
        </p:spPr>
        <p:txBody>
          <a:bodyPr wrap="square" lIns="25400" tIns="25400" rIns="25400" bIns="25400" rtlCol="0" anchor="t">
            <a:normAutofit/>
          </a:bodyPr>
          <a:lstStyle/>
          <a:p>
            <a:pPr marL="0" indent="0" algn="l">
              <a:lnSpc>
                <a:spcPct val="150000"/>
              </a:lnSpc>
              <a:buNone/>
            </a:pPr>
            <a:r>
              <a:rPr lang="en-US" sz="1100" dirty="0" err="1">
                <a:solidFill>
                  <a:srgbClr val="6B7285"/>
                </a:solidFill>
                <a:latin typeface="Roboto Mono" pitchFamily="49" charset="0"/>
                <a:ea typeface="Roboto Mono" pitchFamily="49" charset="0"/>
                <a:cs typeface="Roboto Mono" pitchFamily="34" charset="-120"/>
              </a:rPr>
              <a:t>Storage and compute</a:t>
            </a:r>
            <a:endParaRPr lang="en-US" sz="1050" dirty="0">
              <a:latin typeface="Roboto Mono" pitchFamily="49" charset="0"/>
              <a:ea typeface="Roboto Mono" pitchFamily="49" charset="0"/>
            </a:endParaRPr>
          </a:p>
        </p:txBody>
      </p:sp>
      <p:sp>
        <p:nvSpPr>
          <p:cNvPr id="13" name="Text 11"/>
          <p:cNvSpPr/>
          <p:nvPr/>
        </p:nvSpPr>
        <p:spPr>
          <a:xfrm>
            <a:off x="6858000" y="2511698"/>
            <a:ext cx="990600" cy="223838"/>
          </a:xfrm>
          <a:prstGeom prst="rect">
            <a:avLst/>
          </a:prstGeom>
          <a:noFill/>
          <a:ln/>
        </p:spPr>
        <p:txBody>
          <a:bodyPr wrap="square" lIns="25400" tIns="25400" rIns="25400" bIns="25400" rtlCol="0" anchor="t">
            <a:normAutofit/>
          </a:bodyPr>
          <a:lstStyle/>
          <a:p>
            <a:pPr marL="0" indent="0" algn="r">
              <a:lnSpc>
                <a:spcPct val="150000"/>
              </a:lnSpc>
              <a:buNone/>
            </a:pPr>
            <a:r>
              <a:rPr lang="en-US" sz="1100" kern="0" spc="117" dirty="0">
                <a:solidFill>
                  <a:srgbClr val="9AA2B3"/>
                </a:solidFill>
                <a:latin typeface="Roboto Mono" pitchFamily="49" charset="0"/>
                <a:ea typeface="Roboto Mono" pitchFamily="49" charset="0"/>
                <a:cs typeface="Roboto Mono" pitchFamily="34" charset="-120"/>
              </a:rPr>
              <a:t>8 min</a:t>
            </a:r>
            <a:endParaRPr lang="en-US" sz="975" dirty="0">
              <a:latin typeface="Roboto Mono" pitchFamily="49" charset="0"/>
              <a:ea typeface="Roboto Mono" pitchFamily="49" charset="0"/>
            </a:endParaRPr>
          </a:p>
        </p:txBody>
      </p:sp>
      <p:sp>
        <p:nvSpPr>
          <p:cNvPr id="14" name="Shape 12"/>
          <p:cNvSpPr/>
          <p:nvPr/>
        </p:nvSpPr>
        <p:spPr>
          <a:xfrm>
            <a:off x="762000" y="3921398"/>
            <a:ext cx="7086600" cy="9525"/>
          </a:xfrm>
          <a:prstGeom prst="rect">
            <a:avLst/>
          </a:prstGeom>
          <a:solidFill>
            <a:srgbClr val="DFE3EB"/>
          </a:solidFill>
          <a:ln/>
        </p:spPr>
        <p:txBody>
          <a:bodyPr>
            <a:normAutofit/>
          </a:bodyPr>
          <a:lstStyle/>
          <a:p>
            <a:endParaRPr lang="nl-BE">
              <a:latin typeface="Roboto Mono" pitchFamily="49" charset="0"/>
              <a:ea typeface="Roboto Mono" pitchFamily="49" charset="0"/>
            </a:endParaRPr>
          </a:p>
        </p:txBody>
      </p:sp>
      <p:sp>
        <p:nvSpPr>
          <p:cNvPr id="15" name="Text 13"/>
          <p:cNvSpPr/>
          <p:nvPr/>
        </p:nvSpPr>
        <p:spPr>
          <a:xfrm>
            <a:off x="762000" y="3385617"/>
            <a:ext cx="762000" cy="238125"/>
          </a:xfrm>
          <a:prstGeom prst="rect">
            <a:avLst/>
          </a:prstGeom>
          <a:noFill/>
          <a:ln/>
        </p:spPr>
        <p:txBody>
          <a:bodyPr wrap="square" lIns="25400" tIns="25400" rIns="25400" bIns="25400" rtlCol="0" anchor="t">
            <a:normAutofit/>
          </a:bodyPr>
          <a:lstStyle/>
          <a:p>
            <a:pPr marL="0" indent="0" algn="l">
              <a:lnSpc>
                <a:spcPct val="150000"/>
              </a:lnSpc>
              <a:buNone/>
            </a:pPr>
            <a:r>
              <a:rPr lang="en-US" sz="1100" b="1" kern="0" spc="189" dirty="0">
                <a:solidFill>
                  <a:srgbClr val="38B580"/>
                </a:solidFill>
                <a:latin typeface="Roboto Mono" pitchFamily="49" charset="0"/>
                <a:ea typeface="Roboto Mono" pitchFamily="49" charset="0"/>
                <a:cs typeface="Roboto Mono" pitchFamily="34" charset="-120"/>
              </a:rPr>
              <a:t>03</a:t>
            </a:r>
            <a:endParaRPr lang="en-US" sz="1050" dirty="0">
              <a:latin typeface="Roboto Mono" pitchFamily="49" charset="0"/>
              <a:ea typeface="Roboto Mono" pitchFamily="49" charset="0"/>
            </a:endParaRPr>
          </a:p>
        </p:txBody>
      </p:sp>
      <p:sp>
        <p:nvSpPr>
          <p:cNvPr id="16" name="Text 14"/>
          <p:cNvSpPr/>
          <p:nvPr/>
        </p:nvSpPr>
        <p:spPr>
          <a:xfrm>
            <a:off x="1447800" y="3211785"/>
            <a:ext cx="5650992" cy="366713"/>
          </a:xfrm>
          <a:prstGeom prst="rect">
            <a:avLst/>
          </a:prstGeom>
          <a:noFill/>
          <a:ln/>
        </p:spPr>
        <p:txBody>
          <a:bodyPr wrap="square" lIns="25400" tIns="25400" rIns="25400" bIns="25400" rtlCol="0" anchor="t">
            <a:normAutofit/>
          </a:bodyPr>
          <a:lstStyle/>
          <a:p>
            <a:pPr marL="0" indent="0" algn="l">
              <a:lnSpc>
                <a:spcPct val="150000"/>
              </a:lnSpc>
              <a:buNone/>
            </a:pPr>
            <a:r>
              <a:rPr lang="en-US" sz="1725" b="1" kern="0" spc="-17" dirty="0">
                <a:solidFill>
                  <a:srgbClr val="212121"/>
                </a:solidFill>
                <a:latin typeface="Roboto Mono" pitchFamily="49" charset="0"/>
                <a:ea typeface="Roboto Mono" pitchFamily="49" charset="0"/>
                <a:cs typeface="Roboto Mono" pitchFamily="34" charset="-120"/>
              </a:rPr>
              <a:t>The lakehouse</a:t>
            </a:r>
            <a:endParaRPr lang="en-US" sz="1725" dirty="0">
              <a:latin typeface="Roboto Mono" pitchFamily="49" charset="0"/>
              <a:ea typeface="Roboto Mono" pitchFamily="49" charset="0"/>
            </a:endParaRPr>
          </a:p>
        </p:txBody>
      </p:sp>
      <p:sp>
        <p:nvSpPr>
          <p:cNvPr id="17" name="Text 15"/>
          <p:cNvSpPr/>
          <p:nvPr/>
        </p:nvSpPr>
        <p:spPr>
          <a:xfrm>
            <a:off x="1447800" y="3559448"/>
            <a:ext cx="5650992" cy="238125"/>
          </a:xfrm>
          <a:prstGeom prst="rect">
            <a:avLst/>
          </a:prstGeom>
          <a:noFill/>
          <a:ln/>
        </p:spPr>
        <p:txBody>
          <a:bodyPr wrap="square" lIns="25400" tIns="25400" rIns="25400" bIns="25400" rtlCol="0" anchor="t">
            <a:normAutofit/>
          </a:bodyPr>
          <a:lstStyle/>
          <a:p>
            <a:pPr marL="0" indent="0" algn="l">
              <a:lnSpc>
                <a:spcPct val="150000"/>
              </a:lnSpc>
              <a:buNone/>
            </a:pPr>
            <a:r>
              <a:rPr lang="en-US" sz="1100" dirty="0">
                <a:solidFill>
                  <a:srgbClr val="6B7285"/>
                </a:solidFill>
                <a:latin typeface="Roboto Mono" pitchFamily="49" charset="0"/>
                <a:ea typeface="Roboto Mono" pitchFamily="49" charset="0"/>
                <a:cs typeface="Roboto Mono" pitchFamily="34" charset="-120"/>
              </a:rPr>
              <a:t>From files to a real table</a:t>
            </a:r>
            <a:endParaRPr lang="en-US" sz="1050" dirty="0">
              <a:latin typeface="Roboto Mono" pitchFamily="49" charset="0"/>
              <a:ea typeface="Roboto Mono" pitchFamily="49" charset="0"/>
            </a:endParaRPr>
          </a:p>
        </p:txBody>
      </p:sp>
      <p:sp>
        <p:nvSpPr>
          <p:cNvPr id="18" name="Text 16"/>
          <p:cNvSpPr/>
          <p:nvPr/>
        </p:nvSpPr>
        <p:spPr>
          <a:xfrm>
            <a:off x="6858000" y="3392760"/>
            <a:ext cx="990600" cy="223838"/>
          </a:xfrm>
          <a:prstGeom prst="rect">
            <a:avLst/>
          </a:prstGeom>
          <a:noFill/>
          <a:ln/>
        </p:spPr>
        <p:txBody>
          <a:bodyPr wrap="square" lIns="25400" tIns="25400" rIns="25400" bIns="25400" rtlCol="0" anchor="t">
            <a:normAutofit/>
          </a:bodyPr>
          <a:lstStyle/>
          <a:p>
            <a:pPr marL="0" indent="0" algn="r">
              <a:lnSpc>
                <a:spcPct val="150000"/>
              </a:lnSpc>
              <a:buNone/>
            </a:pPr>
            <a:r>
              <a:rPr lang="en-US" sz="1100" kern="0" spc="117" dirty="0">
                <a:solidFill>
                  <a:srgbClr val="9AA2B3"/>
                </a:solidFill>
                <a:latin typeface="Roboto Mono" pitchFamily="49" charset="0"/>
                <a:ea typeface="Roboto Mono" pitchFamily="49" charset="0"/>
                <a:cs typeface="Roboto Mono" pitchFamily="34" charset="-120"/>
              </a:rPr>
              <a:t>8 min</a:t>
            </a:r>
            <a:endParaRPr lang="en-US" sz="975" dirty="0">
              <a:latin typeface="Roboto Mono" pitchFamily="49" charset="0"/>
              <a:ea typeface="Roboto Mono" pitchFamily="49" charset="0"/>
            </a:endParaRPr>
          </a:p>
        </p:txBody>
      </p:sp>
      <p:sp>
        <p:nvSpPr>
          <p:cNvPr id="19" name="Shape 17"/>
          <p:cNvSpPr/>
          <p:nvPr/>
        </p:nvSpPr>
        <p:spPr>
          <a:xfrm>
            <a:off x="762000" y="4802460"/>
            <a:ext cx="7086600" cy="9525"/>
          </a:xfrm>
          <a:prstGeom prst="rect">
            <a:avLst/>
          </a:prstGeom>
          <a:solidFill>
            <a:srgbClr val="DFE3EB"/>
          </a:solidFill>
          <a:ln/>
        </p:spPr>
        <p:txBody>
          <a:bodyPr>
            <a:normAutofit/>
          </a:bodyPr>
          <a:lstStyle/>
          <a:p>
            <a:endParaRPr lang="nl-BE">
              <a:latin typeface="Roboto Mono" pitchFamily="49" charset="0"/>
              <a:ea typeface="Roboto Mono" pitchFamily="49" charset="0"/>
            </a:endParaRPr>
          </a:p>
        </p:txBody>
      </p:sp>
      <p:sp>
        <p:nvSpPr>
          <p:cNvPr id="20" name="Text 18"/>
          <p:cNvSpPr/>
          <p:nvPr/>
        </p:nvSpPr>
        <p:spPr>
          <a:xfrm>
            <a:off x="762000" y="4266679"/>
            <a:ext cx="762000" cy="238125"/>
          </a:xfrm>
          <a:prstGeom prst="rect">
            <a:avLst/>
          </a:prstGeom>
          <a:noFill/>
          <a:ln/>
        </p:spPr>
        <p:txBody>
          <a:bodyPr wrap="square" lIns="25400" tIns="25400" rIns="25400" bIns="25400" rtlCol="0" anchor="t">
            <a:normAutofit/>
          </a:bodyPr>
          <a:lstStyle/>
          <a:p>
            <a:pPr marL="0" indent="0" algn="l">
              <a:lnSpc>
                <a:spcPct val="150000"/>
              </a:lnSpc>
              <a:buNone/>
            </a:pPr>
            <a:r>
              <a:rPr lang="en-US" sz="1100" b="1" kern="0" spc="189" dirty="0">
                <a:solidFill>
                  <a:srgbClr val="38B580"/>
                </a:solidFill>
                <a:latin typeface="Roboto Mono" pitchFamily="49" charset="0"/>
                <a:ea typeface="Roboto Mono" pitchFamily="49" charset="0"/>
                <a:cs typeface="Roboto Mono" pitchFamily="34" charset="-120"/>
              </a:rPr>
              <a:t>04</a:t>
            </a:r>
            <a:endParaRPr lang="en-US" sz="1050" dirty="0">
              <a:latin typeface="Roboto Mono" pitchFamily="49" charset="0"/>
              <a:ea typeface="Roboto Mono" pitchFamily="49" charset="0"/>
            </a:endParaRPr>
          </a:p>
        </p:txBody>
      </p:sp>
      <p:sp>
        <p:nvSpPr>
          <p:cNvPr id="21" name="Text 19"/>
          <p:cNvSpPr/>
          <p:nvPr/>
        </p:nvSpPr>
        <p:spPr>
          <a:xfrm>
            <a:off x="1447800" y="4092848"/>
            <a:ext cx="5650992" cy="366713"/>
          </a:xfrm>
          <a:prstGeom prst="rect">
            <a:avLst/>
          </a:prstGeom>
          <a:noFill/>
          <a:ln/>
        </p:spPr>
        <p:txBody>
          <a:bodyPr wrap="square" lIns="25400" tIns="25400" rIns="25400" bIns="25400" rtlCol="0" anchor="t">
            <a:normAutofit/>
          </a:bodyPr>
          <a:lstStyle/>
          <a:p>
            <a:pPr marL="0" indent="0" algn="l">
              <a:lnSpc>
                <a:spcPct val="150000"/>
              </a:lnSpc>
              <a:buNone/>
            </a:pPr>
            <a:r>
              <a:rPr lang="en-US" sz="1725" b="1" kern="0" spc="-17" dirty="0">
                <a:solidFill>
                  <a:srgbClr val="212121"/>
                </a:solidFill>
                <a:latin typeface="Roboto Mono" pitchFamily="49" charset="0"/>
                <a:ea typeface="Roboto Mono" pitchFamily="49" charset="0"/>
                <a:cs typeface="Roboto Mono" pitchFamily="34" charset="-120"/>
              </a:rPr>
              <a:t>Why ELT wins now</a:t>
            </a:r>
            <a:endParaRPr lang="en-US" sz="1725" dirty="0">
              <a:latin typeface="Roboto Mono" pitchFamily="49" charset="0"/>
              <a:ea typeface="Roboto Mono" pitchFamily="49" charset="0"/>
            </a:endParaRPr>
          </a:p>
        </p:txBody>
      </p:sp>
      <p:sp>
        <p:nvSpPr>
          <p:cNvPr id="22" name="Text 20"/>
          <p:cNvSpPr/>
          <p:nvPr/>
        </p:nvSpPr>
        <p:spPr>
          <a:xfrm>
            <a:off x="1447800" y="4440510"/>
            <a:ext cx="5650992" cy="238125"/>
          </a:xfrm>
          <a:prstGeom prst="rect">
            <a:avLst/>
          </a:prstGeom>
          <a:noFill/>
          <a:ln/>
        </p:spPr>
        <p:txBody>
          <a:bodyPr wrap="square" lIns="25400" tIns="25400" rIns="25400" bIns="25400" rtlCol="0" anchor="t">
            <a:normAutofit/>
          </a:bodyPr>
          <a:lstStyle/>
          <a:p>
            <a:pPr marL="0" indent="0" algn="l">
              <a:lnSpc>
                <a:spcPct val="150000"/>
              </a:lnSpc>
              <a:buNone/>
            </a:pPr>
            <a:r>
              <a:rPr lang="en-US" sz="1100" dirty="0">
                <a:solidFill>
                  <a:srgbClr val="6B7285"/>
                </a:solidFill>
                <a:latin typeface="Roboto Mono" pitchFamily="49" charset="0"/>
                <a:ea typeface="Roboto Mono" pitchFamily="49" charset="0"/>
                <a:cs typeface="Roboto Mono" pitchFamily="34" charset="-120"/>
              </a:rPr>
              <a:t>Four enablers, Spark vs dbt</a:t>
            </a:r>
            <a:endParaRPr lang="en-US" sz="1050" dirty="0">
              <a:latin typeface="Roboto Mono" pitchFamily="49" charset="0"/>
              <a:ea typeface="Roboto Mono" pitchFamily="49" charset="0"/>
            </a:endParaRPr>
          </a:p>
        </p:txBody>
      </p:sp>
      <p:sp>
        <p:nvSpPr>
          <p:cNvPr id="23" name="Text 21"/>
          <p:cNvSpPr/>
          <p:nvPr/>
        </p:nvSpPr>
        <p:spPr>
          <a:xfrm>
            <a:off x="6858000" y="4273823"/>
            <a:ext cx="990600" cy="223838"/>
          </a:xfrm>
          <a:prstGeom prst="rect">
            <a:avLst/>
          </a:prstGeom>
          <a:noFill/>
          <a:ln/>
        </p:spPr>
        <p:txBody>
          <a:bodyPr wrap="square" lIns="25400" tIns="25400" rIns="25400" bIns="25400" rtlCol="0" anchor="t">
            <a:normAutofit/>
          </a:bodyPr>
          <a:lstStyle/>
          <a:p>
            <a:pPr marL="0" indent="0" algn="r">
              <a:lnSpc>
                <a:spcPct val="150000"/>
              </a:lnSpc>
              <a:buNone/>
            </a:pPr>
            <a:r>
              <a:rPr lang="en-US" sz="1100" kern="0" spc="117" dirty="0">
                <a:solidFill>
                  <a:srgbClr val="9AA2B3"/>
                </a:solidFill>
                <a:latin typeface="Roboto Mono" pitchFamily="49" charset="0"/>
                <a:ea typeface="Roboto Mono" pitchFamily="49" charset="0"/>
                <a:cs typeface="Roboto Mono" pitchFamily="34" charset="-120"/>
              </a:rPr>
              <a:t>13 min</a:t>
            </a:r>
            <a:endParaRPr lang="en-US" sz="975" dirty="0">
              <a:latin typeface="Roboto Mono" pitchFamily="49" charset="0"/>
              <a:ea typeface="Roboto Mono" pitchFamily="49" charset="0"/>
            </a:endParaRPr>
          </a:p>
        </p:txBody>
      </p:sp>
      <p:sp>
        <p:nvSpPr>
          <p:cNvPr id="24" name="Shape 22"/>
          <p:cNvSpPr/>
          <p:nvPr/>
        </p:nvSpPr>
        <p:spPr>
          <a:xfrm>
            <a:off x="762000" y="5683523"/>
            <a:ext cx="7086600" cy="9525"/>
          </a:xfrm>
          <a:prstGeom prst="rect">
            <a:avLst/>
          </a:prstGeom>
          <a:solidFill>
            <a:srgbClr val="DFE3EB"/>
          </a:solidFill>
          <a:ln/>
        </p:spPr>
        <p:txBody>
          <a:bodyPr>
            <a:normAutofit/>
          </a:bodyPr>
          <a:lstStyle/>
          <a:p>
            <a:endParaRPr lang="nl-BE">
              <a:latin typeface="Roboto Mono" pitchFamily="49" charset="0"/>
              <a:ea typeface="Roboto Mono" pitchFamily="49" charset="0"/>
            </a:endParaRPr>
          </a:p>
        </p:txBody>
      </p:sp>
      <p:sp>
        <p:nvSpPr>
          <p:cNvPr id="25" name="Text 23"/>
          <p:cNvSpPr/>
          <p:nvPr/>
        </p:nvSpPr>
        <p:spPr>
          <a:xfrm>
            <a:off x="762000" y="5147742"/>
            <a:ext cx="762000" cy="238125"/>
          </a:xfrm>
          <a:prstGeom prst="rect">
            <a:avLst/>
          </a:prstGeom>
          <a:noFill/>
          <a:ln/>
        </p:spPr>
        <p:txBody>
          <a:bodyPr wrap="square" lIns="25400" tIns="25400" rIns="25400" bIns="25400" rtlCol="0" anchor="t">
            <a:normAutofit/>
          </a:bodyPr>
          <a:lstStyle/>
          <a:p>
            <a:pPr marL="0" indent="0" algn="l">
              <a:lnSpc>
                <a:spcPct val="150000"/>
              </a:lnSpc>
              <a:buNone/>
            </a:pPr>
            <a:r>
              <a:rPr lang="en-US" sz="1100" b="1" kern="0" spc="189" dirty="0">
                <a:solidFill>
                  <a:srgbClr val="38B580"/>
                </a:solidFill>
                <a:latin typeface="Roboto Mono" pitchFamily="49" charset="0"/>
                <a:ea typeface="Roboto Mono" pitchFamily="49" charset="0"/>
                <a:cs typeface="Roboto Mono" pitchFamily="34" charset="-120"/>
              </a:rPr>
              <a:t>05</a:t>
            </a:r>
            <a:endParaRPr lang="en-US" sz="1050" dirty="0">
              <a:latin typeface="Roboto Mono" pitchFamily="49" charset="0"/>
              <a:ea typeface="Roboto Mono" pitchFamily="49" charset="0"/>
            </a:endParaRPr>
          </a:p>
        </p:txBody>
      </p:sp>
      <p:sp>
        <p:nvSpPr>
          <p:cNvPr id="26" name="Text 24"/>
          <p:cNvSpPr/>
          <p:nvPr/>
        </p:nvSpPr>
        <p:spPr>
          <a:xfrm>
            <a:off x="1447800" y="4973910"/>
            <a:ext cx="5650992" cy="366713"/>
          </a:xfrm>
          <a:prstGeom prst="rect">
            <a:avLst/>
          </a:prstGeom>
          <a:noFill/>
          <a:ln/>
        </p:spPr>
        <p:txBody>
          <a:bodyPr wrap="square" lIns="25400" tIns="25400" rIns="25400" bIns="25400" rtlCol="0" anchor="t">
            <a:normAutofit/>
          </a:bodyPr>
          <a:lstStyle/>
          <a:p>
            <a:pPr marL="0" indent="0" algn="l">
              <a:lnSpc>
                <a:spcPct val="150000"/>
              </a:lnSpc>
              <a:buNone/>
            </a:pPr>
            <a:r>
              <a:rPr lang="en-US" sz="1725" b="1" kern="0" spc="-17" dirty="0">
                <a:solidFill>
                  <a:srgbClr val="212121"/>
                </a:solidFill>
                <a:latin typeface="Roboto Mono" pitchFamily="49" charset="0"/>
                <a:ea typeface="Roboto Mono" pitchFamily="49" charset="0"/>
                <a:cs typeface="Roboto Mono" pitchFamily="34" charset="-120"/>
              </a:rPr>
              <a:t>When ETL still wins</a:t>
            </a:r>
            <a:endParaRPr lang="en-US" sz="1725" dirty="0">
              <a:latin typeface="Roboto Mono" pitchFamily="49" charset="0"/>
              <a:ea typeface="Roboto Mono" pitchFamily="49" charset="0"/>
            </a:endParaRPr>
          </a:p>
        </p:txBody>
      </p:sp>
      <p:sp>
        <p:nvSpPr>
          <p:cNvPr id="27" name="Text 25"/>
          <p:cNvSpPr/>
          <p:nvPr/>
        </p:nvSpPr>
        <p:spPr>
          <a:xfrm>
            <a:off x="1447800" y="5321573"/>
            <a:ext cx="5650992" cy="238125"/>
          </a:xfrm>
          <a:prstGeom prst="rect">
            <a:avLst/>
          </a:prstGeom>
          <a:noFill/>
          <a:ln/>
        </p:spPr>
        <p:txBody>
          <a:bodyPr wrap="square" lIns="25400" tIns="25400" rIns="25400" bIns="25400" rtlCol="0" anchor="t">
            <a:normAutofit/>
          </a:bodyPr>
          <a:lstStyle/>
          <a:p>
            <a:pPr marL="0" indent="0" algn="l">
              <a:lnSpc>
                <a:spcPct val="150000"/>
              </a:lnSpc>
              <a:buNone/>
            </a:pPr>
            <a:r>
              <a:rPr lang="en-US" sz="1100" dirty="0">
                <a:solidFill>
                  <a:srgbClr val="6B7285"/>
                </a:solidFill>
                <a:latin typeface="Roboto Mono" pitchFamily="49" charset="0"/>
                <a:ea typeface="Roboto Mono" pitchFamily="49" charset="0"/>
                <a:cs typeface="Roboto Mono" pitchFamily="34" charset="-120"/>
              </a:rPr>
              <a:t>Exceptions and the trade-off</a:t>
            </a:r>
            <a:endParaRPr lang="en-US" sz="1050" dirty="0">
              <a:latin typeface="Roboto Mono" pitchFamily="49" charset="0"/>
              <a:ea typeface="Roboto Mono" pitchFamily="49" charset="0"/>
            </a:endParaRPr>
          </a:p>
        </p:txBody>
      </p:sp>
      <p:sp>
        <p:nvSpPr>
          <p:cNvPr id="28" name="Text 26"/>
          <p:cNvSpPr/>
          <p:nvPr/>
        </p:nvSpPr>
        <p:spPr>
          <a:xfrm>
            <a:off x="6858000" y="5154885"/>
            <a:ext cx="990600" cy="223838"/>
          </a:xfrm>
          <a:prstGeom prst="rect">
            <a:avLst/>
          </a:prstGeom>
          <a:noFill/>
          <a:ln/>
        </p:spPr>
        <p:txBody>
          <a:bodyPr wrap="square" lIns="25400" tIns="25400" rIns="25400" bIns="25400" rtlCol="0" anchor="t">
            <a:normAutofit/>
          </a:bodyPr>
          <a:lstStyle/>
          <a:p>
            <a:pPr marL="0" indent="0" algn="r">
              <a:lnSpc>
                <a:spcPct val="150000"/>
              </a:lnSpc>
              <a:buNone/>
            </a:pPr>
            <a:r>
              <a:rPr lang="en-US" sz="1100" kern="0" spc="117" dirty="0">
                <a:solidFill>
                  <a:srgbClr val="9AA2B3"/>
                </a:solidFill>
                <a:latin typeface="Roboto Mono" pitchFamily="49" charset="0"/>
                <a:ea typeface="Roboto Mono" pitchFamily="49" charset="0"/>
                <a:cs typeface="Roboto Mono" pitchFamily="34" charset="-120"/>
              </a:rPr>
              <a:t>9 min</a:t>
            </a:r>
            <a:endParaRPr lang="en-US" sz="975" dirty="0">
              <a:latin typeface="Roboto Mono" pitchFamily="49" charset="0"/>
              <a:ea typeface="Roboto Mono" pitchFamily="49" charset="0"/>
            </a:endParaRPr>
          </a:p>
        </p:txBody>
      </p:sp>
      <p:sp>
        <p:nvSpPr>
          <p:cNvPr id="29" name="Shape 27"/>
          <p:cNvSpPr/>
          <p:nvPr/>
        </p:nvSpPr>
        <p:spPr>
          <a:xfrm>
            <a:off x="8382000" y="609600"/>
            <a:ext cx="3048000" cy="5121548"/>
          </a:xfrm>
          <a:prstGeom prst="roundRect">
            <a:avLst>
              <a:gd name="adj" fmla="val 5000"/>
            </a:avLst>
          </a:prstGeom>
          <a:solidFill>
            <a:srgbClr val="EEF0F4"/>
          </a:solidFill>
          <a:ln w="19050">
            <a:solidFill>
              <a:srgbClr val="C4CAD7"/>
            </a:solidFill>
            <a:prstDash val="dash"/>
          </a:ln>
        </p:spPr>
        <p:txBody>
          <a:bodyPr>
            <a:normAutofit/>
          </a:bodyPr>
          <a:lstStyle/>
          <a:p>
            <a:endParaRPr lang="nl-BE">
              <a:latin typeface="Roboto Mono" pitchFamily="49" charset="0"/>
              <a:ea typeface="Roboto Mono" pitchFamily="49" charset="0"/>
            </a:endParaRPr>
          </a:p>
        </p:txBody>
      </p:sp>
      <p:pic>
        <p:nvPicPr>
          <p:cNvPr id="31" name="Image 0" descr="preencoded.png"/>
          <p:cNvPicPr>
            <a:picLocks noChangeAspect="1"/>
          </p:cNvPicPr>
          <p:nvPr/>
        </p:nvPicPr>
        <p:blipFill>
          <a:blip r:embed="rId2"/>
          <a:stretch>
            <a:fillRect/>
          </a:stretch>
        </p:blipFill>
        <p:spPr>
          <a:xfrm>
            <a:off x="762000" y="6286500"/>
            <a:ext cx="663327" cy="266700"/>
          </a:xfrm>
          <a:prstGeom prst="rect">
            <a:avLst/>
          </a:prstGeom>
        </p:spPr>
      </p:pic>
      <p:pic>
        <p:nvPicPr>
          <p:cNvPr id="32" name="Picture 31" descr="slide-03-diagram.png"/>
          <p:cNvPicPr>
            <a:picLocks noChangeAspect="1"/>
          </p:cNvPicPr>
          <p:nvPr/>
        </p:nvPicPr>
        <p:blipFill>
          <a:blip r:embed="rId3"/>
          <a:stretch>
            <a:fillRect/>
          </a:stretch>
        </p:blipFill>
        <p:spPr>
          <a:xfrm>
            <a:off x="8355330" y="628650"/>
            <a:ext cx="3101340" cy="512154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05137" y="1244724"/>
            <a:ext cx="4711630" cy="1598116"/>
          </a:xfrm>
          <a:prstGeom prst="rect">
            <a:avLst/>
          </a:prstGeom>
          <a:noFill/>
          <a:ln/>
        </p:spPr>
        <p:txBody>
          <a:bodyPr wrap="square" lIns="25400" tIns="25400" rIns="25400" bIns="25400" rtlCol="0" anchor="t">
            <a:normAutofit/>
          </a:bodyPr>
          <a:lstStyle/>
          <a:p>
            <a:pPr marL="0" indent="0" algn="l">
              <a:lnSpc>
                <a:spcPct val="105000"/>
              </a:lnSpc>
              <a:buNone/>
            </a:pPr>
            <a:r>
              <a:rPr lang="en-US" sz="3900" b="1" kern="0" spc="-78" dirty="0">
                <a:solidFill>
                  <a:srgbClr val="212121"/>
                </a:solidFill>
                <a:latin typeface="Roboto Mono" pitchFamily="49" charset="0"/>
                <a:ea typeface="Roboto Mono" pitchFamily="49" charset="0"/>
                <a:cs typeface="Roboto Mono" pitchFamily="34" charset="-120"/>
              </a:rPr>
              <a:t>ETL was a constraint, not a preference</a:t>
            </a:r>
            <a:endParaRPr lang="en-US" sz="3900" dirty="0">
              <a:latin typeface="Roboto Mono" pitchFamily="49" charset="0"/>
              <a:ea typeface="Roboto Mono" pitchFamily="49" charset="0"/>
            </a:endParaRPr>
          </a:p>
        </p:txBody>
      </p:sp>
      <p:sp>
        <p:nvSpPr>
          <p:cNvPr id="5" name="Text 3"/>
          <p:cNvSpPr/>
          <p:nvPr/>
        </p:nvSpPr>
        <p:spPr>
          <a:xfrm>
            <a:off x="6201220" y="947737"/>
            <a:ext cx="5385642" cy="540990"/>
          </a:xfrm>
          <a:prstGeom prst="rect">
            <a:avLst/>
          </a:prstGeom>
          <a:noFill/>
          <a:ln/>
        </p:spPr>
        <p:txBody>
          <a:bodyPr wrap="square" lIns="25400" tIns="25400" rIns="25400" bIns="25400" rtlCol="0" anchor="t">
            <a:normAutofit/>
          </a:bodyPr>
          <a:lstStyle/>
          <a:p>
            <a:pPr marL="0" indent="0" algn="l">
              <a:lnSpc>
                <a:spcPct val="120000"/>
              </a:lnSpc>
              <a:buNone/>
            </a:pPr>
            <a:r>
              <a:rPr lang="en-US" sz="1600" b="1" kern="0" spc="-25" dirty="0">
                <a:solidFill>
                  <a:srgbClr val="212121"/>
                </a:solidFill>
                <a:latin typeface="Roboto Mono" pitchFamily="49" charset="0"/>
                <a:ea typeface="Roboto Mono" pitchFamily="49" charset="0"/>
                <a:cs typeface="Roboto Mono" pitchFamily="34" charset="-120"/>
              </a:rPr>
              <a:t>Storage was expensive</a:t>
            </a:r>
          </a:p>
          <a:p>
            <a:pPr marL="0" indent="0" algn="l">
              <a:lnSpc>
                <a:spcPct val="120000"/>
              </a:lnSpc>
              <a:buNone/>
            </a:pPr>
            <a:endParaRPr lang="en-US" sz="1600" dirty="0">
              <a:latin typeface="Roboto Mono" pitchFamily="49" charset="0"/>
              <a:ea typeface="Roboto Mono" pitchFamily="49" charset="0"/>
            </a:endParaRPr>
          </a:p>
        </p:txBody>
      </p:sp>
      <p:pic>
        <p:nvPicPr>
          <p:cNvPr id="13" name="Image 0" descr="preencoded.png"/>
          <p:cNvPicPr>
            <a:picLocks noChangeAspect="1"/>
          </p:cNvPicPr>
          <p:nvPr/>
        </p:nvPicPr>
        <p:blipFill>
          <a:blip r:embed="rId3"/>
          <a:stretch>
            <a:fillRect/>
          </a:stretch>
        </p:blipFill>
        <p:spPr>
          <a:xfrm>
            <a:off x="762000" y="6286500"/>
            <a:ext cx="663327" cy="266700"/>
          </a:xfrm>
          <a:prstGeom prst="rect">
            <a:avLst/>
          </a:prstGeom>
        </p:spPr>
      </p:pic>
      <p:sp>
        <p:nvSpPr>
          <p:cNvPr id="15" name="Shape 2">
            <a:extLst>
              <a:ext uri="{FF2B5EF4-FFF2-40B4-BE49-F238E27FC236}">
                <a16:creationId xmlns:a16="http://schemas.microsoft.com/office/drawing/2014/main" id="{0498CF6E-45E0-F201-CE17-85512B9E0CBB}"/>
              </a:ext>
            </a:extLst>
          </p:cNvPr>
          <p:cNvSpPr/>
          <p:nvPr/>
        </p:nvSpPr>
        <p:spPr>
          <a:xfrm>
            <a:off x="6201220" y="2395738"/>
            <a:ext cx="5385641" cy="18000"/>
          </a:xfrm>
          <a:prstGeom prst="rect">
            <a:avLst/>
          </a:prstGeom>
          <a:solidFill>
            <a:srgbClr val="37B680"/>
          </a:solidFill>
          <a:ln/>
        </p:spPr>
        <p:txBody>
          <a:bodyPr>
            <a:normAutofit/>
          </a:bodyPr>
          <a:lstStyle/>
          <a:p>
            <a:endParaRPr lang="nl-BE">
              <a:latin typeface="Roboto Mono" pitchFamily="49" charset="0"/>
              <a:ea typeface="Roboto Mono" pitchFamily="49" charset="0"/>
            </a:endParaRPr>
          </a:p>
        </p:txBody>
      </p:sp>
      <p:sp>
        <p:nvSpPr>
          <p:cNvPr id="16" name="Text 5">
            <a:extLst>
              <a:ext uri="{FF2B5EF4-FFF2-40B4-BE49-F238E27FC236}">
                <a16:creationId xmlns:a16="http://schemas.microsoft.com/office/drawing/2014/main" id="{04A38B64-58A8-AE8F-FD4A-0FDF071FA68C}"/>
              </a:ext>
            </a:extLst>
          </p:cNvPr>
          <p:cNvSpPr/>
          <p:nvPr/>
        </p:nvSpPr>
        <p:spPr>
          <a:xfrm>
            <a:off x="6201220" y="1401097"/>
            <a:ext cx="5385640" cy="1013222"/>
          </a:xfrm>
          <a:prstGeom prst="rect">
            <a:avLst/>
          </a:prstGeom>
          <a:noFill/>
          <a:ln/>
        </p:spPr>
        <p:txBody>
          <a:bodyPr wrap="square" lIns="25400" tIns="25400" rIns="25400" bIns="25400" rtlCol="0" anchor="t">
            <a:normAutofit/>
          </a:bodyPr>
          <a:lstStyle/>
          <a:p>
            <a:pPr marL="0" indent="0" algn="l">
              <a:lnSpc>
                <a:spcPct val="160000"/>
              </a:lnSpc>
              <a:buNone/>
            </a:pPr>
            <a:r>
              <a:rPr lang="en-US" sz="1050" dirty="0">
                <a:solidFill>
                  <a:srgbClr val="4A5160"/>
                </a:solidFill>
                <a:latin typeface="Roboto Mono"/>
                <a:ea typeface="Roboto Mono"/>
                <a:cs typeface="Roboto Mono" pitchFamily="34" charset="-120"/>
              </a:rPr>
              <a:t>• Every byte in the warehouse cost money</a:t>
            </a:r>
          </a:p>
          <a:p>
            <a:pPr marL="0" indent="0" algn="l">
              <a:lnSpc>
                <a:spcPct val="160000"/>
              </a:lnSpc>
              <a:buNone/>
            </a:pPr>
            <a:r>
              <a:rPr lang="en-US" sz="1050" dirty="0">
                <a:solidFill>
                  <a:srgbClr val="4A5160"/>
                </a:solidFill>
                <a:latin typeface="Roboto Mono"/>
                <a:ea typeface="Roboto Mono"/>
                <a:cs typeface="Roboto Mono" pitchFamily="34" charset="-120"/>
              </a:rPr>
              <a:t>• Raw or messy data was too costly to keep</a:t>
            </a:r>
          </a:p>
        </p:txBody>
      </p:sp>
      <p:sp>
        <p:nvSpPr>
          <p:cNvPr id="17" name="Text 3">
            <a:extLst>
              <a:ext uri="{FF2B5EF4-FFF2-40B4-BE49-F238E27FC236}">
                <a16:creationId xmlns:a16="http://schemas.microsoft.com/office/drawing/2014/main" id="{8FC96430-0C51-9552-5DCD-9B756DE66047}"/>
              </a:ext>
            </a:extLst>
          </p:cNvPr>
          <p:cNvSpPr/>
          <p:nvPr/>
        </p:nvSpPr>
        <p:spPr>
          <a:xfrm>
            <a:off x="6201220" y="2598855"/>
            <a:ext cx="5385642" cy="540990"/>
          </a:xfrm>
          <a:prstGeom prst="rect">
            <a:avLst/>
          </a:prstGeom>
          <a:noFill/>
          <a:ln/>
        </p:spPr>
        <p:txBody>
          <a:bodyPr wrap="square" lIns="25400" tIns="25400" rIns="25400" bIns="25400" rtlCol="0" anchor="t">
            <a:normAutofit/>
          </a:bodyPr>
          <a:lstStyle/>
          <a:p>
            <a:pPr marL="0" indent="0" algn="l">
              <a:lnSpc>
                <a:spcPct val="120000"/>
              </a:lnSpc>
              <a:buNone/>
            </a:pPr>
            <a:r>
              <a:rPr lang="en-US" sz="1600" b="1" kern="0" spc="-25" dirty="0">
                <a:solidFill>
                  <a:srgbClr val="212121"/>
                </a:solidFill>
                <a:latin typeface="Roboto Mono" pitchFamily="49" charset="0"/>
                <a:ea typeface="Roboto Mono" pitchFamily="49" charset="0"/>
                <a:cs typeface="Roboto Mono" pitchFamily="34" charset="-120"/>
              </a:rPr>
              <a:t>Compute was scarce</a:t>
            </a:r>
          </a:p>
          <a:p>
            <a:pPr marL="0" indent="0" algn="l">
              <a:lnSpc>
                <a:spcPct val="120000"/>
              </a:lnSpc>
              <a:buNone/>
            </a:pPr>
            <a:endParaRPr lang="en-US" sz="1600" dirty="0">
              <a:latin typeface="Roboto Mono" pitchFamily="49" charset="0"/>
              <a:ea typeface="Roboto Mono" pitchFamily="49" charset="0"/>
            </a:endParaRPr>
          </a:p>
        </p:txBody>
      </p:sp>
      <p:sp>
        <p:nvSpPr>
          <p:cNvPr id="18" name="Shape 2">
            <a:extLst>
              <a:ext uri="{FF2B5EF4-FFF2-40B4-BE49-F238E27FC236}">
                <a16:creationId xmlns:a16="http://schemas.microsoft.com/office/drawing/2014/main" id="{19D3917F-A992-6DB2-D275-712CD6E60E28}"/>
              </a:ext>
            </a:extLst>
          </p:cNvPr>
          <p:cNvSpPr/>
          <p:nvPr/>
        </p:nvSpPr>
        <p:spPr>
          <a:xfrm>
            <a:off x="6201220" y="4727576"/>
            <a:ext cx="5385641" cy="18000"/>
          </a:xfrm>
          <a:prstGeom prst="rect">
            <a:avLst/>
          </a:prstGeom>
          <a:solidFill>
            <a:srgbClr val="37B680"/>
          </a:solidFill>
          <a:ln/>
        </p:spPr>
        <p:txBody>
          <a:bodyPr>
            <a:normAutofit/>
          </a:bodyPr>
          <a:lstStyle/>
          <a:p>
            <a:endParaRPr lang="nl-BE">
              <a:latin typeface="Roboto Mono" pitchFamily="49" charset="0"/>
              <a:ea typeface="Roboto Mono" pitchFamily="49" charset="0"/>
            </a:endParaRPr>
          </a:p>
        </p:txBody>
      </p:sp>
      <p:sp>
        <p:nvSpPr>
          <p:cNvPr id="19" name="Text 5">
            <a:extLst>
              <a:ext uri="{FF2B5EF4-FFF2-40B4-BE49-F238E27FC236}">
                <a16:creationId xmlns:a16="http://schemas.microsoft.com/office/drawing/2014/main" id="{CE8E97FA-3206-CE52-F4B2-F1A0E55B263F}"/>
              </a:ext>
            </a:extLst>
          </p:cNvPr>
          <p:cNvSpPr/>
          <p:nvPr/>
        </p:nvSpPr>
        <p:spPr>
          <a:xfrm>
            <a:off x="6201220" y="3021735"/>
            <a:ext cx="5385640" cy="1500902"/>
          </a:xfrm>
          <a:prstGeom prst="rect">
            <a:avLst/>
          </a:prstGeom>
          <a:noFill/>
          <a:ln/>
        </p:spPr>
        <p:txBody>
          <a:bodyPr wrap="square" lIns="25400" tIns="25400" rIns="25400" bIns="25400" rtlCol="0" anchor="t">
            <a:noAutofit/>
          </a:bodyPr>
          <a:lstStyle/>
          <a:p>
            <a:pPr>
              <a:lnSpc>
                <a:spcPct val="160000"/>
              </a:lnSpc>
            </a:pPr>
            <a:r>
              <a:rPr lang="en-US" sz="1050" dirty="0">
                <a:solidFill>
                  <a:srgbClr val="4A5160"/>
                </a:solidFill>
                <a:latin typeface="Roboto Mono"/>
                <a:ea typeface="Roboto Mono"/>
                <a:cs typeface="Roboto Mono" pitchFamily="34" charset="-120"/>
              </a:rPr>
              <a:t>• A single PostgreSQL box ran the transform, so scaling meant a  bigger machine, not more machines</a:t>
            </a:r>
          </a:p>
          <a:p>
            <a:pPr>
              <a:lnSpc>
                <a:spcPct val="160000"/>
              </a:lnSpc>
            </a:pPr>
            <a:r>
              <a:rPr lang="en-US" sz="1050" dirty="0">
                <a:solidFill>
                  <a:srgbClr val="4A5160"/>
                </a:solidFill>
                <a:latin typeface="Roboto Mono"/>
                <a:ea typeface="Roboto Mono"/>
                <a:cs typeface="Roboto Mono" pitchFamily="34" charset="-120"/>
              </a:rPr>
              <a:t>• Postgres cannot split one query across nodes on its own, so teams paid for ever larger AWS RDS instance classes, e.g. db.r5.large to db.r5.24xlarge</a:t>
            </a:r>
          </a:p>
        </p:txBody>
      </p:sp>
      <p:sp>
        <p:nvSpPr>
          <p:cNvPr id="20" name="Text 3">
            <a:extLst>
              <a:ext uri="{FF2B5EF4-FFF2-40B4-BE49-F238E27FC236}">
                <a16:creationId xmlns:a16="http://schemas.microsoft.com/office/drawing/2014/main" id="{8510FD2C-CD45-F0EC-35A8-2674BD0406FD}"/>
              </a:ext>
            </a:extLst>
          </p:cNvPr>
          <p:cNvSpPr/>
          <p:nvPr/>
        </p:nvSpPr>
        <p:spPr>
          <a:xfrm>
            <a:off x="6201220" y="4948650"/>
            <a:ext cx="5385642" cy="540990"/>
          </a:xfrm>
          <a:prstGeom prst="rect">
            <a:avLst/>
          </a:prstGeom>
          <a:noFill/>
          <a:ln/>
        </p:spPr>
        <p:txBody>
          <a:bodyPr wrap="square" lIns="25400" tIns="25400" rIns="25400" bIns="25400" rtlCol="0" anchor="t">
            <a:normAutofit/>
          </a:bodyPr>
          <a:lstStyle/>
          <a:p>
            <a:pPr marL="0" indent="0" algn="l">
              <a:lnSpc>
                <a:spcPct val="120000"/>
              </a:lnSpc>
              <a:buNone/>
            </a:pPr>
            <a:r>
              <a:rPr lang="en-US" sz="1600" b="1" kern="0" spc="-25" dirty="0">
                <a:solidFill>
                  <a:srgbClr val="212121"/>
                </a:solidFill>
                <a:latin typeface="Roboto Mono" pitchFamily="49" charset="0"/>
                <a:ea typeface="Roboto Mono" pitchFamily="49" charset="0"/>
                <a:cs typeface="Roboto Mono" pitchFamily="34" charset="-120"/>
              </a:rPr>
              <a:t>Warehouses were schema on write</a:t>
            </a:r>
          </a:p>
          <a:p>
            <a:pPr marL="0" indent="0" algn="l">
              <a:lnSpc>
                <a:spcPct val="120000"/>
              </a:lnSpc>
              <a:buNone/>
            </a:pPr>
            <a:endParaRPr lang="en-US" sz="1600" dirty="0">
              <a:latin typeface="Roboto Mono" pitchFamily="49" charset="0"/>
              <a:ea typeface="Roboto Mono" pitchFamily="49" charset="0"/>
            </a:endParaRPr>
          </a:p>
        </p:txBody>
      </p:sp>
      <p:sp>
        <p:nvSpPr>
          <p:cNvPr id="21" name="Text 5">
            <a:extLst>
              <a:ext uri="{FF2B5EF4-FFF2-40B4-BE49-F238E27FC236}">
                <a16:creationId xmlns:a16="http://schemas.microsoft.com/office/drawing/2014/main" id="{1C9F6F06-B271-C500-D454-277DD386F7F6}"/>
              </a:ext>
            </a:extLst>
          </p:cNvPr>
          <p:cNvSpPr/>
          <p:nvPr/>
        </p:nvSpPr>
        <p:spPr>
          <a:xfrm>
            <a:off x="6201220" y="5483290"/>
            <a:ext cx="5385640" cy="1013222"/>
          </a:xfrm>
          <a:prstGeom prst="rect">
            <a:avLst/>
          </a:prstGeom>
          <a:noFill/>
          <a:ln/>
        </p:spPr>
        <p:txBody>
          <a:bodyPr wrap="square" lIns="25400" tIns="25400" rIns="25400" bIns="25400" rtlCol="0" anchor="t">
            <a:normAutofit/>
          </a:bodyPr>
          <a:lstStyle/>
          <a:p>
            <a:pPr marL="0" indent="0" algn="l">
              <a:lnSpc>
                <a:spcPct val="160000"/>
              </a:lnSpc>
              <a:buNone/>
            </a:pPr>
            <a:r>
              <a:rPr lang="en-US" sz="1100" dirty="0">
                <a:solidFill>
                  <a:srgbClr val="4A5160"/>
                </a:solidFill>
                <a:latin typeface="Roboto Mono" pitchFamily="49" charset="0"/>
                <a:ea typeface="Roboto Mono" pitchFamily="49" charset="0"/>
                <a:cs typeface="Roboto Mono" pitchFamily="34" charset="-120"/>
              </a:rPr>
              <a:t>• Only clean, pre modeled data could load</a:t>
            </a:r>
          </a:p>
          <a:p>
            <a:pPr marL="0" indent="0" algn="l">
              <a:lnSpc>
                <a:spcPct val="160000"/>
              </a:lnSpc>
              <a:buNone/>
            </a:pPr>
            <a:r>
              <a:rPr lang="en-US" sz="1100" dirty="0">
                <a:solidFill>
                  <a:srgbClr val="4A5160"/>
                </a:solidFill>
                <a:latin typeface="Roboto Mono" pitchFamily="49" charset="0"/>
                <a:ea typeface="Roboto Mono" pitchFamily="49" charset="0"/>
                <a:cs typeface="Roboto Mono" pitchFamily="34" charset="-120"/>
              </a:rPr>
              <a:t>• Nothing raw or unstructured was welcome</a:t>
            </a:r>
          </a:p>
        </p:txBody>
      </p:sp>
      <p:sp>
        <p:nvSpPr>
          <p:cNvPr id="4" name="Text 0">
            <a:extLst>
              <a:ext uri="{FF2B5EF4-FFF2-40B4-BE49-F238E27FC236}">
                <a16:creationId xmlns:a16="http://schemas.microsoft.com/office/drawing/2014/main" id="{5E243160-D091-20C2-CD14-7F672DD41E9C}"/>
              </a:ext>
            </a:extLst>
          </p:cNvPr>
          <p:cNvSpPr/>
          <p:nvPr/>
        </p:nvSpPr>
        <p:spPr>
          <a:xfrm>
            <a:off x="762000" y="609600"/>
            <a:ext cx="10988040" cy="223838"/>
          </a:xfrm>
          <a:prstGeom prst="rect">
            <a:avLst/>
          </a:prstGeom>
          <a:noFill/>
          <a:ln/>
        </p:spPr>
        <p:txBody>
          <a:bodyPr wrap="square" lIns="25400" tIns="25400" rIns="25400" bIns="25400" rtlCol="0" anchor="t">
            <a:normAutofit/>
          </a:bodyPr>
          <a:lstStyle/>
          <a:p>
            <a:pPr>
              <a:lnSpc>
                <a:spcPct val="150000"/>
              </a:lnSpc>
            </a:pPr>
            <a:r>
              <a:rPr lang="en-US" sz="1100" b="1" kern="0" spc="195" dirty="0">
                <a:solidFill>
                  <a:srgbClr val="38B580"/>
                </a:solidFill>
                <a:latin typeface="Roboto Mono" pitchFamily="49" charset="0"/>
                <a:ea typeface="Roboto Mono" pitchFamily="49" charset="0"/>
                <a:cs typeface="Roboto Mono" pitchFamily="34" charset="-120"/>
              </a:rPr>
              <a:t>01 / THE OLD WORLD</a:t>
            </a:r>
            <a:endParaRPr lang="en-US" sz="975" dirty="0">
              <a:latin typeface="Roboto Mono" pitchFamily="49" charset="0"/>
              <a:ea typeface="Roboto Mono" pitchFamily="49" charset="0"/>
            </a:endParaRPr>
          </a:p>
        </p:txBody>
      </p:sp>
      <p:grpSp>
        <p:nvGrpSpPr>
          <p:cNvPr id="2" name="Group 1">
            <a:extLst>
              <a:ext uri="{FF2B5EF4-FFF2-40B4-BE49-F238E27FC236}">
                <a16:creationId xmlns:a16="http://schemas.microsoft.com/office/drawing/2014/main" id="{EA9DB879-84CF-CC4E-6957-D6D363368A29}"/>
              </a:ext>
            </a:extLst>
          </p:cNvPr>
          <p:cNvGrpSpPr/>
          <p:nvPr/>
        </p:nvGrpSpPr>
        <p:grpSpPr>
          <a:xfrm>
            <a:off x="601980" y="3371849"/>
            <a:ext cx="4711630" cy="2539403"/>
            <a:chOff x="774700" y="3321049"/>
            <a:chExt cx="4711630" cy="2539403"/>
          </a:xfrm>
        </p:grpSpPr>
        <p:sp>
          <p:nvSpPr>
            <p:cNvPr id="23" name="Shape 8">
              <a:extLst>
                <a:ext uri="{FF2B5EF4-FFF2-40B4-BE49-F238E27FC236}">
                  <a16:creationId xmlns:a16="http://schemas.microsoft.com/office/drawing/2014/main" id="{3B167178-4F6A-F1C0-4121-85C10ECBE04D}"/>
                </a:ext>
              </a:extLst>
            </p:cNvPr>
            <p:cNvSpPr/>
            <p:nvPr/>
          </p:nvSpPr>
          <p:spPr>
            <a:xfrm>
              <a:off x="815657" y="3321049"/>
              <a:ext cx="4617090" cy="2520353"/>
            </a:xfrm>
            <a:prstGeom prst="roundRect">
              <a:avLst>
                <a:gd name="adj" fmla="val 4938"/>
              </a:avLst>
            </a:prstGeom>
            <a:solidFill>
              <a:srgbClr val="EEF0F4"/>
            </a:solidFill>
            <a:ln w="19050">
              <a:solidFill>
                <a:srgbClr val="C4CAD7"/>
              </a:solidFill>
              <a:prstDash val="dash"/>
            </a:ln>
          </p:spPr>
          <p:txBody>
            <a:bodyPr>
              <a:normAutofit/>
            </a:bodyPr>
            <a:lstStyle/>
            <a:p>
              <a:endParaRPr lang="nl-BE">
                <a:latin typeface="Roboto Mono" pitchFamily="49" charset="0"/>
                <a:ea typeface="Roboto Mono" pitchFamily="49" charset="0"/>
              </a:endParaRPr>
            </a:p>
          </p:txBody>
        </p:sp>
        <p:pic>
          <p:nvPicPr>
            <p:cNvPr id="24" name="Picture 23" descr="slide-04-diagram.png"/>
            <p:cNvPicPr>
              <a:picLocks noChangeAspect="1"/>
            </p:cNvPicPr>
            <p:nvPr/>
          </p:nvPicPr>
          <p:blipFill>
            <a:blip r:embed="rId4"/>
            <a:stretch>
              <a:fillRect/>
            </a:stretch>
          </p:blipFill>
          <p:spPr>
            <a:xfrm>
              <a:off x="774700" y="3340099"/>
              <a:ext cx="4711630" cy="2520353"/>
            </a:xfrm>
            <a:prstGeom prst="rect">
              <a:avLst/>
            </a:prstGeom>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609600"/>
            <a:ext cx="10988040" cy="223838"/>
          </a:xfrm>
          <a:prstGeom prst="rect">
            <a:avLst/>
          </a:prstGeom>
          <a:noFill/>
          <a:ln/>
        </p:spPr>
        <p:txBody>
          <a:bodyPr wrap="square" lIns="25400" tIns="25400" rIns="25400" bIns="25400" rtlCol="0" anchor="t">
            <a:normAutofit/>
          </a:bodyPr>
          <a:lstStyle/>
          <a:p>
            <a:pPr>
              <a:lnSpc>
                <a:spcPct val="150000"/>
              </a:lnSpc>
            </a:pPr>
            <a:r>
              <a:rPr lang="en-US" sz="1100" b="1" kern="0" spc="195" dirty="0">
                <a:solidFill>
                  <a:srgbClr val="38B580"/>
                </a:solidFill>
                <a:latin typeface="Roboto Mono" pitchFamily="49" charset="0"/>
                <a:ea typeface="Roboto Mono" pitchFamily="49" charset="0"/>
                <a:cs typeface="Roboto Mono" pitchFamily="34" charset="-120"/>
              </a:rPr>
              <a:t>02 / THE SHIFT</a:t>
            </a:r>
            <a:endParaRPr lang="en-US" sz="975" dirty="0">
              <a:latin typeface="Roboto Mono" pitchFamily="49" charset="0"/>
              <a:ea typeface="Roboto Mono" pitchFamily="49" charset="0"/>
            </a:endParaRPr>
          </a:p>
        </p:txBody>
      </p:sp>
      <p:sp>
        <p:nvSpPr>
          <p:cNvPr id="3" name="Text 1"/>
          <p:cNvSpPr/>
          <p:nvPr/>
        </p:nvSpPr>
        <p:spPr>
          <a:xfrm>
            <a:off x="762000" y="947737"/>
            <a:ext cx="6318123" cy="1286694"/>
          </a:xfrm>
          <a:prstGeom prst="rect">
            <a:avLst/>
          </a:prstGeom>
          <a:noFill/>
          <a:ln/>
        </p:spPr>
        <p:txBody>
          <a:bodyPr wrap="square" lIns="25400" tIns="25400" rIns="25400" bIns="25400" rtlCol="0" anchor="t">
            <a:normAutofit/>
          </a:bodyPr>
          <a:lstStyle/>
          <a:p>
            <a:pPr marL="0" indent="0" algn="l">
              <a:lnSpc>
                <a:spcPct val="115000"/>
              </a:lnSpc>
              <a:buNone/>
            </a:pPr>
            <a:r>
              <a:rPr lang="en-US" sz="2850" b="1" kern="0" spc="-57" dirty="0">
                <a:solidFill>
                  <a:srgbClr val="212121"/>
                </a:solidFill>
                <a:latin typeface="Roboto Mono" pitchFamily="49" charset="0"/>
                <a:ea typeface="Roboto Mono" pitchFamily="49" charset="0"/>
                <a:cs typeface="Roboto Mono" pitchFamily="34" charset="-120"/>
              </a:rPr>
              <a:t>What actually changed?</a:t>
            </a:r>
            <a:endParaRPr lang="en-US" sz="2850" dirty="0">
              <a:latin typeface="Roboto Mono" pitchFamily="49" charset="0"/>
              <a:ea typeface="Roboto Mono" pitchFamily="49" charset="0"/>
            </a:endParaRPr>
          </a:p>
        </p:txBody>
      </p:sp>
      <p:sp>
        <p:nvSpPr>
          <p:cNvPr id="4" name="Text 2"/>
          <p:cNvSpPr/>
          <p:nvPr/>
        </p:nvSpPr>
        <p:spPr>
          <a:xfrm>
            <a:off x="761999" y="2234431"/>
            <a:ext cx="6095999" cy="873324"/>
          </a:xfrm>
          <a:prstGeom prst="rect">
            <a:avLst/>
          </a:prstGeom>
          <a:noFill/>
          <a:ln/>
        </p:spPr>
        <p:txBody>
          <a:bodyPr wrap="square" lIns="25400" tIns="25400" rIns="25400" bIns="25400" rtlCol="0" anchor="t">
            <a:normAutofit/>
          </a:bodyPr>
          <a:lstStyle/>
          <a:p>
            <a:pPr marL="0" indent="0" algn="l">
              <a:lnSpc>
                <a:spcPct val="160000"/>
              </a:lnSpc>
              <a:buNone/>
            </a:pPr>
            <a:r>
              <a:rPr lang="en-US" sz="1400" dirty="0">
                <a:solidFill>
                  <a:srgbClr val="4A5160"/>
                </a:solidFill>
                <a:latin typeface="Roboto Mono" pitchFamily="49" charset="0"/>
                <a:ea typeface="Roboto Mono" pitchFamily="49" charset="0"/>
                <a:cs typeface="Roboto Mono" pitchFamily="34" charset="-120"/>
              </a:rPr>
              <a:t>Two things stopped being scarce at the same time.</a:t>
            </a:r>
            <a:endParaRPr lang="en-US" sz="1200" dirty="0">
              <a:latin typeface="Roboto Mono" pitchFamily="49" charset="0"/>
              <a:ea typeface="Roboto Mono" pitchFamily="49" charset="0"/>
            </a:endParaRPr>
          </a:p>
        </p:txBody>
      </p:sp>
      <p:sp>
        <p:nvSpPr>
          <p:cNvPr id="5" name="Shape 3"/>
          <p:cNvSpPr/>
          <p:nvPr/>
        </p:nvSpPr>
        <p:spPr>
          <a:xfrm>
            <a:off x="731520" y="2673732"/>
            <a:ext cx="6096000" cy="9525"/>
          </a:xfrm>
          <a:prstGeom prst="rect">
            <a:avLst/>
          </a:prstGeom>
          <a:solidFill>
            <a:srgbClr val="DFE3EB"/>
          </a:solidFill>
          <a:ln/>
        </p:spPr>
        <p:txBody>
          <a:bodyPr>
            <a:normAutofit/>
          </a:bodyPr>
          <a:lstStyle/>
          <a:p>
            <a:endParaRPr lang="nl-BE">
              <a:latin typeface="Roboto Mono" pitchFamily="49" charset="0"/>
              <a:ea typeface="Roboto Mono" pitchFamily="49" charset="0"/>
            </a:endParaRPr>
          </a:p>
        </p:txBody>
      </p:sp>
      <p:sp>
        <p:nvSpPr>
          <p:cNvPr id="6" name="Text 4"/>
          <p:cNvSpPr/>
          <p:nvPr/>
        </p:nvSpPr>
        <p:spPr>
          <a:xfrm>
            <a:off x="762000" y="3455417"/>
            <a:ext cx="3021711" cy="388937"/>
          </a:xfrm>
          <a:prstGeom prst="rect">
            <a:avLst/>
          </a:prstGeom>
          <a:noFill/>
          <a:ln/>
        </p:spPr>
        <p:txBody>
          <a:bodyPr wrap="square" lIns="25400" tIns="25400" rIns="25400" bIns="25400" rtlCol="0" anchor="t">
            <a:normAutofit/>
          </a:bodyPr>
          <a:lstStyle/>
          <a:p>
            <a:pPr marL="0" indent="0" algn="l">
              <a:lnSpc>
                <a:spcPct val="150000"/>
              </a:lnSpc>
              <a:buNone/>
            </a:pPr>
            <a:r>
              <a:rPr lang="en-US" sz="1100" b="1" kern="0" spc="132" dirty="0">
                <a:solidFill>
                  <a:srgbClr val="167353"/>
                </a:solidFill>
                <a:latin typeface="Roboto Mono" pitchFamily="49" charset="0"/>
                <a:ea typeface="Roboto Mono" pitchFamily="49" charset="0"/>
                <a:cs typeface="Roboto Mono" pitchFamily="34" charset="-120"/>
              </a:rPr>
              <a:t>STORAGE ECONOMICS</a:t>
            </a:r>
            <a:endParaRPr lang="en-US" sz="825" dirty="0">
              <a:latin typeface="Roboto Mono" pitchFamily="49" charset="0"/>
              <a:ea typeface="Roboto Mono" pitchFamily="49" charset="0"/>
            </a:endParaRPr>
          </a:p>
        </p:txBody>
      </p:sp>
      <p:sp>
        <p:nvSpPr>
          <p:cNvPr id="7" name="Text 5"/>
          <p:cNvSpPr/>
          <p:nvPr/>
        </p:nvSpPr>
        <p:spPr>
          <a:xfrm>
            <a:off x="762000" y="3853878"/>
            <a:ext cx="3021711" cy="1942085"/>
          </a:xfrm>
          <a:prstGeom prst="rect">
            <a:avLst/>
          </a:prstGeom>
          <a:noFill/>
          <a:ln/>
        </p:spPr>
        <p:txBody>
          <a:bodyPr wrap="square" lIns="25400" tIns="25400" rIns="25400" bIns="25400" rtlCol="0" anchor="t">
            <a:normAutofit/>
          </a:bodyPr>
          <a:lstStyle/>
          <a:p>
            <a:pPr marL="0" indent="0" algn="l">
              <a:lnSpc>
                <a:spcPct val="150000"/>
              </a:lnSpc>
              <a:buNone/>
            </a:pPr>
            <a:r>
              <a:rPr lang="en-US" sz="1400" dirty="0">
                <a:solidFill>
                  <a:srgbClr val="4A5160"/>
                </a:solidFill>
                <a:latin typeface="Roboto Mono" pitchFamily="49" charset="0"/>
                <a:ea typeface="Roboto Mono" pitchFamily="49" charset="0"/>
                <a:cs typeface="Roboto Mono" pitchFamily="34" charset="-120"/>
              </a:rPr>
              <a:t>• Object storage costs pennies per gigabyte</a:t>
            </a:r>
            <a:endParaRPr lang="en-US" sz="1125" dirty="0">
              <a:latin typeface="Roboto Mono" pitchFamily="49" charset="0"/>
              <a:ea typeface="Roboto Mono" pitchFamily="49" charset="0"/>
            </a:endParaRPr>
          </a:p>
          <a:p>
            <a:pPr marL="0" indent="0" algn="l">
              <a:lnSpc>
                <a:spcPct val="150000"/>
              </a:lnSpc>
              <a:buNone/>
            </a:pPr>
            <a:r>
              <a:rPr lang="en-US" sz="1400" dirty="0">
                <a:solidFill>
                  <a:srgbClr val="4A5160"/>
                </a:solidFill>
                <a:latin typeface="Roboto Mono" pitchFamily="49" charset="0"/>
                <a:ea typeface="Roboto Mono" pitchFamily="49" charset="0"/>
                <a:cs typeface="Roboto Mono" pitchFamily="34" charset="-120"/>
              </a:rPr>
              <a:t>• AWS S3, Azure ADLS Gen2 (or a Databricks Volume on top), and GCS all separate storage from any engine</a:t>
            </a:r>
            <a:endParaRPr lang="en-US" sz="1125" dirty="0">
              <a:latin typeface="Roboto Mono" pitchFamily="49" charset="0"/>
              <a:ea typeface="Roboto Mono" pitchFamily="49" charset="0"/>
            </a:endParaRPr>
          </a:p>
        </p:txBody>
      </p:sp>
      <p:sp>
        <p:nvSpPr>
          <p:cNvPr id="8" name="Text 6"/>
          <p:cNvSpPr/>
          <p:nvPr/>
        </p:nvSpPr>
        <p:spPr>
          <a:xfrm>
            <a:off x="3924300" y="3455417"/>
            <a:ext cx="3021711" cy="388937"/>
          </a:xfrm>
          <a:prstGeom prst="rect">
            <a:avLst/>
          </a:prstGeom>
          <a:noFill/>
          <a:ln/>
        </p:spPr>
        <p:txBody>
          <a:bodyPr wrap="square" lIns="25400" tIns="25400" rIns="25400" bIns="25400" rtlCol="0" anchor="t">
            <a:normAutofit/>
          </a:bodyPr>
          <a:lstStyle/>
          <a:p>
            <a:pPr marL="0" indent="0" algn="l">
              <a:lnSpc>
                <a:spcPct val="150000"/>
              </a:lnSpc>
              <a:buNone/>
            </a:pPr>
            <a:r>
              <a:rPr lang="en-US" sz="1100" b="1" kern="0" spc="132" dirty="0">
                <a:solidFill>
                  <a:srgbClr val="167353"/>
                </a:solidFill>
                <a:latin typeface="Roboto Mono" pitchFamily="49" charset="0"/>
                <a:ea typeface="Roboto Mono" pitchFamily="49" charset="0"/>
                <a:cs typeface="Roboto Mono" pitchFamily="34" charset="-120"/>
              </a:rPr>
              <a:t>COMPUTE ECONOMICS</a:t>
            </a:r>
            <a:endParaRPr lang="en-US" sz="825" dirty="0">
              <a:latin typeface="Roboto Mono" pitchFamily="49" charset="0"/>
              <a:ea typeface="Roboto Mono" pitchFamily="49" charset="0"/>
            </a:endParaRPr>
          </a:p>
        </p:txBody>
      </p:sp>
      <p:sp>
        <p:nvSpPr>
          <p:cNvPr id="9" name="Text 7"/>
          <p:cNvSpPr/>
          <p:nvPr/>
        </p:nvSpPr>
        <p:spPr>
          <a:xfrm>
            <a:off x="3924300" y="3853878"/>
            <a:ext cx="3021711" cy="1942085"/>
          </a:xfrm>
          <a:prstGeom prst="rect">
            <a:avLst/>
          </a:prstGeom>
          <a:noFill/>
          <a:ln/>
        </p:spPr>
        <p:txBody>
          <a:bodyPr wrap="square" lIns="25400" tIns="25400" rIns="25400" bIns="25400" rtlCol="0" anchor="t">
            <a:normAutofit/>
          </a:bodyPr>
          <a:lstStyle/>
          <a:p>
            <a:pPr>
              <a:lnSpc>
                <a:spcPct val="150000"/>
              </a:lnSpc>
            </a:pPr>
            <a:r>
              <a:rPr lang="en-US" sz="1400" dirty="0">
                <a:solidFill>
                  <a:srgbClr val="4A5160"/>
                </a:solidFill>
                <a:latin typeface="Roboto Mono"/>
                <a:ea typeface="Roboto Mono"/>
                <a:cs typeface="Roboto Mono" pitchFamily="34" charset="-120"/>
              </a:rPr>
              <a:t>• Elastic compute nodes</a:t>
            </a:r>
            <a:endParaRPr lang="en-US" sz="1125" dirty="0">
              <a:solidFill>
                <a:srgbClr val="000000"/>
              </a:solidFill>
              <a:latin typeface="Roboto Mono"/>
              <a:ea typeface="Roboto Mono"/>
              <a:cs typeface="Roboto Mono" pitchFamily="34" charset="-120"/>
            </a:endParaRPr>
          </a:p>
          <a:p>
            <a:pPr>
              <a:lnSpc>
                <a:spcPct val="150000"/>
              </a:lnSpc>
            </a:pPr>
            <a:r>
              <a:rPr lang="en-US" sz="1400" dirty="0">
                <a:solidFill>
                  <a:srgbClr val="4A5160"/>
                </a:solidFill>
                <a:latin typeface="Roboto Mono"/>
                <a:ea typeface="Roboto Mono"/>
                <a:cs typeface="Roboto Mono" pitchFamily="34" charset="-120"/>
              </a:rPr>
              <a:t>• AWS EMR </a:t>
            </a:r>
            <a:r>
              <a:rPr lang="en-US" sz="1400" dirty="0" err="1">
                <a:solidFill>
                  <a:srgbClr val="4A5160"/>
                </a:solidFill>
                <a:latin typeface="Roboto Mono"/>
                <a:ea typeface="Roboto Mono"/>
                <a:cs typeface="Roboto Mono" pitchFamily="34" charset="-120"/>
              </a:rPr>
              <a:t>nodes,Databricks</a:t>
            </a:r>
            <a:r>
              <a:rPr lang="en-US" sz="1400" dirty="0">
                <a:solidFill>
                  <a:srgbClr val="4A5160"/>
                </a:solidFill>
                <a:latin typeface="Roboto Mono"/>
                <a:ea typeface="Roboto Mono"/>
                <a:cs typeface="Roboto Mono" pitchFamily="34" charset="-120"/>
              </a:rPr>
              <a:t> all purpose clusters and SQL warehouses, and Azure Synapse serverless pools all spin up on demand</a:t>
            </a:r>
            <a:endParaRPr lang="en-US" sz="1100">
              <a:latin typeface="Roboto Mono"/>
              <a:ea typeface="Roboto Mono"/>
            </a:endParaRPr>
          </a:p>
        </p:txBody>
      </p:sp>
      <p:sp>
        <p:nvSpPr>
          <p:cNvPr id="10" name="Shape 8"/>
          <p:cNvSpPr/>
          <p:nvPr/>
        </p:nvSpPr>
        <p:spPr>
          <a:xfrm>
            <a:off x="7429500" y="947737"/>
            <a:ext cx="4000500" cy="3086100"/>
          </a:xfrm>
          <a:prstGeom prst="roundRect">
            <a:avLst>
              <a:gd name="adj" fmla="val 4938"/>
            </a:avLst>
          </a:prstGeom>
          <a:solidFill>
            <a:srgbClr val="EEF0F4"/>
          </a:solidFill>
          <a:ln w="19050">
            <a:solidFill>
              <a:srgbClr val="C4CAD7"/>
            </a:solidFill>
            <a:prstDash val="dash"/>
          </a:ln>
        </p:spPr>
        <p:txBody>
          <a:bodyPr>
            <a:normAutofit/>
          </a:bodyPr>
          <a:lstStyle/>
          <a:p>
            <a:endParaRPr lang="nl-BE">
              <a:latin typeface="Roboto Mono" pitchFamily="49" charset="0"/>
              <a:ea typeface="Roboto Mono" pitchFamily="49" charset="0"/>
            </a:endParaRPr>
          </a:p>
        </p:txBody>
      </p:sp>
      <p:sp>
        <p:nvSpPr>
          <p:cNvPr id="12" name="Text 10"/>
          <p:cNvSpPr/>
          <p:nvPr/>
        </p:nvSpPr>
        <p:spPr>
          <a:xfrm>
            <a:off x="7429500" y="4167188"/>
            <a:ext cx="4120515" cy="506412"/>
          </a:xfrm>
          <a:prstGeom prst="rect">
            <a:avLst/>
          </a:prstGeom>
          <a:noFill/>
          <a:ln/>
        </p:spPr>
        <p:txBody>
          <a:bodyPr wrap="square" lIns="25400" tIns="25400" rIns="25400" bIns="25400" rtlCol="0" anchor="t">
            <a:normAutofit/>
          </a:bodyPr>
          <a:lstStyle/>
          <a:p>
            <a:pPr marL="0" indent="0" algn="l">
              <a:lnSpc>
                <a:spcPct val="150000"/>
              </a:lnSpc>
              <a:buNone/>
            </a:pPr>
            <a:r>
              <a:rPr lang="en-US" sz="1400" b="1" dirty="0">
                <a:solidFill>
                  <a:srgbClr val="212121"/>
                </a:solidFill>
                <a:latin typeface="Roboto Mono" pitchFamily="49" charset="0"/>
                <a:ea typeface="Roboto Mono" pitchFamily="49" charset="0"/>
                <a:cs typeface="Roboto Mono" pitchFamily="34" charset="-120"/>
              </a:rPr>
              <a:t>NET EFFECT</a:t>
            </a:r>
            <a:endParaRPr lang="en-US" sz="1200" dirty="0">
              <a:latin typeface="Roboto Mono" pitchFamily="49" charset="0"/>
              <a:ea typeface="Roboto Mono" pitchFamily="49" charset="0"/>
            </a:endParaRPr>
          </a:p>
        </p:txBody>
      </p:sp>
      <p:sp>
        <p:nvSpPr>
          <p:cNvPr id="13" name="Text 11"/>
          <p:cNvSpPr/>
          <p:nvPr/>
        </p:nvSpPr>
        <p:spPr>
          <a:xfrm>
            <a:off x="7429499" y="4550567"/>
            <a:ext cx="4120515" cy="1245395"/>
          </a:xfrm>
          <a:prstGeom prst="rect">
            <a:avLst/>
          </a:prstGeom>
          <a:noFill/>
          <a:ln/>
        </p:spPr>
        <p:txBody>
          <a:bodyPr wrap="square" lIns="25400" tIns="25400" rIns="25400" bIns="25400" rtlCol="0" anchor="t">
            <a:normAutofit/>
          </a:bodyPr>
          <a:lstStyle/>
          <a:p>
            <a:pPr marL="0" indent="0" algn="l">
              <a:lnSpc>
                <a:spcPct val="150000"/>
              </a:lnSpc>
              <a:buNone/>
            </a:pPr>
            <a:r>
              <a:rPr lang="en-US" sz="1200" dirty="0">
                <a:solidFill>
                  <a:srgbClr val="6B7285"/>
                </a:solidFill>
                <a:latin typeface="Roboto Mono" pitchFamily="49" charset="0"/>
                <a:ea typeface="Roboto Mono" pitchFamily="49" charset="0"/>
                <a:cs typeface="Roboto Mono" pitchFamily="34" charset="-120"/>
              </a:rPr>
              <a:t>• Loading raw data first stopped being wasteful</a:t>
            </a:r>
            <a:endParaRPr lang="en-US" sz="1000" dirty="0">
              <a:latin typeface="Roboto Mono" pitchFamily="49" charset="0"/>
              <a:ea typeface="Roboto Mono" pitchFamily="49" charset="0"/>
            </a:endParaRPr>
          </a:p>
        </p:txBody>
      </p:sp>
      <p:pic>
        <p:nvPicPr>
          <p:cNvPr id="14" name="Image 0" descr="preencoded.png"/>
          <p:cNvPicPr>
            <a:picLocks noChangeAspect="1"/>
          </p:cNvPicPr>
          <p:nvPr/>
        </p:nvPicPr>
        <p:blipFill>
          <a:blip r:embed="rId3"/>
          <a:stretch>
            <a:fillRect/>
          </a:stretch>
        </p:blipFill>
        <p:spPr>
          <a:xfrm>
            <a:off x="762000" y="6286500"/>
            <a:ext cx="663327" cy="266700"/>
          </a:xfrm>
          <a:prstGeom prst="rect">
            <a:avLst/>
          </a:prstGeom>
        </p:spPr>
      </p:pic>
      <p:pic>
        <p:nvPicPr>
          <p:cNvPr id="15" name="Picture 14" descr="slide-05-diagram.png"/>
          <p:cNvPicPr>
            <a:picLocks noChangeAspect="1"/>
          </p:cNvPicPr>
          <p:nvPr/>
        </p:nvPicPr>
        <p:blipFill>
          <a:blip r:embed="rId4"/>
          <a:stretch>
            <a:fillRect/>
          </a:stretch>
        </p:blipFill>
        <p:spPr>
          <a:xfrm>
            <a:off x="7388543" y="966787"/>
            <a:ext cx="4082415" cy="30861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 name="Shape 8">
            <a:extLst>
              <a:ext uri="{FF2B5EF4-FFF2-40B4-BE49-F238E27FC236}">
                <a16:creationId xmlns:a16="http://schemas.microsoft.com/office/drawing/2014/main" id="{D7111985-4FC0-E9CB-616E-0FDB8C9759F8}"/>
              </a:ext>
            </a:extLst>
          </p:cNvPr>
          <p:cNvSpPr/>
          <p:nvPr/>
        </p:nvSpPr>
        <p:spPr>
          <a:xfrm>
            <a:off x="2086583" y="2284782"/>
            <a:ext cx="7869306" cy="119734"/>
          </a:xfrm>
          <a:prstGeom prst="rect">
            <a:avLst/>
          </a:prstGeom>
          <a:solidFill>
            <a:srgbClr val="DFE3EB"/>
          </a:solidFill>
          <a:ln/>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Roboto Mono"/>
              </a:defRPr>
            </a:pPr>
            <a:endParaRPr kumimoji="0" lang="nl-BE" sz="1800" b="0" i="0" u="none" strike="noStrike" kern="1200" cap="none" spc="0" normalizeH="0" baseline="0" noProof="0">
              <a:ln>
                <a:noFill/>
              </a:ln>
              <a:solidFill>
                <a:prstClr val="black"/>
              </a:solidFill>
              <a:effectLst/>
              <a:uLnTx/>
              <a:uFillTx/>
              <a:latin typeface="Roboto Mono" pitchFamily="49" charset="0"/>
              <a:ea typeface="Roboto Mono" pitchFamily="49" charset="0"/>
            </a:endParaRPr>
          </a:p>
        </p:txBody>
      </p:sp>
      <p:sp>
        <p:nvSpPr>
          <p:cNvPr id="2" name="Text 0"/>
          <p:cNvSpPr/>
          <p:nvPr/>
        </p:nvSpPr>
        <p:spPr>
          <a:xfrm>
            <a:off x="762000" y="609600"/>
            <a:ext cx="10988040" cy="223838"/>
          </a:xfrm>
          <a:prstGeom prst="rect">
            <a:avLst/>
          </a:prstGeom>
          <a:noFill/>
          <a:ln/>
        </p:spPr>
        <p:txBody>
          <a:bodyPr wrap="square" lIns="25400" tIns="25400" rIns="25400" bIns="25400" rtlCol="0" anchor="t">
            <a:normAutofit/>
          </a:bodyPr>
          <a:lstStyle/>
          <a:p>
            <a:pPr>
              <a:lnSpc>
                <a:spcPct val="150000"/>
              </a:lnSpc>
            </a:pPr>
            <a:r>
              <a:rPr lang="en-US" sz="1100" b="1" kern="0" spc="195" dirty="0">
                <a:solidFill>
                  <a:srgbClr val="38B580"/>
                </a:solidFill>
                <a:latin typeface="Roboto Mono" pitchFamily="49" charset="0"/>
                <a:ea typeface="Roboto Mono" pitchFamily="49" charset="0"/>
                <a:cs typeface="Roboto Mono" pitchFamily="34" charset="-120"/>
              </a:rPr>
              <a:t>03 / THE LAKEHOUSE</a:t>
            </a:r>
            <a:endParaRPr lang="en-US" sz="975" dirty="0">
              <a:latin typeface="Roboto Mono" pitchFamily="49" charset="0"/>
              <a:ea typeface="Roboto Mono" pitchFamily="49" charset="0"/>
            </a:endParaRPr>
          </a:p>
        </p:txBody>
      </p:sp>
      <p:sp>
        <p:nvSpPr>
          <p:cNvPr id="3" name="Text 1"/>
          <p:cNvSpPr/>
          <p:nvPr/>
        </p:nvSpPr>
        <p:spPr>
          <a:xfrm>
            <a:off x="762000" y="1125537"/>
            <a:ext cx="9810750" cy="418133"/>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5000"/>
              </a:lnSpc>
              <a:spcBef>
                <a:spcPts val="0"/>
              </a:spcBef>
              <a:spcAft>
                <a:spcPts val="0"/>
              </a:spcAft>
              <a:buClrTx/>
              <a:buSzTx/>
              <a:buFontTx/>
              <a:buNone/>
              <a:tabLst/>
              <a:defRPr>
                <a:latin typeface="Roboto Mono"/>
              </a:defRPr>
            </a:pPr>
            <a:r>
              <a:rPr kumimoji="0" lang="en-US" sz="2850" b="1" i="0" u="none" strike="noStrike" kern="0" cap="none" spc="-57" normalizeH="0" baseline="0" noProof="0" dirty="0">
                <a:ln>
                  <a:noFill/>
                </a:ln>
                <a:solidFill>
                  <a:srgbClr val="212121"/>
                </a:solidFill>
                <a:effectLst/>
                <a:uLnTx/>
                <a:uFillTx/>
                <a:latin typeface="Roboto Mono" pitchFamily="49" charset="0"/>
                <a:ea typeface="Roboto Mono" pitchFamily="49" charset="0"/>
                <a:cs typeface="Roboto Mono" pitchFamily="34" charset="-120"/>
              </a:rPr>
              <a:t>The lakehouse in three steps</a:t>
            </a:r>
            <a:endParaRPr kumimoji="0" lang="en-US" sz="2850"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pic>
        <p:nvPicPr>
          <p:cNvPr id="33" name="Image 0" descr="preencoded.png"/>
          <p:cNvPicPr>
            <a:picLocks noChangeAspect="1"/>
          </p:cNvPicPr>
          <p:nvPr/>
        </p:nvPicPr>
        <p:blipFill>
          <a:blip r:embed="rId3"/>
          <a:stretch>
            <a:fillRect/>
          </a:stretch>
        </p:blipFill>
        <p:spPr>
          <a:xfrm>
            <a:off x="762000" y="6286500"/>
            <a:ext cx="663327" cy="266700"/>
          </a:xfrm>
          <a:prstGeom prst="rect">
            <a:avLst/>
          </a:prstGeom>
        </p:spPr>
      </p:pic>
      <p:sp>
        <p:nvSpPr>
          <p:cNvPr id="40" name="Ovaal 39">
            <a:extLst>
              <a:ext uri="{FF2B5EF4-FFF2-40B4-BE49-F238E27FC236}">
                <a16:creationId xmlns:a16="http://schemas.microsoft.com/office/drawing/2014/main" id="{97D4E1B0-B466-CF0A-0949-AC6F730EE54C}"/>
              </a:ext>
            </a:extLst>
          </p:cNvPr>
          <p:cNvSpPr/>
          <p:nvPr/>
        </p:nvSpPr>
        <p:spPr>
          <a:xfrm>
            <a:off x="1795949" y="2110450"/>
            <a:ext cx="502193" cy="502193"/>
          </a:xfrm>
          <a:prstGeom prst="ellipse">
            <a:avLst/>
          </a:prstGeom>
          <a:solidFill>
            <a:srgbClr val="FFFFFF"/>
          </a:solidFill>
          <a:ln w="19050">
            <a:solidFill>
              <a:srgbClr val="37B68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Roboto Mono"/>
              </a:defRPr>
            </a:pPr>
            <a:r>
              <a:rPr kumimoji="0" lang="en-US" sz="1400" b="1" i="0" u="none" strike="noStrike" kern="1200" cap="none" spc="0" normalizeH="0" baseline="0" noProof="0" dirty="0">
                <a:ln>
                  <a:noFill/>
                </a:ln>
                <a:solidFill>
                  <a:srgbClr val="167353"/>
                </a:solidFill>
                <a:effectLst/>
                <a:uLnTx/>
                <a:uFillTx/>
                <a:latin typeface="Roboto Mono" pitchFamily="49" charset="0"/>
                <a:ea typeface="Roboto Mono" pitchFamily="49" charset="0"/>
                <a:cs typeface="Roboto Mono" pitchFamily="34" charset="-120"/>
              </a:rPr>
              <a:t>01</a:t>
            </a:r>
            <a:endParaRPr kumimoji="0" lang="nl-BE" sz="1100"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sp>
        <p:nvSpPr>
          <p:cNvPr id="41" name="Text 6">
            <a:extLst>
              <a:ext uri="{FF2B5EF4-FFF2-40B4-BE49-F238E27FC236}">
                <a16:creationId xmlns:a16="http://schemas.microsoft.com/office/drawing/2014/main" id="{B23044CD-79AB-B2C0-0E1F-ACD73F83CC7B}"/>
              </a:ext>
            </a:extLst>
          </p:cNvPr>
          <p:cNvSpPr/>
          <p:nvPr/>
        </p:nvSpPr>
        <p:spPr>
          <a:xfrm>
            <a:off x="1473304" y="2706223"/>
            <a:ext cx="1147483" cy="285038"/>
          </a:xfrm>
          <a:prstGeom prst="rect">
            <a:avLst/>
          </a:prstGeom>
          <a:noFill/>
          <a:ln/>
        </p:spPr>
        <p:txBody>
          <a:bodyPr wrap="none" lIns="25400" tIns="25400" rIns="25400" bIns="25400" rtlCol="0" anchor="t">
            <a:normAutofit/>
          </a:bodyPr>
          <a:lstStyle/>
          <a:p>
            <a:pPr marL="0" marR="0" lvl="0" indent="0" algn="ctr" defTabSz="914400" rtl="0" eaLnBrk="1" fontAlgn="auto" latinLnBrk="0" hangingPunct="1">
              <a:lnSpc>
                <a:spcPct val="150000"/>
              </a:lnSpc>
              <a:spcBef>
                <a:spcPts val="0"/>
              </a:spcBef>
              <a:spcAft>
                <a:spcPts val="0"/>
              </a:spcAft>
              <a:buClrTx/>
              <a:buSzTx/>
              <a:buFontTx/>
              <a:buNone/>
              <a:tabLst/>
              <a:defRPr>
                <a:latin typeface="Roboto Mono"/>
              </a:defRPr>
            </a:pPr>
            <a:r>
              <a:rPr kumimoji="0" lang="en-US" sz="1400" b="1" i="0" u="none" strike="noStrike" kern="1200" cap="none" spc="0" normalizeH="0" baseline="0" noProof="0" dirty="0">
                <a:ln>
                  <a:noFill/>
                </a:ln>
                <a:solidFill>
                  <a:srgbClr val="212121"/>
                </a:solidFill>
                <a:effectLst/>
                <a:uLnTx/>
                <a:uFillTx/>
                <a:latin typeface="Roboto Mono" pitchFamily="49" charset="0"/>
                <a:ea typeface="Roboto Mono" pitchFamily="49" charset="0"/>
                <a:cs typeface="Roboto Mono" pitchFamily="34" charset="-120"/>
              </a:rPr>
              <a:t>Parquet</a:t>
            </a:r>
            <a:endParaRPr kumimoji="0" lang="en-US" sz="1400"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sp>
        <p:nvSpPr>
          <p:cNvPr id="60" name="Text 14">
            <a:extLst>
              <a:ext uri="{FF2B5EF4-FFF2-40B4-BE49-F238E27FC236}">
                <a16:creationId xmlns:a16="http://schemas.microsoft.com/office/drawing/2014/main" id="{51D48D06-49BB-E3E3-E738-173FBEAEF011}"/>
              </a:ext>
            </a:extLst>
          </p:cNvPr>
          <p:cNvSpPr/>
          <p:nvPr/>
        </p:nvSpPr>
        <p:spPr>
          <a:xfrm>
            <a:off x="5328492" y="3084841"/>
            <a:ext cx="1535016" cy="874814"/>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50000"/>
              </a:lnSpc>
              <a:spcBef>
                <a:spcPts val="0"/>
              </a:spcBef>
              <a:spcAft>
                <a:spcPts val="0"/>
              </a:spcAft>
              <a:buClrTx/>
              <a:buSzTx/>
              <a:buFontTx/>
              <a:buNone/>
              <a:tabLst/>
              <a:defRPr>
                <a:latin typeface="Roboto Mono"/>
              </a:defRPr>
            </a:pPr>
            <a:endParaRPr kumimoji="0" lang="en-US" sz="900"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sp>
        <p:nvSpPr>
          <p:cNvPr id="61" name="Ovaal 60">
            <a:extLst>
              <a:ext uri="{FF2B5EF4-FFF2-40B4-BE49-F238E27FC236}">
                <a16:creationId xmlns:a16="http://schemas.microsoft.com/office/drawing/2014/main" id="{B3AA3024-3A26-788E-C9AD-AE5376E55209}"/>
              </a:ext>
            </a:extLst>
          </p:cNvPr>
          <p:cNvSpPr/>
          <p:nvPr/>
        </p:nvSpPr>
        <p:spPr>
          <a:xfrm>
            <a:off x="5844904" y="2110450"/>
            <a:ext cx="502193" cy="502193"/>
          </a:xfrm>
          <a:prstGeom prst="ellipse">
            <a:avLst/>
          </a:prstGeom>
          <a:solidFill>
            <a:srgbClr val="FFFFFF"/>
          </a:solidFill>
          <a:ln w="19050">
            <a:solidFill>
              <a:srgbClr val="37B68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Roboto Mono"/>
              </a:defRPr>
            </a:pPr>
            <a:r>
              <a:rPr kumimoji="0" lang="en-US" sz="1400" b="1" i="0" u="none" strike="noStrike" kern="1200" cap="none" spc="0" normalizeH="0" baseline="0" noProof="0" dirty="0">
                <a:ln>
                  <a:noFill/>
                </a:ln>
                <a:solidFill>
                  <a:srgbClr val="167353"/>
                </a:solidFill>
                <a:effectLst/>
                <a:uLnTx/>
                <a:uFillTx/>
                <a:latin typeface="Roboto Mono" pitchFamily="49" charset="0"/>
                <a:ea typeface="Roboto Mono" pitchFamily="49" charset="0"/>
                <a:cs typeface="Roboto Mono" pitchFamily="34" charset="-120"/>
              </a:rPr>
              <a:t>02</a:t>
            </a:r>
            <a:endParaRPr kumimoji="0" lang="nl-BE" sz="1100"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sp>
        <p:nvSpPr>
          <p:cNvPr id="62" name="Text 6">
            <a:extLst>
              <a:ext uri="{FF2B5EF4-FFF2-40B4-BE49-F238E27FC236}">
                <a16:creationId xmlns:a16="http://schemas.microsoft.com/office/drawing/2014/main" id="{DEF1137B-C3E0-2C56-00CC-39FAB3EF401A}"/>
              </a:ext>
            </a:extLst>
          </p:cNvPr>
          <p:cNvSpPr/>
          <p:nvPr/>
        </p:nvSpPr>
        <p:spPr>
          <a:xfrm>
            <a:off x="5522259" y="2706223"/>
            <a:ext cx="1147483" cy="285038"/>
          </a:xfrm>
          <a:prstGeom prst="rect">
            <a:avLst/>
          </a:prstGeom>
          <a:noFill/>
          <a:ln/>
        </p:spPr>
        <p:txBody>
          <a:bodyPr wrap="none" lIns="25400" tIns="25400" rIns="25400" bIns="25400" rtlCol="0" anchor="t">
            <a:normAutofit/>
          </a:bodyPr>
          <a:lstStyle/>
          <a:p>
            <a:pPr marL="0" marR="0" lvl="0" indent="0" algn="ctr" defTabSz="914400" rtl="0" eaLnBrk="1" fontAlgn="auto" latinLnBrk="0" hangingPunct="1">
              <a:lnSpc>
                <a:spcPct val="150000"/>
              </a:lnSpc>
              <a:spcBef>
                <a:spcPts val="0"/>
              </a:spcBef>
              <a:spcAft>
                <a:spcPts val="0"/>
              </a:spcAft>
              <a:buClrTx/>
              <a:buSzTx/>
              <a:buFontTx/>
              <a:buNone/>
              <a:tabLst/>
              <a:defRPr>
                <a:latin typeface="Roboto Mono"/>
              </a:defRPr>
            </a:pPr>
            <a:r>
              <a:rPr kumimoji="0" lang="en-US" sz="1400" b="1" i="0" u="none" strike="noStrike" kern="1200" cap="none" spc="0" normalizeH="0" baseline="0" noProof="0" dirty="0">
                <a:ln>
                  <a:noFill/>
                </a:ln>
                <a:solidFill>
                  <a:srgbClr val="212121"/>
                </a:solidFill>
                <a:effectLst/>
                <a:uLnTx/>
                <a:uFillTx/>
                <a:latin typeface="Roboto Mono" pitchFamily="49" charset="0"/>
                <a:ea typeface="Roboto Mono" pitchFamily="49" charset="0"/>
                <a:cs typeface="Roboto Mono" pitchFamily="34" charset="-120"/>
              </a:rPr>
              <a:t>Delta Lake and Iceberg</a:t>
            </a:r>
            <a:endParaRPr kumimoji="0" lang="en-US" sz="1400"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sp>
        <p:nvSpPr>
          <p:cNvPr id="65" name="Ovaal 64">
            <a:extLst>
              <a:ext uri="{FF2B5EF4-FFF2-40B4-BE49-F238E27FC236}">
                <a16:creationId xmlns:a16="http://schemas.microsoft.com/office/drawing/2014/main" id="{661E2397-0CF2-3857-F304-84C57869BC4E}"/>
              </a:ext>
            </a:extLst>
          </p:cNvPr>
          <p:cNvSpPr/>
          <p:nvPr/>
        </p:nvSpPr>
        <p:spPr>
          <a:xfrm>
            <a:off x="9704554" y="2110450"/>
            <a:ext cx="502193" cy="502193"/>
          </a:xfrm>
          <a:prstGeom prst="ellipse">
            <a:avLst/>
          </a:prstGeom>
          <a:solidFill>
            <a:srgbClr val="FFFFFF"/>
          </a:solidFill>
          <a:ln w="19050">
            <a:solidFill>
              <a:srgbClr val="37B68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Roboto Mono"/>
              </a:defRPr>
            </a:pPr>
            <a:r>
              <a:rPr kumimoji="0" lang="en-US" sz="1400" b="1" i="0" u="none" strike="noStrike" kern="1200" cap="none" spc="0" normalizeH="0" baseline="0" noProof="0" dirty="0">
                <a:ln>
                  <a:noFill/>
                </a:ln>
                <a:solidFill>
                  <a:srgbClr val="167353"/>
                </a:solidFill>
                <a:effectLst/>
                <a:uLnTx/>
                <a:uFillTx/>
                <a:latin typeface="Roboto Mono" pitchFamily="49" charset="0"/>
                <a:ea typeface="Roboto Mono" pitchFamily="49" charset="0"/>
                <a:cs typeface="Roboto Mono" pitchFamily="34" charset="-120"/>
              </a:rPr>
              <a:t>03</a:t>
            </a:r>
            <a:endParaRPr kumimoji="0" lang="nl-BE" sz="1100"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sp>
        <p:nvSpPr>
          <p:cNvPr id="66" name="Text 6">
            <a:extLst>
              <a:ext uri="{FF2B5EF4-FFF2-40B4-BE49-F238E27FC236}">
                <a16:creationId xmlns:a16="http://schemas.microsoft.com/office/drawing/2014/main" id="{85ADF2B4-1432-E438-3E85-F05A0051513C}"/>
              </a:ext>
            </a:extLst>
          </p:cNvPr>
          <p:cNvSpPr/>
          <p:nvPr/>
        </p:nvSpPr>
        <p:spPr>
          <a:xfrm>
            <a:off x="9381909" y="2706223"/>
            <a:ext cx="1147483" cy="285038"/>
          </a:xfrm>
          <a:prstGeom prst="rect">
            <a:avLst/>
          </a:prstGeom>
          <a:noFill/>
          <a:ln/>
        </p:spPr>
        <p:txBody>
          <a:bodyPr wrap="none" lIns="25400" tIns="25400" rIns="25400" bIns="25400" rtlCol="0" anchor="t">
            <a:normAutofit/>
          </a:bodyPr>
          <a:lstStyle/>
          <a:p>
            <a:pPr marL="0" marR="0" lvl="0" indent="0" algn="ctr" defTabSz="914400" rtl="0" eaLnBrk="1" fontAlgn="auto" latinLnBrk="0" hangingPunct="1">
              <a:lnSpc>
                <a:spcPct val="150000"/>
              </a:lnSpc>
              <a:spcBef>
                <a:spcPts val="0"/>
              </a:spcBef>
              <a:spcAft>
                <a:spcPts val="0"/>
              </a:spcAft>
              <a:buClrTx/>
              <a:buSzTx/>
              <a:buFontTx/>
              <a:buNone/>
              <a:tabLst/>
              <a:defRPr>
                <a:latin typeface="Roboto Mono"/>
              </a:defRPr>
            </a:pPr>
            <a:r>
              <a:rPr kumimoji="0" lang="en-US" sz="1400" b="1" i="0" u="none" strike="noStrike" kern="1200" cap="none" spc="0" normalizeH="0" baseline="0" noProof="0" dirty="0">
                <a:ln>
                  <a:noFill/>
                </a:ln>
                <a:solidFill>
                  <a:srgbClr val="212121"/>
                </a:solidFill>
                <a:effectLst/>
                <a:uLnTx/>
                <a:uFillTx/>
                <a:latin typeface="Roboto Mono" pitchFamily="49" charset="0"/>
                <a:ea typeface="Roboto Mono" pitchFamily="49" charset="0"/>
                <a:cs typeface="Roboto Mono" pitchFamily="34" charset="-120"/>
              </a:rPr>
              <a:t>The lakehouse</a:t>
            </a:r>
            <a:endParaRPr kumimoji="0" lang="en-US" sz="1400"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sp>
        <p:nvSpPr>
          <p:cNvPr id="13" name="Text 14">
            <a:extLst>
              <a:ext uri="{FF2B5EF4-FFF2-40B4-BE49-F238E27FC236}">
                <a16:creationId xmlns:a16="http://schemas.microsoft.com/office/drawing/2014/main" id="{35264F7D-D68A-E45B-F6B3-C5A564FC834B}"/>
              </a:ext>
            </a:extLst>
          </p:cNvPr>
          <p:cNvSpPr/>
          <p:nvPr/>
        </p:nvSpPr>
        <p:spPr>
          <a:xfrm>
            <a:off x="9183680" y="3084841"/>
            <a:ext cx="1535016" cy="874814"/>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50000"/>
              </a:lnSpc>
              <a:spcBef>
                <a:spcPts val="0"/>
              </a:spcBef>
              <a:spcAft>
                <a:spcPts val="0"/>
              </a:spcAft>
              <a:buClrTx/>
              <a:buSzTx/>
              <a:buFontTx/>
              <a:buNone/>
              <a:tabLst/>
              <a:defRPr>
                <a:latin typeface="Roboto Mono"/>
              </a:defRPr>
            </a:pPr>
            <a:endParaRPr kumimoji="0" lang="en-US" sz="788"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sp>
        <p:nvSpPr>
          <p:cNvPr id="14" name="Text 14">
            <a:extLst>
              <a:ext uri="{FF2B5EF4-FFF2-40B4-BE49-F238E27FC236}">
                <a16:creationId xmlns:a16="http://schemas.microsoft.com/office/drawing/2014/main" id="{6976758F-AAAC-19F5-9E06-5DE0B71DE1DD}"/>
              </a:ext>
            </a:extLst>
          </p:cNvPr>
          <p:cNvSpPr/>
          <p:nvPr/>
        </p:nvSpPr>
        <p:spPr>
          <a:xfrm>
            <a:off x="7670522" y="5406765"/>
            <a:ext cx="1535016" cy="874814"/>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50000"/>
              </a:lnSpc>
              <a:spcBef>
                <a:spcPts val="0"/>
              </a:spcBef>
              <a:spcAft>
                <a:spcPts val="0"/>
              </a:spcAft>
              <a:buClrTx/>
              <a:buSzTx/>
              <a:buFontTx/>
              <a:buNone/>
              <a:tabLst/>
              <a:defRPr>
                <a:latin typeface="Roboto Mono"/>
              </a:defRPr>
            </a:pPr>
            <a:endParaRPr kumimoji="0" lang="en-US" sz="788"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sp>
        <p:nvSpPr>
          <p:cNvPr id="17" name="Text 14">
            <a:extLst>
              <a:ext uri="{FF2B5EF4-FFF2-40B4-BE49-F238E27FC236}">
                <a16:creationId xmlns:a16="http://schemas.microsoft.com/office/drawing/2014/main" id="{9D62D7C2-8734-6029-1667-57B191CB666A}"/>
              </a:ext>
            </a:extLst>
          </p:cNvPr>
          <p:cNvSpPr/>
          <p:nvPr/>
        </p:nvSpPr>
        <p:spPr>
          <a:xfrm>
            <a:off x="787045" y="3105368"/>
            <a:ext cx="2520000" cy="2238592"/>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50000"/>
              </a:lnSpc>
              <a:spcBef>
                <a:spcPts val="0"/>
              </a:spcBef>
              <a:spcAft>
                <a:spcPts val="0"/>
              </a:spcAft>
              <a:buClrTx/>
              <a:buSzTx/>
              <a:buFontTx/>
              <a:buNone/>
              <a:tabLst/>
              <a:defRPr>
                <a:latin typeface="Roboto Mono"/>
              </a:defRPr>
            </a:pPr>
            <a:r>
              <a:rPr kumimoji="0" lang="en-US" sz="1400" b="0" i="0" u="none" strike="noStrike" kern="1200" cap="none" spc="0" normalizeH="0" baseline="0" noProof="0" dirty="0">
                <a:ln>
                  <a:noFill/>
                </a:ln>
                <a:solidFill>
                  <a:prstClr val="black"/>
                </a:solidFill>
                <a:effectLst/>
                <a:uLnTx/>
                <a:uFillTx/>
                <a:latin typeface="Roboto Mono" pitchFamily="49" charset="0"/>
                <a:ea typeface="Roboto Mono" pitchFamily="49" charset="0"/>
              </a:rPr>
              <a:t>• Cheap columnar files on S3, ADLS Gen2, or a Databricks Volume</a:t>
            </a:r>
          </a:p>
          <a:p>
            <a:pPr marL="0" marR="0" lvl="0" indent="0" algn="ctr" defTabSz="914400" rtl="0" eaLnBrk="1" fontAlgn="auto" latinLnBrk="0" hangingPunct="1">
              <a:lnSpc>
                <a:spcPct val="150000"/>
              </a:lnSpc>
              <a:spcBef>
                <a:spcPts val="0"/>
              </a:spcBef>
              <a:spcAft>
                <a:spcPts val="0"/>
              </a:spcAft>
              <a:buClrTx/>
              <a:buSzTx/>
              <a:buFontTx/>
              <a:buNone/>
              <a:tabLst/>
              <a:defRPr>
                <a:latin typeface="Roboto Mono"/>
              </a:defRPr>
            </a:pPr>
            <a:r>
              <a:rPr kumimoji="0" lang="en-US" sz="1400" b="0" i="0" u="none" strike="noStrike" kern="1200" cap="none" spc="0" normalizeH="0" baseline="0" noProof="0" dirty="0">
                <a:ln>
                  <a:noFill/>
                </a:ln>
                <a:solidFill>
                  <a:prstClr val="black"/>
                </a:solidFill>
                <a:effectLst/>
                <a:uLnTx/>
                <a:uFillTx/>
                <a:latin typeface="Roboto Mono" pitchFamily="49" charset="0"/>
                <a:ea typeface="Roboto Mono" pitchFamily="49" charset="0"/>
              </a:rPr>
              <a:t>• Schema on read: Spark or a SQL warehouse applies structure at query time, the file enforces nothing</a:t>
            </a:r>
          </a:p>
        </p:txBody>
      </p:sp>
      <p:sp>
        <p:nvSpPr>
          <p:cNvPr id="7" name="Text 14">
            <a:extLst>
              <a:ext uri="{FF2B5EF4-FFF2-40B4-BE49-F238E27FC236}">
                <a16:creationId xmlns:a16="http://schemas.microsoft.com/office/drawing/2014/main" id="{0666864A-A668-0C15-5083-6C92EAA711A6}"/>
              </a:ext>
            </a:extLst>
          </p:cNvPr>
          <p:cNvSpPr/>
          <p:nvPr/>
        </p:nvSpPr>
        <p:spPr>
          <a:xfrm>
            <a:off x="4836000" y="3113331"/>
            <a:ext cx="2520000" cy="2238592"/>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50000"/>
              </a:lnSpc>
              <a:spcBef>
                <a:spcPts val="0"/>
              </a:spcBef>
              <a:spcAft>
                <a:spcPts val="0"/>
              </a:spcAft>
              <a:buClrTx/>
              <a:buSzTx/>
              <a:buFontTx/>
              <a:buNone/>
              <a:tabLst/>
              <a:defRPr>
                <a:latin typeface="Roboto Mono"/>
              </a:defRPr>
            </a:pPr>
            <a:r>
              <a:rPr kumimoji="0" lang="en-US" sz="1400" b="0" i="0" u="none" strike="noStrike" kern="1200" cap="none" spc="0" normalizeH="0" baseline="0" noProof="0" dirty="0">
                <a:ln>
                  <a:noFill/>
                </a:ln>
                <a:solidFill>
                  <a:prstClr val="black"/>
                </a:solidFill>
                <a:effectLst/>
                <a:uLnTx/>
                <a:uFillTx/>
                <a:latin typeface="Roboto Mono" pitchFamily="49" charset="0"/>
                <a:ea typeface="Roboto Mono" pitchFamily="49" charset="0"/>
              </a:rPr>
              <a:t>• Added ACID transactions and time travel</a:t>
            </a:r>
          </a:p>
          <a:p>
            <a:pPr marL="0" marR="0" lvl="0" indent="0" algn="ctr" defTabSz="914400" rtl="0" eaLnBrk="1" fontAlgn="auto" latinLnBrk="0" hangingPunct="1">
              <a:lnSpc>
                <a:spcPct val="150000"/>
              </a:lnSpc>
              <a:spcBef>
                <a:spcPts val="0"/>
              </a:spcBef>
              <a:spcAft>
                <a:spcPts val="0"/>
              </a:spcAft>
              <a:buClrTx/>
              <a:buSzTx/>
              <a:buFontTx/>
              <a:buNone/>
              <a:tabLst/>
              <a:defRPr>
                <a:latin typeface="Roboto Mono"/>
              </a:defRPr>
            </a:pPr>
            <a:r>
              <a:rPr kumimoji="0" lang="en-US" sz="1400" b="0" i="0" u="none" strike="noStrike" kern="1200" cap="none" spc="0" normalizeH="0" baseline="0" noProof="0" dirty="0">
                <a:ln>
                  <a:noFill/>
                </a:ln>
                <a:solidFill>
                  <a:prstClr val="black"/>
                </a:solidFill>
                <a:effectLst/>
                <a:uLnTx/>
                <a:uFillTx/>
                <a:latin typeface="Roboto Mono" pitchFamily="49" charset="0"/>
                <a:ea typeface="Roboto Mono" pitchFamily="49" charset="0"/>
              </a:rPr>
              <a:t>• Schema evolution without breaking readers</a:t>
            </a:r>
          </a:p>
        </p:txBody>
      </p:sp>
      <p:sp>
        <p:nvSpPr>
          <p:cNvPr id="16" name="Text 14">
            <a:extLst>
              <a:ext uri="{FF2B5EF4-FFF2-40B4-BE49-F238E27FC236}">
                <a16:creationId xmlns:a16="http://schemas.microsoft.com/office/drawing/2014/main" id="{C21816C1-92D0-42BC-B672-8DA5D9A380E9}"/>
              </a:ext>
            </a:extLst>
          </p:cNvPr>
          <p:cNvSpPr/>
          <p:nvPr/>
        </p:nvSpPr>
        <p:spPr>
          <a:xfrm>
            <a:off x="8691188" y="3113331"/>
            <a:ext cx="2520000" cy="2238592"/>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50000"/>
              </a:lnSpc>
              <a:spcBef>
                <a:spcPts val="0"/>
              </a:spcBef>
              <a:spcAft>
                <a:spcPts val="0"/>
              </a:spcAft>
              <a:buClrTx/>
              <a:buSzTx/>
              <a:buFontTx/>
              <a:buNone/>
              <a:tabLst/>
              <a:defRPr>
                <a:latin typeface="Roboto Mono"/>
              </a:defRPr>
            </a:pPr>
            <a:r>
              <a:rPr kumimoji="0" lang="en-US" sz="1400" b="0" i="0" u="none" strike="noStrike" kern="1200" cap="none" spc="0" normalizeH="0" baseline="0" noProof="0" dirty="0">
                <a:ln>
                  <a:noFill/>
                </a:ln>
                <a:solidFill>
                  <a:prstClr val="black"/>
                </a:solidFill>
                <a:effectLst/>
                <a:uLnTx/>
                <a:uFillTx/>
                <a:latin typeface="Roboto Mono" pitchFamily="49" charset="0"/>
                <a:ea typeface="Roboto Mono" pitchFamily="49" charset="0"/>
              </a:rPr>
              <a:t>• Lake economics with warehouse reliability</a:t>
            </a:r>
          </a:p>
          <a:p>
            <a:pPr marL="0" marR="0" lvl="0" indent="0" algn="ctr" defTabSz="914400" rtl="0" eaLnBrk="1" fontAlgn="auto" latinLnBrk="0" hangingPunct="1">
              <a:lnSpc>
                <a:spcPct val="150000"/>
              </a:lnSpc>
              <a:spcBef>
                <a:spcPts val="0"/>
              </a:spcBef>
              <a:spcAft>
                <a:spcPts val="0"/>
              </a:spcAft>
              <a:buClrTx/>
              <a:buSzTx/>
              <a:buFontTx/>
              <a:buNone/>
              <a:tabLst/>
              <a:defRPr>
                <a:latin typeface="Roboto Mono"/>
              </a:defRPr>
            </a:pPr>
            <a:r>
              <a:rPr kumimoji="0" lang="en-US" sz="1400" b="0" i="0" u="none" strike="noStrike" kern="1200" cap="none" spc="0" normalizeH="0" baseline="0" noProof="0" dirty="0">
                <a:ln>
                  <a:noFill/>
                </a:ln>
                <a:solidFill>
                  <a:prstClr val="black"/>
                </a:solidFill>
                <a:effectLst/>
                <a:uLnTx/>
                <a:uFillTx/>
                <a:latin typeface="Roboto Mono" pitchFamily="49" charset="0"/>
                <a:ea typeface="Roboto Mono" pitchFamily="49" charset="0"/>
              </a:rPr>
              <a:t>• One layer for raw through curated data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hthoek 21">
            <a:extLst>
              <a:ext uri="{FF2B5EF4-FFF2-40B4-BE49-F238E27FC236}">
                <a16:creationId xmlns:a16="http://schemas.microsoft.com/office/drawing/2014/main" id="{EDB30392-12DD-D604-BE94-B19F2A17CE63}"/>
              </a:ext>
            </a:extLst>
          </p:cNvPr>
          <p:cNvSpPr/>
          <p:nvPr/>
        </p:nvSpPr>
        <p:spPr>
          <a:xfrm>
            <a:off x="4546600" y="0"/>
            <a:ext cx="7645400" cy="6857999"/>
          </a:xfrm>
          <a:prstGeom prst="rect">
            <a:avLst/>
          </a:prstGeom>
          <a:solidFill>
            <a:srgbClr val="F4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nl-BE">
              <a:latin typeface="Roboto Mono" pitchFamily="49" charset="0"/>
              <a:ea typeface="Roboto Mono" pitchFamily="49" charset="0"/>
            </a:endParaRPr>
          </a:p>
        </p:txBody>
      </p:sp>
      <p:sp>
        <p:nvSpPr>
          <p:cNvPr id="2" name="Text 0"/>
          <p:cNvSpPr/>
          <p:nvPr/>
        </p:nvSpPr>
        <p:spPr>
          <a:xfrm>
            <a:off x="457200" y="2044700"/>
            <a:ext cx="3531870" cy="429419"/>
          </a:xfrm>
          <a:prstGeom prst="rect">
            <a:avLst/>
          </a:prstGeom>
          <a:noFill/>
          <a:ln/>
        </p:spPr>
        <p:txBody>
          <a:bodyPr wrap="square" lIns="25400" tIns="25400" rIns="25400" bIns="25400" rtlCol="0" anchor="b">
            <a:normAutofit/>
          </a:bodyPr>
          <a:lstStyle/>
          <a:p>
            <a:pPr marL="0" indent="0" algn="l">
              <a:lnSpc>
                <a:spcPct val="150000"/>
              </a:lnSpc>
              <a:buNone/>
            </a:pPr>
            <a:r>
              <a:rPr lang="en-US" sz="1100" b="1" kern="0" spc="195" dirty="0">
                <a:solidFill>
                  <a:srgbClr val="38B580"/>
                </a:solidFill>
                <a:latin typeface="Roboto Mono" pitchFamily="49" charset="0"/>
                <a:ea typeface="Roboto Mono" pitchFamily="49" charset="0"/>
                <a:cs typeface="Roboto Mono" pitchFamily="34" charset="-120"/>
              </a:rPr>
              <a:t>Enablers</a:t>
            </a:r>
            <a:endParaRPr lang="en-US" sz="975" dirty="0">
              <a:latin typeface="Roboto Mono" pitchFamily="49" charset="0"/>
              <a:ea typeface="Roboto Mono" pitchFamily="49" charset="0"/>
            </a:endParaRPr>
          </a:p>
        </p:txBody>
      </p:sp>
      <p:sp>
        <p:nvSpPr>
          <p:cNvPr id="3" name="Text 1"/>
          <p:cNvSpPr/>
          <p:nvPr/>
        </p:nvSpPr>
        <p:spPr>
          <a:xfrm>
            <a:off x="457199" y="2588419"/>
            <a:ext cx="3781423" cy="1638300"/>
          </a:xfrm>
          <a:prstGeom prst="rect">
            <a:avLst/>
          </a:prstGeom>
          <a:noFill/>
          <a:ln/>
        </p:spPr>
        <p:txBody>
          <a:bodyPr wrap="square" lIns="25400" tIns="25400" rIns="25400" bIns="25400" rtlCol="0" anchor="t">
            <a:normAutofit/>
          </a:bodyPr>
          <a:lstStyle/>
          <a:p>
            <a:pPr marL="0" indent="0" algn="l">
              <a:lnSpc>
                <a:spcPct val="105000"/>
              </a:lnSpc>
              <a:buNone/>
            </a:pPr>
            <a:r>
              <a:rPr lang="en-US" sz="3000" b="1" kern="0" spc="-60" dirty="0">
                <a:solidFill>
                  <a:srgbClr val="212121"/>
                </a:solidFill>
                <a:latin typeface="Roboto Mono" pitchFamily="49" charset="0"/>
                <a:ea typeface="Roboto Mono" pitchFamily="49" charset="0"/>
                <a:cs typeface="Roboto Mono" pitchFamily="34" charset="-120"/>
              </a:rPr>
              <a:t>Four things that made ELT the default</a:t>
            </a:r>
            <a:endParaRPr lang="en-US" sz="3000" dirty="0">
              <a:latin typeface="Roboto Mono" pitchFamily="49" charset="0"/>
              <a:ea typeface="Roboto Mono" pitchFamily="49" charset="0"/>
            </a:endParaRPr>
          </a:p>
        </p:txBody>
      </p:sp>
      <p:sp>
        <p:nvSpPr>
          <p:cNvPr id="4" name="Shape 2"/>
          <p:cNvSpPr/>
          <p:nvPr/>
        </p:nvSpPr>
        <p:spPr>
          <a:xfrm>
            <a:off x="5092700" y="723900"/>
            <a:ext cx="3276600" cy="2476500"/>
          </a:xfrm>
          <a:prstGeom prst="roundRect">
            <a:avLst>
              <a:gd name="adj" fmla="val 8755"/>
            </a:avLst>
          </a:prstGeom>
          <a:solidFill>
            <a:srgbClr val="FFFFFF"/>
          </a:solidFill>
          <a:ln w="9525">
            <a:solidFill>
              <a:srgbClr val="DFE3EB"/>
            </a:solidFill>
            <a:prstDash val="solid"/>
          </a:ln>
          <a:effectLst>
            <a:outerShdw blurRad="57150" dist="19050" dir="5400000" algn="bl" rotWithShape="0">
              <a:srgbClr val="0F172A">
                <a:alpha val="8000"/>
              </a:srgbClr>
            </a:outerShdw>
          </a:effectLst>
        </p:spPr>
        <p:txBody>
          <a:bodyPr>
            <a:normAutofit/>
          </a:bodyPr>
          <a:lstStyle/>
          <a:p>
            <a:endParaRPr lang="nl-BE">
              <a:latin typeface="Roboto Mono" pitchFamily="49" charset="0"/>
              <a:ea typeface="Roboto Mono" pitchFamily="49" charset="0"/>
            </a:endParaRPr>
          </a:p>
        </p:txBody>
      </p:sp>
      <p:sp>
        <p:nvSpPr>
          <p:cNvPr id="5" name="Text 3"/>
          <p:cNvSpPr/>
          <p:nvPr/>
        </p:nvSpPr>
        <p:spPr>
          <a:xfrm>
            <a:off x="5330823" y="868957"/>
            <a:ext cx="2884361" cy="434578"/>
          </a:xfrm>
          <a:prstGeom prst="rect">
            <a:avLst/>
          </a:prstGeom>
          <a:noFill/>
          <a:ln/>
        </p:spPr>
        <p:txBody>
          <a:bodyPr wrap="square" lIns="25400" tIns="25400" rIns="25400" bIns="25400" rtlCol="0" anchor="t">
            <a:normAutofit/>
          </a:bodyPr>
          <a:lstStyle/>
          <a:p>
            <a:pPr marL="0" indent="0" algn="l">
              <a:lnSpc>
                <a:spcPct val="150000"/>
              </a:lnSpc>
              <a:buNone/>
            </a:pPr>
            <a:r>
              <a:rPr lang="en-US" sz="1100" b="1" kern="0" spc="132" dirty="0">
                <a:solidFill>
                  <a:srgbClr val="38B580"/>
                </a:solidFill>
                <a:latin typeface="Roboto Mono" pitchFamily="49" charset="0"/>
                <a:ea typeface="Roboto Mono" pitchFamily="49" charset="0"/>
                <a:cs typeface="Roboto Mono" pitchFamily="34" charset="-120"/>
              </a:rPr>
              <a:t>Ingestion</a:t>
            </a:r>
            <a:endParaRPr lang="en-US" sz="825" dirty="0">
              <a:latin typeface="Roboto Mono" pitchFamily="49" charset="0"/>
              <a:ea typeface="Roboto Mono" pitchFamily="49" charset="0"/>
            </a:endParaRPr>
          </a:p>
        </p:txBody>
      </p:sp>
      <p:sp>
        <p:nvSpPr>
          <p:cNvPr id="6" name="Text 4"/>
          <p:cNvSpPr/>
          <p:nvPr/>
        </p:nvSpPr>
        <p:spPr>
          <a:xfrm>
            <a:off x="5330824" y="1149746"/>
            <a:ext cx="2884361" cy="521494"/>
          </a:xfrm>
          <a:prstGeom prst="rect">
            <a:avLst/>
          </a:prstGeom>
          <a:noFill/>
          <a:ln/>
        </p:spPr>
        <p:txBody>
          <a:bodyPr wrap="square" lIns="25400" tIns="25400" rIns="25400" bIns="25400" rtlCol="0" anchor="t">
            <a:normAutofit/>
          </a:bodyPr>
          <a:lstStyle/>
          <a:p>
            <a:pPr marL="0" indent="0" algn="l">
              <a:lnSpc>
                <a:spcPct val="125000"/>
              </a:lnSpc>
              <a:buNone/>
            </a:pPr>
            <a:r>
              <a:rPr lang="en-US" sz="1575" b="1" kern="0" spc="-16" dirty="0">
                <a:solidFill>
                  <a:srgbClr val="38B580"/>
                </a:solidFill>
                <a:latin typeface="Roboto Mono" pitchFamily="49" charset="0"/>
                <a:ea typeface="Roboto Mono" pitchFamily="49" charset="0"/>
                <a:cs typeface="Roboto Mono" pitchFamily="34" charset="-120"/>
              </a:rPr>
              <a:t>Managed connectors</a:t>
            </a:r>
            <a:endParaRPr lang="en-US" sz="1575" dirty="0">
              <a:latin typeface="Roboto Mono" pitchFamily="49" charset="0"/>
              <a:ea typeface="Roboto Mono" pitchFamily="49" charset="0"/>
            </a:endParaRPr>
          </a:p>
        </p:txBody>
      </p:sp>
      <p:sp>
        <p:nvSpPr>
          <p:cNvPr id="7" name="Text 5"/>
          <p:cNvSpPr/>
          <p:nvPr/>
        </p:nvSpPr>
        <p:spPr>
          <a:xfrm>
            <a:off x="5330825" y="1584324"/>
            <a:ext cx="2884361" cy="1435101"/>
          </a:xfrm>
          <a:prstGeom prst="rect">
            <a:avLst/>
          </a:prstGeom>
          <a:noFill/>
          <a:ln/>
        </p:spPr>
        <p:txBody>
          <a:bodyPr wrap="square" lIns="25400" tIns="25400" rIns="25400" bIns="25400" rtlCol="0" anchor="t">
            <a:normAutofit/>
          </a:bodyPr>
          <a:lstStyle/>
          <a:p>
            <a:pPr marL="0" indent="0" algn="l">
              <a:lnSpc>
                <a:spcPct val="150000"/>
              </a:lnSpc>
              <a:buNone/>
            </a:pPr>
            <a:r>
              <a:rPr lang="en-US" sz="1100" dirty="0">
                <a:solidFill>
                  <a:srgbClr val="4A5160"/>
                </a:solidFill>
                <a:latin typeface="Roboto Mono" pitchFamily="49" charset="0"/>
                <a:ea typeface="Roboto Mono" pitchFamily="49" charset="0"/>
                <a:cs typeface="Roboto Mono" pitchFamily="34" charset="-120"/>
              </a:rPr>
              <a:t>• Lakeflow Connect and Fivetran land data with no code</a:t>
            </a:r>
            <a:endParaRPr lang="en-US" sz="975" dirty="0">
              <a:latin typeface="Roboto Mono" pitchFamily="49" charset="0"/>
              <a:ea typeface="Roboto Mono" pitchFamily="49" charset="0"/>
            </a:endParaRPr>
          </a:p>
          <a:p>
            <a:pPr marL="0" indent="0" algn="l">
              <a:lnSpc>
                <a:spcPct val="150000"/>
              </a:lnSpc>
              <a:buNone/>
            </a:pPr>
            <a:r>
              <a:rPr lang="en-US" sz="1100" dirty="0">
                <a:solidFill>
                  <a:srgbClr val="4A5160"/>
                </a:solidFill>
                <a:latin typeface="Roboto Mono" pitchFamily="49" charset="0"/>
                <a:ea typeface="Roboto Mono" pitchFamily="49" charset="0"/>
                <a:cs typeface="Roboto Mono" pitchFamily="34" charset="-120"/>
              </a:rPr>
              <a:t>• Nobody hand writes extraction scripts anymore</a:t>
            </a:r>
            <a:endParaRPr lang="en-US" sz="975" dirty="0">
              <a:latin typeface="Roboto Mono" pitchFamily="49" charset="0"/>
              <a:ea typeface="Roboto Mono" pitchFamily="49" charset="0"/>
            </a:endParaRPr>
          </a:p>
        </p:txBody>
      </p:sp>
      <p:pic>
        <p:nvPicPr>
          <p:cNvPr id="20" name="Image 0" descr="preencoded.png"/>
          <p:cNvPicPr>
            <a:picLocks noChangeAspect="1"/>
          </p:cNvPicPr>
          <p:nvPr/>
        </p:nvPicPr>
        <p:blipFill>
          <a:blip r:embed="rId3"/>
          <a:stretch>
            <a:fillRect/>
          </a:stretch>
        </p:blipFill>
        <p:spPr>
          <a:xfrm>
            <a:off x="762000" y="6286500"/>
            <a:ext cx="663327" cy="266700"/>
          </a:xfrm>
          <a:prstGeom prst="rect">
            <a:avLst/>
          </a:prstGeom>
        </p:spPr>
      </p:pic>
      <p:sp>
        <p:nvSpPr>
          <p:cNvPr id="21" name="Shape 2">
            <a:extLst>
              <a:ext uri="{FF2B5EF4-FFF2-40B4-BE49-F238E27FC236}">
                <a16:creationId xmlns:a16="http://schemas.microsoft.com/office/drawing/2014/main" id="{7A308279-801E-9A42-1662-4E0F11408EE1}"/>
              </a:ext>
            </a:extLst>
          </p:cNvPr>
          <p:cNvSpPr/>
          <p:nvPr/>
        </p:nvSpPr>
        <p:spPr>
          <a:xfrm>
            <a:off x="8607423" y="723900"/>
            <a:ext cx="3276600" cy="2476500"/>
          </a:xfrm>
          <a:prstGeom prst="roundRect">
            <a:avLst>
              <a:gd name="adj" fmla="val 8755"/>
            </a:avLst>
          </a:prstGeom>
          <a:solidFill>
            <a:srgbClr val="FFFFFF"/>
          </a:solidFill>
          <a:ln w="9525">
            <a:solidFill>
              <a:srgbClr val="DFE3EB"/>
            </a:solidFill>
            <a:prstDash val="solid"/>
          </a:ln>
          <a:effectLst>
            <a:outerShdw blurRad="57150" dist="19050" dir="5400000" algn="bl" rotWithShape="0">
              <a:srgbClr val="0F172A">
                <a:alpha val="8000"/>
              </a:srgbClr>
            </a:outerShdw>
          </a:effectLst>
        </p:spPr>
        <p:txBody>
          <a:bodyPr>
            <a:normAutofit/>
          </a:bodyPr>
          <a:lstStyle/>
          <a:p>
            <a:endParaRPr lang="nl-BE">
              <a:latin typeface="Roboto Mono" pitchFamily="49" charset="0"/>
              <a:ea typeface="Roboto Mono" pitchFamily="49" charset="0"/>
            </a:endParaRPr>
          </a:p>
        </p:txBody>
      </p:sp>
      <p:sp>
        <p:nvSpPr>
          <p:cNvPr id="23" name="Text 3">
            <a:extLst>
              <a:ext uri="{FF2B5EF4-FFF2-40B4-BE49-F238E27FC236}">
                <a16:creationId xmlns:a16="http://schemas.microsoft.com/office/drawing/2014/main" id="{E954CB4F-7F0F-DB75-575F-66C8D1D25763}"/>
              </a:ext>
            </a:extLst>
          </p:cNvPr>
          <p:cNvSpPr/>
          <p:nvPr/>
        </p:nvSpPr>
        <p:spPr>
          <a:xfrm>
            <a:off x="8845546" y="868957"/>
            <a:ext cx="2884361" cy="434578"/>
          </a:xfrm>
          <a:prstGeom prst="rect">
            <a:avLst/>
          </a:prstGeom>
          <a:noFill/>
          <a:ln/>
        </p:spPr>
        <p:txBody>
          <a:bodyPr wrap="square" lIns="25400" tIns="25400" rIns="25400" bIns="25400" rtlCol="0" anchor="t">
            <a:normAutofit/>
          </a:bodyPr>
          <a:lstStyle/>
          <a:p>
            <a:pPr marL="0" indent="0" algn="l">
              <a:lnSpc>
                <a:spcPct val="150000"/>
              </a:lnSpc>
              <a:buNone/>
            </a:pPr>
            <a:r>
              <a:rPr lang="en-US" sz="1100" b="1" kern="0" spc="132" dirty="0">
                <a:solidFill>
                  <a:srgbClr val="38B580"/>
                </a:solidFill>
                <a:latin typeface="Roboto Mono" pitchFamily="49" charset="0"/>
                <a:ea typeface="Roboto Mono" pitchFamily="49" charset="0"/>
                <a:cs typeface="Roboto Mono" pitchFamily="34" charset="-120"/>
              </a:rPr>
              <a:t>Compute</a:t>
            </a:r>
            <a:endParaRPr lang="en-US" sz="825" dirty="0">
              <a:latin typeface="Roboto Mono" pitchFamily="49" charset="0"/>
              <a:ea typeface="Roboto Mono" pitchFamily="49" charset="0"/>
            </a:endParaRPr>
          </a:p>
        </p:txBody>
      </p:sp>
      <p:sp>
        <p:nvSpPr>
          <p:cNvPr id="24" name="Text 4">
            <a:extLst>
              <a:ext uri="{FF2B5EF4-FFF2-40B4-BE49-F238E27FC236}">
                <a16:creationId xmlns:a16="http://schemas.microsoft.com/office/drawing/2014/main" id="{D46C50BC-F2B8-258F-F18A-8157EEF2AD34}"/>
              </a:ext>
            </a:extLst>
          </p:cNvPr>
          <p:cNvSpPr/>
          <p:nvPr/>
        </p:nvSpPr>
        <p:spPr>
          <a:xfrm>
            <a:off x="8845547" y="1149746"/>
            <a:ext cx="2884361" cy="521494"/>
          </a:xfrm>
          <a:prstGeom prst="rect">
            <a:avLst/>
          </a:prstGeom>
          <a:noFill/>
          <a:ln/>
        </p:spPr>
        <p:txBody>
          <a:bodyPr wrap="square" lIns="25400" tIns="25400" rIns="25400" bIns="25400" rtlCol="0" anchor="t">
            <a:normAutofit/>
          </a:bodyPr>
          <a:lstStyle/>
          <a:p>
            <a:pPr marL="0" indent="0" algn="l">
              <a:lnSpc>
                <a:spcPct val="125000"/>
              </a:lnSpc>
              <a:buNone/>
            </a:pPr>
            <a:r>
              <a:rPr lang="en-US" sz="1575" b="1" kern="0" spc="-16" dirty="0">
                <a:solidFill>
                  <a:srgbClr val="38B580"/>
                </a:solidFill>
                <a:latin typeface="Roboto Mono" pitchFamily="49" charset="0"/>
                <a:ea typeface="Roboto Mono" pitchFamily="49" charset="0"/>
                <a:cs typeface="Roboto Mono" pitchFamily="34" charset="-120"/>
              </a:rPr>
              <a:t>Elastic warehouse power</a:t>
            </a:r>
            <a:endParaRPr lang="en-US" sz="1575" dirty="0">
              <a:latin typeface="Roboto Mono" pitchFamily="49" charset="0"/>
              <a:ea typeface="Roboto Mono" pitchFamily="49" charset="0"/>
            </a:endParaRPr>
          </a:p>
        </p:txBody>
      </p:sp>
      <p:sp>
        <p:nvSpPr>
          <p:cNvPr id="25" name="Text 5">
            <a:extLst>
              <a:ext uri="{FF2B5EF4-FFF2-40B4-BE49-F238E27FC236}">
                <a16:creationId xmlns:a16="http://schemas.microsoft.com/office/drawing/2014/main" id="{067F03AD-B978-B77C-62C1-40B2B26082F4}"/>
              </a:ext>
            </a:extLst>
          </p:cNvPr>
          <p:cNvSpPr/>
          <p:nvPr/>
        </p:nvSpPr>
        <p:spPr>
          <a:xfrm>
            <a:off x="8845548" y="1584324"/>
            <a:ext cx="2884361" cy="1435101"/>
          </a:xfrm>
          <a:prstGeom prst="rect">
            <a:avLst/>
          </a:prstGeom>
          <a:noFill/>
          <a:ln/>
        </p:spPr>
        <p:txBody>
          <a:bodyPr wrap="square" lIns="25400" tIns="25400" rIns="25400" bIns="25400" rtlCol="0" anchor="t">
            <a:normAutofit/>
          </a:bodyPr>
          <a:lstStyle/>
          <a:p>
            <a:pPr marL="0" indent="0" algn="l">
              <a:lnSpc>
                <a:spcPct val="150000"/>
              </a:lnSpc>
              <a:buNone/>
            </a:pPr>
            <a:r>
              <a:rPr lang="en-US" sz="1100" dirty="0">
                <a:solidFill>
                  <a:srgbClr val="4A5160"/>
                </a:solidFill>
                <a:latin typeface="Roboto Mono" pitchFamily="49" charset="0"/>
                <a:ea typeface="Roboto Mono" pitchFamily="49" charset="0"/>
                <a:cs typeface="Roboto Mono" pitchFamily="34" charset="-120"/>
              </a:rPr>
              <a:t>• A Databricks SQL warehouse or all purpose cluster is a managed VM pool (AWS r5, Azure Standard_E) that scales itself</a:t>
            </a:r>
            <a:endParaRPr lang="en-US" sz="975" dirty="0">
              <a:latin typeface="Roboto Mono" pitchFamily="49" charset="0"/>
              <a:ea typeface="Roboto Mono" pitchFamily="49" charset="0"/>
            </a:endParaRPr>
          </a:p>
          <a:p>
            <a:pPr marL="0" indent="0" algn="l">
              <a:lnSpc>
                <a:spcPct val="150000"/>
              </a:lnSpc>
              <a:buNone/>
            </a:pPr>
            <a:r>
              <a:rPr lang="en-US" sz="1100" dirty="0">
                <a:solidFill>
                  <a:srgbClr val="4A5160"/>
                </a:solidFill>
                <a:latin typeface="Roboto Mono" pitchFamily="49" charset="0"/>
                <a:ea typeface="Roboto Mono" pitchFamily="49" charset="0"/>
                <a:cs typeface="Roboto Mono" pitchFamily="34" charset="-120"/>
              </a:rPr>
              <a:t>• Pay only for the seconds you use</a:t>
            </a:r>
            <a:endParaRPr lang="en-US" sz="975" dirty="0">
              <a:latin typeface="Roboto Mono" pitchFamily="49" charset="0"/>
              <a:ea typeface="Roboto Mono" pitchFamily="49" charset="0"/>
            </a:endParaRPr>
          </a:p>
        </p:txBody>
      </p:sp>
      <p:sp>
        <p:nvSpPr>
          <p:cNvPr id="26" name="Shape 2">
            <a:extLst>
              <a:ext uri="{FF2B5EF4-FFF2-40B4-BE49-F238E27FC236}">
                <a16:creationId xmlns:a16="http://schemas.microsoft.com/office/drawing/2014/main" id="{25ADD8A2-02E5-80F7-4321-6289456386F7}"/>
              </a:ext>
            </a:extLst>
          </p:cNvPr>
          <p:cNvSpPr/>
          <p:nvPr/>
        </p:nvSpPr>
        <p:spPr>
          <a:xfrm>
            <a:off x="5092700" y="3481189"/>
            <a:ext cx="3276600" cy="2476500"/>
          </a:xfrm>
          <a:prstGeom prst="roundRect">
            <a:avLst>
              <a:gd name="adj" fmla="val 8755"/>
            </a:avLst>
          </a:prstGeom>
          <a:solidFill>
            <a:srgbClr val="FFFFFF"/>
          </a:solidFill>
          <a:ln w="9525">
            <a:solidFill>
              <a:srgbClr val="DFE3EB"/>
            </a:solidFill>
            <a:prstDash val="solid"/>
          </a:ln>
          <a:effectLst>
            <a:outerShdw blurRad="57150" dist="19050" dir="5400000" algn="bl" rotWithShape="0">
              <a:srgbClr val="0F172A">
                <a:alpha val="8000"/>
              </a:srgbClr>
            </a:outerShdw>
          </a:effectLst>
        </p:spPr>
        <p:txBody>
          <a:bodyPr>
            <a:normAutofit/>
          </a:bodyPr>
          <a:lstStyle/>
          <a:p>
            <a:endParaRPr lang="nl-BE">
              <a:latin typeface="Roboto Mono" pitchFamily="49" charset="0"/>
              <a:ea typeface="Roboto Mono" pitchFamily="49" charset="0"/>
            </a:endParaRPr>
          </a:p>
        </p:txBody>
      </p:sp>
      <p:sp>
        <p:nvSpPr>
          <p:cNvPr id="27" name="Text 3">
            <a:extLst>
              <a:ext uri="{FF2B5EF4-FFF2-40B4-BE49-F238E27FC236}">
                <a16:creationId xmlns:a16="http://schemas.microsoft.com/office/drawing/2014/main" id="{FD67757B-0340-A024-2FB2-E91443321320}"/>
              </a:ext>
            </a:extLst>
          </p:cNvPr>
          <p:cNvSpPr/>
          <p:nvPr/>
        </p:nvSpPr>
        <p:spPr>
          <a:xfrm>
            <a:off x="5330823" y="3626246"/>
            <a:ext cx="2884361" cy="434578"/>
          </a:xfrm>
          <a:prstGeom prst="rect">
            <a:avLst/>
          </a:prstGeom>
          <a:noFill/>
          <a:ln/>
        </p:spPr>
        <p:txBody>
          <a:bodyPr wrap="square" lIns="25400" tIns="25400" rIns="25400" bIns="25400" rtlCol="0" anchor="t">
            <a:normAutofit/>
          </a:bodyPr>
          <a:lstStyle/>
          <a:p>
            <a:pPr marL="0" indent="0" algn="l">
              <a:lnSpc>
                <a:spcPct val="150000"/>
              </a:lnSpc>
              <a:buNone/>
            </a:pPr>
            <a:r>
              <a:rPr lang="en-US" sz="1100" b="1" kern="0" spc="132" dirty="0">
                <a:solidFill>
                  <a:srgbClr val="38B580"/>
                </a:solidFill>
                <a:latin typeface="Roboto Mono" pitchFamily="49" charset="0"/>
                <a:ea typeface="Roboto Mono" pitchFamily="49" charset="0"/>
                <a:cs typeface="Roboto Mono" pitchFamily="34" charset="-120"/>
              </a:rPr>
              <a:t>Storage</a:t>
            </a:r>
            <a:endParaRPr lang="en-US" sz="825" dirty="0">
              <a:latin typeface="Roboto Mono" pitchFamily="49" charset="0"/>
              <a:ea typeface="Roboto Mono" pitchFamily="49" charset="0"/>
            </a:endParaRPr>
          </a:p>
        </p:txBody>
      </p:sp>
      <p:sp>
        <p:nvSpPr>
          <p:cNvPr id="28" name="Text 4">
            <a:extLst>
              <a:ext uri="{FF2B5EF4-FFF2-40B4-BE49-F238E27FC236}">
                <a16:creationId xmlns:a16="http://schemas.microsoft.com/office/drawing/2014/main" id="{F56ACBB4-B0F5-8B97-6F43-D04C85F34C11}"/>
              </a:ext>
            </a:extLst>
          </p:cNvPr>
          <p:cNvSpPr/>
          <p:nvPr/>
        </p:nvSpPr>
        <p:spPr>
          <a:xfrm>
            <a:off x="5330824" y="3907035"/>
            <a:ext cx="2884361" cy="521494"/>
          </a:xfrm>
          <a:prstGeom prst="rect">
            <a:avLst/>
          </a:prstGeom>
          <a:noFill/>
          <a:ln/>
        </p:spPr>
        <p:txBody>
          <a:bodyPr wrap="square" lIns="25400" tIns="25400" rIns="25400" bIns="25400" rtlCol="0" anchor="t">
            <a:normAutofit/>
          </a:bodyPr>
          <a:lstStyle/>
          <a:p>
            <a:pPr marL="0" indent="0" algn="l">
              <a:lnSpc>
                <a:spcPct val="125000"/>
              </a:lnSpc>
              <a:buNone/>
            </a:pPr>
            <a:r>
              <a:rPr lang="en-US" sz="1575" b="1" kern="0" spc="-16" dirty="0">
                <a:solidFill>
                  <a:srgbClr val="38B580"/>
                </a:solidFill>
                <a:latin typeface="Roboto Mono" pitchFamily="49" charset="0"/>
                <a:ea typeface="Roboto Mono" pitchFamily="49" charset="0"/>
                <a:cs typeface="Roboto Mono" pitchFamily="34" charset="-120"/>
              </a:rPr>
              <a:t>Open table formats</a:t>
            </a:r>
            <a:endParaRPr lang="en-US" sz="1575" dirty="0">
              <a:latin typeface="Roboto Mono" pitchFamily="49" charset="0"/>
              <a:ea typeface="Roboto Mono" pitchFamily="49" charset="0"/>
            </a:endParaRPr>
          </a:p>
        </p:txBody>
      </p:sp>
      <p:sp>
        <p:nvSpPr>
          <p:cNvPr id="29" name="Text 5">
            <a:extLst>
              <a:ext uri="{FF2B5EF4-FFF2-40B4-BE49-F238E27FC236}">
                <a16:creationId xmlns:a16="http://schemas.microsoft.com/office/drawing/2014/main" id="{D2BD6033-CC57-64BB-E1A5-84D7970FA3E7}"/>
              </a:ext>
            </a:extLst>
          </p:cNvPr>
          <p:cNvSpPr/>
          <p:nvPr/>
        </p:nvSpPr>
        <p:spPr>
          <a:xfrm>
            <a:off x="5330825" y="4341613"/>
            <a:ext cx="2884361" cy="1353821"/>
          </a:xfrm>
          <a:prstGeom prst="rect">
            <a:avLst/>
          </a:prstGeom>
          <a:noFill/>
          <a:ln/>
        </p:spPr>
        <p:txBody>
          <a:bodyPr wrap="square" lIns="25400" tIns="25400" rIns="25400" bIns="25400" rtlCol="0" anchor="t">
            <a:normAutofit/>
          </a:bodyPr>
          <a:lstStyle/>
          <a:p>
            <a:pPr>
              <a:lnSpc>
                <a:spcPct val="150000"/>
              </a:lnSpc>
            </a:pPr>
            <a:r>
              <a:rPr lang="en-US" sz="1100" dirty="0">
                <a:solidFill>
                  <a:srgbClr val="4A5160"/>
                </a:solidFill>
                <a:latin typeface="Roboto Mono"/>
                <a:ea typeface="Roboto Mono"/>
                <a:cs typeface="Roboto Mono" pitchFamily="34" charset="-120"/>
              </a:rPr>
              <a:t>• Delta Lake adds ACID and time travel on plain Parquet, sitting on S3 or ADLS Gen2</a:t>
            </a:r>
            <a:endParaRPr lang="en-US" sz="1100" dirty="0">
              <a:solidFill>
                <a:srgbClr val="4A5160"/>
              </a:solidFill>
              <a:latin typeface="Roboto Mono"/>
              <a:ea typeface="Roboto Mono"/>
            </a:endParaRPr>
          </a:p>
          <a:p>
            <a:pPr marL="0" indent="0" algn="l">
              <a:lnSpc>
                <a:spcPct val="150000"/>
              </a:lnSpc>
              <a:buNone/>
            </a:pPr>
            <a:r>
              <a:rPr lang="en-US" sz="1100" dirty="0">
                <a:solidFill>
                  <a:srgbClr val="4A5160"/>
                </a:solidFill>
                <a:latin typeface="Roboto Mono" pitchFamily="49" charset="0"/>
                <a:ea typeface="Roboto Mono" pitchFamily="49" charset="0"/>
                <a:cs typeface="Roboto Mono" pitchFamily="34" charset="-120"/>
              </a:rPr>
              <a:t>• No separate warehouse required anymore</a:t>
            </a:r>
            <a:endParaRPr lang="en-US" sz="975" dirty="0">
              <a:latin typeface="Roboto Mono" pitchFamily="49" charset="0"/>
              <a:ea typeface="Roboto Mono" pitchFamily="49" charset="0"/>
            </a:endParaRPr>
          </a:p>
        </p:txBody>
      </p:sp>
      <p:sp>
        <p:nvSpPr>
          <p:cNvPr id="30" name="Shape 2">
            <a:extLst>
              <a:ext uri="{FF2B5EF4-FFF2-40B4-BE49-F238E27FC236}">
                <a16:creationId xmlns:a16="http://schemas.microsoft.com/office/drawing/2014/main" id="{CADAD864-ADB3-87E8-689A-9A4B0C529EEA}"/>
              </a:ext>
            </a:extLst>
          </p:cNvPr>
          <p:cNvSpPr/>
          <p:nvPr/>
        </p:nvSpPr>
        <p:spPr>
          <a:xfrm>
            <a:off x="8607423" y="3481189"/>
            <a:ext cx="3276600" cy="2476500"/>
          </a:xfrm>
          <a:prstGeom prst="roundRect">
            <a:avLst>
              <a:gd name="adj" fmla="val 8755"/>
            </a:avLst>
          </a:prstGeom>
          <a:solidFill>
            <a:srgbClr val="FFFFFF"/>
          </a:solidFill>
          <a:ln w="9525">
            <a:solidFill>
              <a:srgbClr val="DFE3EB"/>
            </a:solidFill>
            <a:prstDash val="solid"/>
          </a:ln>
          <a:effectLst>
            <a:outerShdw blurRad="57150" dist="19050" dir="5400000" algn="bl" rotWithShape="0">
              <a:srgbClr val="0F172A">
                <a:alpha val="8000"/>
              </a:srgbClr>
            </a:outerShdw>
          </a:effectLst>
        </p:spPr>
        <p:txBody>
          <a:bodyPr>
            <a:normAutofit/>
          </a:bodyPr>
          <a:lstStyle/>
          <a:p>
            <a:endParaRPr lang="nl-BE">
              <a:latin typeface="Roboto Mono" pitchFamily="49" charset="0"/>
              <a:ea typeface="Roboto Mono" pitchFamily="49" charset="0"/>
            </a:endParaRPr>
          </a:p>
        </p:txBody>
      </p:sp>
      <p:sp>
        <p:nvSpPr>
          <p:cNvPr id="31" name="Text 3">
            <a:extLst>
              <a:ext uri="{FF2B5EF4-FFF2-40B4-BE49-F238E27FC236}">
                <a16:creationId xmlns:a16="http://schemas.microsoft.com/office/drawing/2014/main" id="{8663D68E-52FE-A1C4-96EC-D4E27CA64FAB}"/>
              </a:ext>
            </a:extLst>
          </p:cNvPr>
          <p:cNvSpPr/>
          <p:nvPr/>
        </p:nvSpPr>
        <p:spPr>
          <a:xfrm>
            <a:off x="8845546" y="3626246"/>
            <a:ext cx="2884361" cy="434578"/>
          </a:xfrm>
          <a:prstGeom prst="rect">
            <a:avLst/>
          </a:prstGeom>
          <a:noFill/>
          <a:ln/>
        </p:spPr>
        <p:txBody>
          <a:bodyPr wrap="square" lIns="25400" tIns="25400" rIns="25400" bIns="25400" rtlCol="0" anchor="t">
            <a:normAutofit/>
          </a:bodyPr>
          <a:lstStyle/>
          <a:p>
            <a:pPr marL="0" indent="0" algn="l">
              <a:lnSpc>
                <a:spcPct val="150000"/>
              </a:lnSpc>
              <a:buNone/>
            </a:pPr>
            <a:r>
              <a:rPr lang="en-US" sz="1100" b="1" kern="0" spc="132" dirty="0">
                <a:solidFill>
                  <a:srgbClr val="38B580"/>
                </a:solidFill>
                <a:latin typeface="Roboto Mono" pitchFamily="49" charset="0"/>
                <a:ea typeface="Roboto Mono" pitchFamily="49" charset="0"/>
                <a:cs typeface="Roboto Mono" pitchFamily="34" charset="-120"/>
              </a:rPr>
              <a:t>Transformation</a:t>
            </a:r>
            <a:endParaRPr lang="en-US" sz="825" dirty="0">
              <a:latin typeface="Roboto Mono" pitchFamily="49" charset="0"/>
              <a:ea typeface="Roboto Mono" pitchFamily="49" charset="0"/>
            </a:endParaRPr>
          </a:p>
        </p:txBody>
      </p:sp>
      <p:sp>
        <p:nvSpPr>
          <p:cNvPr id="32" name="Text 4">
            <a:extLst>
              <a:ext uri="{FF2B5EF4-FFF2-40B4-BE49-F238E27FC236}">
                <a16:creationId xmlns:a16="http://schemas.microsoft.com/office/drawing/2014/main" id="{1AFA2AE6-00B3-963F-AFFD-18B0B3DCC6D9}"/>
              </a:ext>
            </a:extLst>
          </p:cNvPr>
          <p:cNvSpPr/>
          <p:nvPr/>
        </p:nvSpPr>
        <p:spPr>
          <a:xfrm>
            <a:off x="8845547" y="3907035"/>
            <a:ext cx="2884361" cy="521494"/>
          </a:xfrm>
          <a:prstGeom prst="rect">
            <a:avLst/>
          </a:prstGeom>
          <a:noFill/>
          <a:ln/>
        </p:spPr>
        <p:txBody>
          <a:bodyPr wrap="square" lIns="25400" tIns="25400" rIns="25400" bIns="25400" rtlCol="0" anchor="t">
            <a:normAutofit/>
          </a:bodyPr>
          <a:lstStyle/>
          <a:p>
            <a:pPr marL="0" indent="0" algn="l">
              <a:lnSpc>
                <a:spcPct val="125000"/>
              </a:lnSpc>
              <a:buNone/>
            </a:pPr>
            <a:r>
              <a:rPr lang="en-US" sz="1575" b="1" kern="0" spc="-16" dirty="0">
                <a:solidFill>
                  <a:srgbClr val="38B580"/>
                </a:solidFill>
                <a:latin typeface="Roboto Mono" pitchFamily="49" charset="0"/>
                <a:ea typeface="Roboto Mono" pitchFamily="49" charset="0"/>
                <a:cs typeface="Roboto Mono" pitchFamily="34" charset="-120"/>
              </a:rPr>
              <a:t>dbt and modular orchestration</a:t>
            </a:r>
            <a:endParaRPr lang="en-US" sz="1575" dirty="0">
              <a:latin typeface="Roboto Mono" pitchFamily="49" charset="0"/>
              <a:ea typeface="Roboto Mono" pitchFamily="49" charset="0"/>
            </a:endParaRPr>
          </a:p>
        </p:txBody>
      </p:sp>
      <p:sp>
        <p:nvSpPr>
          <p:cNvPr id="33" name="Text 5">
            <a:extLst>
              <a:ext uri="{FF2B5EF4-FFF2-40B4-BE49-F238E27FC236}">
                <a16:creationId xmlns:a16="http://schemas.microsoft.com/office/drawing/2014/main" id="{1E05A0FD-FC36-899D-491A-A4E018A27F9A}"/>
              </a:ext>
            </a:extLst>
          </p:cNvPr>
          <p:cNvSpPr/>
          <p:nvPr/>
        </p:nvSpPr>
        <p:spPr>
          <a:xfrm>
            <a:off x="8845548" y="4514333"/>
            <a:ext cx="2884361" cy="1089661"/>
          </a:xfrm>
          <a:prstGeom prst="rect">
            <a:avLst/>
          </a:prstGeom>
          <a:noFill/>
          <a:ln/>
        </p:spPr>
        <p:txBody>
          <a:bodyPr wrap="square" lIns="25400" tIns="25400" rIns="25400" bIns="25400" rtlCol="0" anchor="t">
            <a:normAutofit/>
          </a:bodyPr>
          <a:lstStyle/>
          <a:p>
            <a:pPr marL="0" indent="0" algn="l">
              <a:lnSpc>
                <a:spcPct val="150000"/>
              </a:lnSpc>
              <a:buNone/>
            </a:pPr>
            <a:r>
              <a:rPr lang="en-US" sz="1100" dirty="0">
                <a:solidFill>
                  <a:srgbClr val="4A5160"/>
                </a:solidFill>
                <a:latin typeface="Roboto Mono" pitchFamily="49" charset="0"/>
                <a:ea typeface="Roboto Mono" pitchFamily="49" charset="0"/>
                <a:cs typeface="Roboto Mono" pitchFamily="34" charset="-120"/>
              </a:rPr>
              <a:t>• dbt only does the T in ELT, it never extracts or loads</a:t>
            </a:r>
            <a:endParaRPr lang="en-US" sz="975" dirty="0">
              <a:latin typeface="Roboto Mono" pitchFamily="49" charset="0"/>
              <a:ea typeface="Roboto Mono" pitchFamily="49" charset="0"/>
            </a:endParaRPr>
          </a:p>
          <a:p>
            <a:pPr marL="0" indent="0" algn="l">
              <a:lnSpc>
                <a:spcPct val="150000"/>
              </a:lnSpc>
              <a:buNone/>
            </a:pPr>
            <a:r>
              <a:rPr lang="en-US" sz="1100" dirty="0">
                <a:solidFill>
                  <a:srgbClr val="4A5160"/>
                </a:solidFill>
                <a:latin typeface="Roboto Mono" pitchFamily="49" charset="0"/>
                <a:ea typeface="Roboto Mono" pitchFamily="49" charset="0"/>
                <a:cs typeface="Roboto Mono" pitchFamily="34" charset="-120"/>
              </a:rPr>
              <a:t>• Airflow style DAGs split load from transform</a:t>
            </a:r>
            <a:endParaRPr lang="en-US" sz="975" dirty="0">
              <a:latin typeface="Roboto Mono" pitchFamily="49" charset="0"/>
              <a:ea typeface="Roboto Mono" pitchFamily="49"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609600"/>
            <a:ext cx="10988040" cy="223838"/>
          </a:xfrm>
          <a:prstGeom prst="rect">
            <a:avLst/>
          </a:prstGeom>
          <a:noFill/>
          <a:ln/>
        </p:spPr>
        <p:txBody>
          <a:bodyPr wrap="square" lIns="25400" tIns="25400" rIns="25400" bIns="25400" rtlCol="0" anchor="t">
            <a:normAutofit/>
          </a:bodyPr>
          <a:lstStyle/>
          <a:p>
            <a:pPr>
              <a:lnSpc>
                <a:spcPct val="150000"/>
              </a:lnSpc>
            </a:pPr>
            <a:r>
              <a:rPr lang="en-US" sz="1100" b="1" kern="0" spc="195" dirty="0">
                <a:solidFill>
                  <a:srgbClr val="38B580"/>
                </a:solidFill>
                <a:latin typeface="Roboto Mono" pitchFamily="49" charset="0"/>
                <a:ea typeface="Roboto Mono" pitchFamily="49" charset="0"/>
                <a:cs typeface="Roboto Mono" pitchFamily="34" charset="-120"/>
              </a:rPr>
              <a:t>04 / THE TOOLS</a:t>
            </a:r>
            <a:endParaRPr lang="en-US" sz="975" dirty="0">
              <a:latin typeface="Roboto Mono" pitchFamily="49" charset="0"/>
              <a:ea typeface="Roboto Mono" pitchFamily="49" charset="0"/>
            </a:endParaRPr>
          </a:p>
        </p:txBody>
      </p:sp>
      <p:sp>
        <p:nvSpPr>
          <p:cNvPr id="3" name="Text 1"/>
          <p:cNvSpPr/>
          <p:nvPr/>
        </p:nvSpPr>
        <p:spPr>
          <a:xfrm>
            <a:off x="762000" y="968057"/>
            <a:ext cx="6318123" cy="1703254"/>
          </a:xfrm>
          <a:prstGeom prst="rect">
            <a:avLst/>
          </a:prstGeom>
          <a:noFill/>
          <a:ln/>
        </p:spPr>
        <p:txBody>
          <a:bodyPr wrap="square" lIns="25400" tIns="25400" rIns="25400" bIns="25400" rtlCol="0" anchor="t">
            <a:normAutofit/>
          </a:bodyPr>
          <a:lstStyle/>
          <a:p>
            <a:pPr marL="0" indent="0" algn="l">
              <a:lnSpc>
                <a:spcPct val="115000"/>
              </a:lnSpc>
              <a:buNone/>
            </a:pPr>
            <a:r>
              <a:rPr lang="en-US" sz="2800" b="1" kern="0" spc="-57" dirty="0">
                <a:solidFill>
                  <a:srgbClr val="212121"/>
                </a:solidFill>
                <a:latin typeface="Roboto Mono"/>
                <a:ea typeface="Roboto Mono"/>
                <a:cs typeface="Roboto Mono" pitchFamily="34" charset="-120"/>
              </a:rPr>
              <a:t>Spark vs dbt: an engine and a framework, not two engines</a:t>
            </a:r>
            <a:endParaRPr lang="en-US" sz="2800">
              <a:latin typeface="Roboto Mono"/>
              <a:ea typeface="Roboto Mono"/>
            </a:endParaRPr>
          </a:p>
        </p:txBody>
      </p:sp>
      <p:sp>
        <p:nvSpPr>
          <p:cNvPr id="4" name="Text 2"/>
          <p:cNvSpPr/>
          <p:nvPr/>
        </p:nvSpPr>
        <p:spPr>
          <a:xfrm>
            <a:off x="761999" y="2234431"/>
            <a:ext cx="6095999" cy="873324"/>
          </a:xfrm>
          <a:prstGeom prst="rect">
            <a:avLst/>
          </a:prstGeom>
          <a:noFill/>
          <a:ln/>
        </p:spPr>
        <p:txBody>
          <a:bodyPr wrap="square" lIns="25400" tIns="25400" rIns="25400" bIns="25400" rtlCol="0" anchor="t">
            <a:normAutofit/>
          </a:bodyPr>
          <a:lstStyle/>
          <a:p>
            <a:pPr marL="0" indent="0" algn="l">
              <a:lnSpc>
                <a:spcPct val="160000"/>
              </a:lnSpc>
              <a:buNone/>
            </a:pPr>
            <a:r>
              <a:rPr lang="en-US" sz="1400" dirty="0">
                <a:solidFill>
                  <a:srgbClr val="4A5160"/>
                </a:solidFill>
                <a:latin typeface="Roboto Mono" pitchFamily="49" charset="0"/>
                <a:ea typeface="Roboto Mono" pitchFamily="49" charset="0"/>
                <a:cs typeface="Roboto Mono" pitchFamily="34" charset="-120"/>
              </a:rPr>
              <a:t>dbt has no compute of its own. It compiles SQL and pushes it down to whatever engine you connect.</a:t>
            </a:r>
            <a:endParaRPr lang="en-US" sz="1200" dirty="0">
              <a:latin typeface="Roboto Mono" pitchFamily="49" charset="0"/>
              <a:ea typeface="Roboto Mono" pitchFamily="49" charset="0"/>
            </a:endParaRPr>
          </a:p>
        </p:txBody>
      </p:sp>
      <p:sp>
        <p:nvSpPr>
          <p:cNvPr id="5" name="Shape 3"/>
          <p:cNvSpPr/>
          <p:nvPr/>
        </p:nvSpPr>
        <p:spPr>
          <a:xfrm>
            <a:off x="762000" y="3344292"/>
            <a:ext cx="6096000" cy="9525"/>
          </a:xfrm>
          <a:prstGeom prst="rect">
            <a:avLst/>
          </a:prstGeom>
          <a:solidFill>
            <a:srgbClr val="DFE3EB"/>
          </a:solidFill>
          <a:ln/>
        </p:spPr>
        <p:txBody>
          <a:bodyPr>
            <a:normAutofit/>
          </a:bodyPr>
          <a:lstStyle/>
          <a:p>
            <a:endParaRPr lang="nl-BE">
              <a:latin typeface="Roboto Mono" pitchFamily="49" charset="0"/>
              <a:ea typeface="Roboto Mono" pitchFamily="49" charset="0"/>
            </a:endParaRPr>
          </a:p>
        </p:txBody>
      </p:sp>
      <p:sp>
        <p:nvSpPr>
          <p:cNvPr id="6" name="Text 4"/>
          <p:cNvSpPr/>
          <p:nvPr/>
        </p:nvSpPr>
        <p:spPr>
          <a:xfrm>
            <a:off x="762000" y="3455417"/>
            <a:ext cx="3021711" cy="388937"/>
          </a:xfrm>
          <a:prstGeom prst="rect">
            <a:avLst/>
          </a:prstGeom>
          <a:noFill/>
          <a:ln/>
        </p:spPr>
        <p:txBody>
          <a:bodyPr wrap="square" lIns="25400" tIns="25400" rIns="25400" bIns="25400" rtlCol="0" anchor="t">
            <a:normAutofit/>
          </a:bodyPr>
          <a:lstStyle/>
          <a:p>
            <a:pPr marL="0" indent="0" algn="l">
              <a:lnSpc>
                <a:spcPct val="150000"/>
              </a:lnSpc>
              <a:buNone/>
            </a:pPr>
            <a:r>
              <a:rPr lang="en-US" sz="1100" b="1" kern="0" spc="132" dirty="0">
                <a:solidFill>
                  <a:srgbClr val="167353"/>
                </a:solidFill>
                <a:latin typeface="Roboto Mono" pitchFamily="49" charset="0"/>
                <a:ea typeface="Roboto Mono" pitchFamily="49" charset="0"/>
                <a:cs typeface="Roboto Mono" pitchFamily="34" charset="-120"/>
              </a:rPr>
              <a:t>SPARK</a:t>
            </a:r>
            <a:endParaRPr lang="en-US" sz="825" dirty="0">
              <a:latin typeface="Roboto Mono" pitchFamily="49" charset="0"/>
              <a:ea typeface="Roboto Mono" pitchFamily="49" charset="0"/>
            </a:endParaRPr>
          </a:p>
        </p:txBody>
      </p:sp>
      <p:sp>
        <p:nvSpPr>
          <p:cNvPr id="7" name="Text 5"/>
          <p:cNvSpPr/>
          <p:nvPr/>
        </p:nvSpPr>
        <p:spPr>
          <a:xfrm>
            <a:off x="762000" y="3843718"/>
            <a:ext cx="3052191" cy="3527045"/>
          </a:xfrm>
          <a:prstGeom prst="rect">
            <a:avLst/>
          </a:prstGeom>
          <a:noFill/>
          <a:ln/>
        </p:spPr>
        <p:txBody>
          <a:bodyPr wrap="square" lIns="25400" tIns="25400" rIns="25400" bIns="25400" rtlCol="0" anchor="t">
            <a:normAutofit/>
          </a:bodyPr>
          <a:lstStyle/>
          <a:p>
            <a:pPr marL="0" indent="0" algn="l">
              <a:lnSpc>
                <a:spcPct val="150000"/>
              </a:lnSpc>
              <a:buNone/>
            </a:pPr>
            <a:r>
              <a:rPr lang="en-US" sz="1200" dirty="0">
                <a:solidFill>
                  <a:srgbClr val="4A5160"/>
                </a:solidFill>
                <a:latin typeface="Roboto Mono"/>
                <a:ea typeface="Roboto Mono"/>
                <a:cs typeface="Roboto Mono" pitchFamily="34" charset="-120"/>
              </a:rPr>
              <a:t>• A distributed compute engine, it actually executes the work</a:t>
            </a:r>
            <a:endParaRPr lang="en-US" sz="1200">
              <a:latin typeface="Roboto Mono"/>
              <a:ea typeface="Roboto Mono"/>
            </a:endParaRPr>
          </a:p>
          <a:p>
            <a:pPr marL="0" indent="0" algn="l">
              <a:lnSpc>
                <a:spcPct val="150000"/>
              </a:lnSpc>
              <a:buNone/>
            </a:pPr>
            <a:r>
              <a:rPr lang="en-US" sz="1200" dirty="0">
                <a:solidFill>
                  <a:srgbClr val="4A5160"/>
                </a:solidFill>
                <a:latin typeface="Roboto Mono"/>
                <a:ea typeface="Roboto Mono"/>
                <a:cs typeface="Roboto Mono" pitchFamily="34" charset="-120"/>
              </a:rPr>
              <a:t>• Multi language: data engineering, ML, and streaming at scale</a:t>
            </a:r>
            <a:endParaRPr lang="en-US" sz="1200">
              <a:latin typeface="Roboto Mono"/>
              <a:ea typeface="Roboto Mono"/>
            </a:endParaRPr>
          </a:p>
          <a:p>
            <a:pPr marL="0" indent="0" algn="l">
              <a:lnSpc>
                <a:spcPct val="150000"/>
              </a:lnSpc>
              <a:buNone/>
            </a:pPr>
            <a:r>
              <a:rPr lang="en-US" sz="1200" dirty="0">
                <a:solidFill>
                  <a:srgbClr val="4A5160"/>
                </a:solidFill>
                <a:latin typeface="Roboto Mono"/>
                <a:ea typeface="Roboto Mono"/>
                <a:cs typeface="Roboto Mono" pitchFamily="34" charset="-120"/>
              </a:rPr>
              <a:t>• Runs as AWS EMR, Databricks all purpose clusters, or Azure Synapse Spark pools</a:t>
            </a:r>
            <a:endParaRPr lang="en-US" sz="1200">
              <a:latin typeface="Roboto Mono"/>
              <a:ea typeface="Roboto Mono"/>
            </a:endParaRPr>
          </a:p>
        </p:txBody>
      </p:sp>
      <p:sp>
        <p:nvSpPr>
          <p:cNvPr id="8" name="Text 6"/>
          <p:cNvSpPr/>
          <p:nvPr/>
        </p:nvSpPr>
        <p:spPr>
          <a:xfrm>
            <a:off x="3924300" y="3455417"/>
            <a:ext cx="3021711" cy="388937"/>
          </a:xfrm>
          <a:prstGeom prst="rect">
            <a:avLst/>
          </a:prstGeom>
          <a:noFill/>
          <a:ln/>
        </p:spPr>
        <p:txBody>
          <a:bodyPr wrap="square" lIns="25400" tIns="25400" rIns="25400" bIns="25400" rtlCol="0" anchor="t">
            <a:normAutofit/>
          </a:bodyPr>
          <a:lstStyle/>
          <a:p>
            <a:pPr marL="0" indent="0" algn="l">
              <a:lnSpc>
                <a:spcPct val="150000"/>
              </a:lnSpc>
              <a:buNone/>
            </a:pPr>
            <a:r>
              <a:rPr lang="en-US" sz="1100" b="1" kern="0" spc="132" dirty="0">
                <a:solidFill>
                  <a:srgbClr val="167353"/>
                </a:solidFill>
                <a:latin typeface="Roboto Mono" pitchFamily="49" charset="0"/>
                <a:ea typeface="Roboto Mono" pitchFamily="49" charset="0"/>
                <a:cs typeface="Roboto Mono" pitchFamily="34" charset="-120"/>
              </a:rPr>
              <a:t>DBT</a:t>
            </a:r>
            <a:endParaRPr lang="en-US" sz="825" dirty="0">
              <a:latin typeface="Roboto Mono" pitchFamily="49" charset="0"/>
              <a:ea typeface="Roboto Mono" pitchFamily="49" charset="0"/>
            </a:endParaRPr>
          </a:p>
        </p:txBody>
      </p:sp>
      <p:sp>
        <p:nvSpPr>
          <p:cNvPr id="9" name="Text 7"/>
          <p:cNvSpPr/>
          <p:nvPr/>
        </p:nvSpPr>
        <p:spPr>
          <a:xfrm>
            <a:off x="3924300" y="3853878"/>
            <a:ext cx="3021711" cy="1942085"/>
          </a:xfrm>
          <a:prstGeom prst="rect">
            <a:avLst/>
          </a:prstGeom>
          <a:noFill/>
          <a:ln/>
        </p:spPr>
        <p:txBody>
          <a:bodyPr wrap="square" lIns="25400" tIns="25400" rIns="25400" bIns="25400" rtlCol="0" anchor="t">
            <a:normAutofit/>
          </a:bodyPr>
          <a:lstStyle/>
          <a:p>
            <a:pPr marL="0" indent="0" algn="l">
              <a:lnSpc>
                <a:spcPct val="150000"/>
              </a:lnSpc>
              <a:buNone/>
            </a:pPr>
            <a:r>
              <a:rPr lang="en-US" sz="1200" dirty="0">
                <a:solidFill>
                  <a:srgbClr val="4A5160"/>
                </a:solidFill>
                <a:latin typeface="Roboto Mono"/>
                <a:ea typeface="Roboto Mono"/>
                <a:cs typeface="Roboto Mono" pitchFamily="34" charset="-120"/>
              </a:rPr>
              <a:t>• A SQL transformation framework with no query engine of its own</a:t>
            </a:r>
            <a:endParaRPr lang="en-US" sz="1200">
              <a:latin typeface="Roboto Mono"/>
              <a:ea typeface="Roboto Mono"/>
            </a:endParaRPr>
          </a:p>
          <a:p>
            <a:pPr marL="0" indent="0" algn="l">
              <a:lnSpc>
                <a:spcPct val="150000"/>
              </a:lnSpc>
              <a:buNone/>
            </a:pPr>
            <a:r>
              <a:rPr lang="en-US" sz="1200" dirty="0">
                <a:solidFill>
                  <a:srgbClr val="4A5160"/>
                </a:solidFill>
                <a:latin typeface="Roboto Mono"/>
                <a:ea typeface="Roboto Mono"/>
                <a:cs typeface="Roboto Mono" pitchFamily="34" charset="-120"/>
              </a:rPr>
              <a:t>• dbt-databricks pushes down to Spark and Photon, dbt-postgres to Postgres, same dbt code either way</a:t>
            </a:r>
            <a:endParaRPr lang="en-US" sz="1200">
              <a:latin typeface="Roboto Mono"/>
              <a:ea typeface="Roboto Mono"/>
            </a:endParaRPr>
          </a:p>
        </p:txBody>
      </p:sp>
      <p:sp>
        <p:nvSpPr>
          <p:cNvPr id="10" name="Shape 8"/>
          <p:cNvSpPr/>
          <p:nvPr/>
        </p:nvSpPr>
        <p:spPr>
          <a:xfrm>
            <a:off x="7429500" y="947737"/>
            <a:ext cx="4000500" cy="3086100"/>
          </a:xfrm>
          <a:prstGeom prst="roundRect">
            <a:avLst>
              <a:gd name="adj" fmla="val 4938"/>
            </a:avLst>
          </a:prstGeom>
          <a:solidFill>
            <a:srgbClr val="EEF0F4"/>
          </a:solidFill>
          <a:ln w="19050">
            <a:solidFill>
              <a:srgbClr val="C4CAD7"/>
            </a:solidFill>
            <a:prstDash val="dash"/>
          </a:ln>
        </p:spPr>
        <p:txBody>
          <a:bodyPr>
            <a:normAutofit/>
          </a:bodyPr>
          <a:lstStyle/>
          <a:p>
            <a:endParaRPr lang="nl-BE">
              <a:latin typeface="Roboto Mono" pitchFamily="49" charset="0"/>
              <a:ea typeface="Roboto Mono" pitchFamily="49" charset="0"/>
            </a:endParaRPr>
          </a:p>
        </p:txBody>
      </p:sp>
      <p:sp>
        <p:nvSpPr>
          <p:cNvPr id="12" name="Text 10"/>
          <p:cNvSpPr/>
          <p:nvPr/>
        </p:nvSpPr>
        <p:spPr>
          <a:xfrm>
            <a:off x="7429500" y="4167188"/>
            <a:ext cx="4120515" cy="506412"/>
          </a:xfrm>
          <a:prstGeom prst="rect">
            <a:avLst/>
          </a:prstGeom>
          <a:noFill/>
          <a:ln/>
        </p:spPr>
        <p:txBody>
          <a:bodyPr wrap="square" lIns="25400" tIns="25400" rIns="25400" bIns="25400" rtlCol="0" anchor="t">
            <a:normAutofit/>
          </a:bodyPr>
          <a:lstStyle/>
          <a:p>
            <a:pPr marL="0" indent="0" algn="l">
              <a:lnSpc>
                <a:spcPct val="150000"/>
              </a:lnSpc>
              <a:buNone/>
            </a:pPr>
            <a:r>
              <a:rPr lang="en-US" sz="1400" b="1" dirty="0">
                <a:solidFill>
                  <a:srgbClr val="212121"/>
                </a:solidFill>
                <a:latin typeface="Roboto Mono" pitchFamily="49" charset="0"/>
                <a:ea typeface="Roboto Mono" pitchFamily="49" charset="0"/>
                <a:cs typeface="Roboto Mono" pitchFamily="34" charset="-120"/>
              </a:rPr>
              <a:t>RULE OF THUMB</a:t>
            </a:r>
            <a:endParaRPr lang="en-US" sz="1200" dirty="0">
              <a:latin typeface="Roboto Mono" pitchFamily="49" charset="0"/>
              <a:ea typeface="Roboto Mono" pitchFamily="49" charset="0"/>
            </a:endParaRPr>
          </a:p>
        </p:txBody>
      </p:sp>
      <p:sp>
        <p:nvSpPr>
          <p:cNvPr id="13" name="Text 11"/>
          <p:cNvSpPr/>
          <p:nvPr/>
        </p:nvSpPr>
        <p:spPr>
          <a:xfrm>
            <a:off x="7429499" y="4550567"/>
            <a:ext cx="4120515" cy="1245395"/>
          </a:xfrm>
          <a:prstGeom prst="rect">
            <a:avLst/>
          </a:prstGeom>
          <a:noFill/>
          <a:ln/>
        </p:spPr>
        <p:txBody>
          <a:bodyPr wrap="square" lIns="25400" tIns="25400" rIns="25400" bIns="25400" rtlCol="0" anchor="t">
            <a:normAutofit/>
          </a:bodyPr>
          <a:lstStyle/>
          <a:p>
            <a:pPr marL="0" indent="0" algn="l">
              <a:lnSpc>
                <a:spcPct val="150000"/>
              </a:lnSpc>
              <a:buNone/>
            </a:pPr>
            <a:r>
              <a:rPr lang="en-US" sz="1200" dirty="0">
                <a:solidFill>
                  <a:srgbClr val="6B7285"/>
                </a:solidFill>
                <a:latin typeface="Roboto Mono" pitchFamily="49" charset="0"/>
                <a:ea typeface="Roboto Mono" pitchFamily="49" charset="0"/>
                <a:cs typeface="Roboto Mono" pitchFamily="34" charset="-120"/>
              </a:rPr>
              <a:t>• On Databricks, dbt IS Spark underneath, the adapter just decides how the SQL gets submitted</a:t>
            </a:r>
            <a:endParaRPr lang="en-US" sz="1000" dirty="0">
              <a:latin typeface="Roboto Mono" pitchFamily="49" charset="0"/>
              <a:ea typeface="Roboto Mono" pitchFamily="49" charset="0"/>
            </a:endParaRPr>
          </a:p>
        </p:txBody>
      </p:sp>
      <p:pic>
        <p:nvPicPr>
          <p:cNvPr id="14" name="Image 0" descr="preencoded.png"/>
          <p:cNvPicPr>
            <a:picLocks noChangeAspect="1"/>
          </p:cNvPicPr>
          <p:nvPr/>
        </p:nvPicPr>
        <p:blipFill>
          <a:blip r:embed="rId3"/>
          <a:stretch>
            <a:fillRect/>
          </a:stretch>
        </p:blipFill>
        <p:spPr>
          <a:xfrm>
            <a:off x="762000" y="6286500"/>
            <a:ext cx="663327" cy="266700"/>
          </a:xfrm>
          <a:prstGeom prst="rect">
            <a:avLst/>
          </a:prstGeom>
        </p:spPr>
      </p:pic>
      <p:pic>
        <p:nvPicPr>
          <p:cNvPr id="15" name="Picture 14" descr="slide-08-diagram.png"/>
          <p:cNvPicPr>
            <a:picLocks noChangeAspect="1"/>
          </p:cNvPicPr>
          <p:nvPr/>
        </p:nvPicPr>
        <p:blipFill>
          <a:blip r:embed="rId4"/>
          <a:stretch>
            <a:fillRect/>
          </a:stretch>
        </p:blipFill>
        <p:spPr>
          <a:xfrm>
            <a:off x="7388543" y="966787"/>
            <a:ext cx="4082415" cy="30861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 0" descr="preencoded.png">
            <a:extLst>
              <a:ext uri="{FF2B5EF4-FFF2-40B4-BE49-F238E27FC236}">
                <a16:creationId xmlns:a16="http://schemas.microsoft.com/office/drawing/2014/main" id="{9A34F6CB-53F6-84F0-04B2-1FD1D4BEED32}"/>
              </a:ext>
            </a:extLst>
          </p:cNvPr>
          <p:cNvPicPr>
            <a:picLocks noChangeAspect="1"/>
          </p:cNvPicPr>
          <p:nvPr/>
        </p:nvPicPr>
        <p:blipFill>
          <a:blip r:embed="rId2"/>
          <a:stretch>
            <a:fillRect/>
          </a:stretch>
        </p:blipFill>
        <p:spPr>
          <a:xfrm>
            <a:off x="762000" y="6286500"/>
            <a:ext cx="680145" cy="266700"/>
          </a:xfrm>
          <a:prstGeom prst="rect">
            <a:avLst/>
          </a:prstGeom>
        </p:spPr>
      </p:pic>
      <p:sp>
        <p:nvSpPr>
          <p:cNvPr id="7" name="Text 4">
            <a:extLst>
              <a:ext uri="{FF2B5EF4-FFF2-40B4-BE49-F238E27FC236}">
                <a16:creationId xmlns:a16="http://schemas.microsoft.com/office/drawing/2014/main" id="{1BC43F04-7B4F-8031-A65D-ECD0A1F80826}"/>
              </a:ext>
            </a:extLst>
          </p:cNvPr>
          <p:cNvSpPr/>
          <p:nvPr/>
        </p:nvSpPr>
        <p:spPr>
          <a:xfrm>
            <a:off x="762000" y="2442754"/>
            <a:ext cx="10203180" cy="3331029"/>
          </a:xfrm>
          <a:prstGeom prst="rect">
            <a:avLst/>
          </a:prstGeom>
          <a:noFill/>
          <a:ln/>
        </p:spPr>
        <p:txBody>
          <a:bodyPr wrap="square" lIns="25400" tIns="25400" rIns="25400" bIns="25400" rtlCol="0" anchor="ctr">
            <a:normAutofit/>
          </a:bodyPr>
          <a:lstStyle/>
          <a:p>
            <a:pPr marL="0" marR="0" lvl="0" indent="0" algn="l" defTabSz="914400" rtl="0" eaLnBrk="1" fontAlgn="auto" latinLnBrk="0" hangingPunct="1">
              <a:lnSpc>
                <a:spcPct val="112000"/>
              </a:lnSpc>
              <a:spcBef>
                <a:spcPts val="0"/>
              </a:spcBef>
              <a:spcAft>
                <a:spcPts val="0"/>
              </a:spcAft>
              <a:buClrTx/>
              <a:buSzTx/>
              <a:buFontTx/>
              <a:buNone/>
              <a:tabLst/>
              <a:defRPr>
                <a:latin typeface="Roboto Mono"/>
              </a:defRPr>
            </a:pPr>
            <a:r>
              <a:rPr kumimoji="0" lang="en-US" sz="4200" b="1" i="0" u="none" strike="noStrike" kern="0" cap="none" spc="-92" normalizeH="0" baseline="0" noProof="0" dirty="0">
                <a:ln>
                  <a:noFill/>
                </a:ln>
                <a:solidFill>
                  <a:srgbClr val="FFFFFF"/>
                </a:solidFill>
                <a:effectLst/>
                <a:uLnTx/>
                <a:uFillTx/>
                <a:latin typeface="Roboto Mono" pitchFamily="49" charset="0"/>
                <a:ea typeface="Roboto Mono" pitchFamily="49" charset="0"/>
                <a:cs typeface="Roboto Mono" pitchFamily="34" charset="-120"/>
              </a:rPr>
              <a:t>ELT became possible once storage and compute stopped sharing a single bill.</a:t>
            </a:r>
            <a:endParaRPr kumimoji="0" lang="en-US" sz="4200"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1" name="Image 0" descr="preencoded.png"/>
          <p:cNvPicPr>
            <a:picLocks noChangeAspect="1"/>
          </p:cNvPicPr>
          <p:nvPr/>
        </p:nvPicPr>
        <p:blipFill>
          <a:blip r:embed="rId2"/>
          <a:stretch>
            <a:fillRect/>
          </a:stretch>
        </p:blipFill>
        <p:spPr>
          <a:xfrm>
            <a:off x="762000" y="6286500"/>
            <a:ext cx="663327" cy="266700"/>
          </a:xfrm>
          <a:prstGeom prst="rect">
            <a:avLst/>
          </a:prstGeom>
        </p:spPr>
      </p:pic>
      <p:sp>
        <p:nvSpPr>
          <p:cNvPr id="32" name="TextBox 31"/>
          <p:cNvSpPr txBox="1"/>
          <p:nvPr/>
        </p:nvSpPr>
        <p:spPr>
          <a:xfrm>
            <a:off x="457200" y="310896"/>
            <a:ext cx="6400800" cy="274320"/>
          </a:xfrm>
          <a:prstGeom prst="rect">
            <a:avLst/>
          </a:prstGeom>
          <a:noFill/>
        </p:spPr>
        <p:txBody>
          <a:bodyPr wrap="square">
            <a:normAutofit/>
          </a:bodyPr>
          <a:lstStyle/>
          <a:p>
            <a:pPr algn="l"/>
            <a:r>
              <a:rPr sz="1100" b="1">
                <a:solidFill>
                  <a:srgbClr val="38B580"/>
                </a:solidFill>
                <a:latin typeface="Roboto Mono" pitchFamily="49" charset="0"/>
                <a:ea typeface="Roboto Mono" pitchFamily="49" charset="0"/>
                <a:cs typeface="Roboto Mono" pitchFamily="49" charset="0"/>
              </a:rPr>
              <a:t>EXCEPTIONS, NOT DEFAULTS</a:t>
            </a:r>
          </a:p>
        </p:txBody>
      </p:sp>
      <p:grpSp>
        <p:nvGrpSpPr>
          <p:cNvPr id="2" name="Group 1">
            <a:extLst>
              <a:ext uri="{FF2B5EF4-FFF2-40B4-BE49-F238E27FC236}">
                <a16:creationId xmlns:a16="http://schemas.microsoft.com/office/drawing/2014/main" id="{106E7178-F40A-C63F-51F7-56E65CCDD796}"/>
              </a:ext>
            </a:extLst>
          </p:cNvPr>
          <p:cNvGrpSpPr/>
          <p:nvPr/>
        </p:nvGrpSpPr>
        <p:grpSpPr>
          <a:xfrm>
            <a:off x="2021840" y="1410208"/>
            <a:ext cx="8138160" cy="4043680"/>
            <a:chOff x="1808480" y="1288288"/>
            <a:chExt cx="8138160" cy="4043680"/>
          </a:xfrm>
        </p:grpSpPr>
        <p:sp>
          <p:nvSpPr>
            <p:cNvPr id="33" name="TextBox 32"/>
            <p:cNvSpPr txBox="1"/>
            <p:nvPr/>
          </p:nvSpPr>
          <p:spPr>
            <a:xfrm>
              <a:off x="4185920" y="1288288"/>
              <a:ext cx="3434079" cy="731520"/>
            </a:xfrm>
            <a:prstGeom prst="rect">
              <a:avLst/>
            </a:prstGeom>
            <a:noFill/>
          </p:spPr>
          <p:txBody>
            <a:bodyPr wrap="square">
              <a:normAutofit/>
            </a:bodyPr>
            <a:lstStyle/>
            <a:p>
              <a:pPr algn="l"/>
              <a:r>
                <a:rPr sz="2200" b="1">
                  <a:solidFill>
                    <a:srgbClr val="212121"/>
                  </a:solidFill>
                  <a:latin typeface="Roboto Mono" pitchFamily="49" charset="0"/>
                  <a:ea typeface="Roboto Mono" pitchFamily="49" charset="0"/>
                  <a:cs typeface="Roboto Mono" pitchFamily="49" charset="0"/>
                </a:rPr>
                <a:t>When ETL still wins</a:t>
              </a:r>
            </a:p>
          </p:txBody>
        </p:sp>
        <p:sp>
          <p:nvSpPr>
            <p:cNvPr id="34" name="Rectangle 33"/>
            <p:cNvSpPr/>
            <p:nvPr/>
          </p:nvSpPr>
          <p:spPr>
            <a:xfrm>
              <a:off x="1808480" y="2250440"/>
              <a:ext cx="2651760" cy="64008"/>
            </a:xfrm>
            <a:prstGeom prst="rect">
              <a:avLst/>
            </a:prstGeom>
            <a:solidFill>
              <a:srgbClr val="D95F3B"/>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35" name="Rectangle 34"/>
            <p:cNvSpPr/>
            <p:nvPr/>
          </p:nvSpPr>
          <p:spPr>
            <a:xfrm>
              <a:off x="1808480" y="2314448"/>
              <a:ext cx="2651760" cy="14173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36" name="TextBox 35"/>
            <p:cNvSpPr txBox="1"/>
            <p:nvPr/>
          </p:nvSpPr>
          <p:spPr>
            <a:xfrm>
              <a:off x="1973072" y="2396744"/>
              <a:ext cx="2377440" cy="201168"/>
            </a:xfrm>
            <a:prstGeom prst="rect">
              <a:avLst/>
            </a:prstGeom>
            <a:noFill/>
          </p:spPr>
          <p:txBody>
            <a:bodyPr wrap="square">
              <a:normAutofit/>
            </a:bodyPr>
            <a:lstStyle/>
            <a:p>
              <a:pPr algn="l"/>
              <a:r>
                <a:rPr sz="900" b="1">
                  <a:solidFill>
                    <a:srgbClr val="64748B"/>
                  </a:solidFill>
                  <a:latin typeface="Roboto Mono" pitchFamily="49" charset="0"/>
                  <a:ea typeface="Roboto Mono" pitchFamily="49" charset="0"/>
                  <a:cs typeface="Roboto Mono" pitchFamily="49" charset="0"/>
                </a:rPr>
                <a:t>COMPLIANCE</a:t>
              </a:r>
            </a:p>
          </p:txBody>
        </p:sp>
        <p:sp>
          <p:nvSpPr>
            <p:cNvPr id="37" name="TextBox 36"/>
            <p:cNvSpPr txBox="1"/>
            <p:nvPr/>
          </p:nvSpPr>
          <p:spPr>
            <a:xfrm>
              <a:off x="1973072" y="2597912"/>
              <a:ext cx="2377440" cy="420624"/>
            </a:xfrm>
            <a:prstGeom prst="rect">
              <a:avLst/>
            </a:prstGeom>
            <a:noFill/>
          </p:spPr>
          <p:txBody>
            <a:bodyPr wrap="square">
              <a:normAutofit/>
            </a:bodyPr>
            <a:lstStyle/>
            <a:p>
              <a:pPr algn="l"/>
              <a:r>
                <a:rPr sz="1200" b="1">
                  <a:solidFill>
                    <a:srgbClr val="D95F3B"/>
                  </a:solidFill>
                  <a:latin typeface="Roboto Mono" pitchFamily="49" charset="0"/>
                  <a:ea typeface="Roboto Mono" pitchFamily="49" charset="0"/>
                  <a:cs typeface="Roboto Mono" pitchFamily="49" charset="0"/>
                </a:rPr>
                <a:t>Mask before it lands</a:t>
              </a:r>
            </a:p>
          </p:txBody>
        </p:sp>
        <p:sp>
          <p:nvSpPr>
            <p:cNvPr id="38" name="TextBox 37"/>
            <p:cNvSpPr txBox="1"/>
            <p:nvPr/>
          </p:nvSpPr>
          <p:spPr>
            <a:xfrm>
              <a:off x="1973072" y="3018536"/>
              <a:ext cx="2377440" cy="621792"/>
            </a:xfrm>
            <a:prstGeom prst="rect">
              <a:avLst/>
            </a:prstGeom>
            <a:noFill/>
          </p:spPr>
          <p:txBody>
            <a:bodyPr wrap="square">
              <a:normAutofit/>
            </a:bodyPr>
            <a:lstStyle/>
            <a:p>
              <a:pPr algn="l"/>
              <a:r>
                <a:rPr sz="900" b="0">
                  <a:solidFill>
                    <a:srgbClr val="64748B"/>
                  </a:solidFill>
                  <a:latin typeface="Roboto Mono" pitchFamily="49" charset="0"/>
                  <a:ea typeface="Roboto Mono" pitchFamily="49" charset="0"/>
                  <a:cs typeface="Roboto Mono" pitchFamily="49" charset="0"/>
                </a:rPr>
                <a:t>- Sensitive fields cannot land unmasked</a:t>
              </a:r>
            </a:p>
            <a:p>
              <a:pPr algn="l"/>
              <a:r>
                <a:rPr sz="900" b="0">
                  <a:solidFill>
                    <a:srgbClr val="64748B"/>
                  </a:solidFill>
                  <a:latin typeface="Roboto Mono" pitchFamily="49" charset="0"/>
                  <a:ea typeface="Roboto Mono" pitchFamily="49" charset="0"/>
                  <a:cs typeface="Roboto Mono" pitchFamily="49" charset="0"/>
                </a:rPr>
                <a:t>- Healthcare, finance, and residency rules apply</a:t>
              </a:r>
            </a:p>
          </p:txBody>
        </p:sp>
        <p:sp>
          <p:nvSpPr>
            <p:cNvPr id="39" name="Rectangle 38"/>
            <p:cNvSpPr/>
            <p:nvPr/>
          </p:nvSpPr>
          <p:spPr>
            <a:xfrm>
              <a:off x="4551680" y="2250440"/>
              <a:ext cx="2651760" cy="64008"/>
            </a:xfrm>
            <a:prstGeom prst="rect">
              <a:avLst/>
            </a:prstGeom>
            <a:solidFill>
              <a:srgbClr val="D95F3B"/>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40" name="Rectangle 39"/>
            <p:cNvSpPr/>
            <p:nvPr/>
          </p:nvSpPr>
          <p:spPr>
            <a:xfrm>
              <a:off x="4551680" y="2314448"/>
              <a:ext cx="2651760" cy="14173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41" name="TextBox 40"/>
            <p:cNvSpPr txBox="1"/>
            <p:nvPr/>
          </p:nvSpPr>
          <p:spPr>
            <a:xfrm>
              <a:off x="4716272" y="2396744"/>
              <a:ext cx="2377440" cy="201168"/>
            </a:xfrm>
            <a:prstGeom prst="rect">
              <a:avLst/>
            </a:prstGeom>
            <a:noFill/>
          </p:spPr>
          <p:txBody>
            <a:bodyPr wrap="square">
              <a:normAutofit/>
            </a:bodyPr>
            <a:lstStyle/>
            <a:p>
              <a:pPr algn="l"/>
              <a:r>
                <a:rPr sz="900" b="1">
                  <a:solidFill>
                    <a:srgbClr val="64748B"/>
                  </a:solidFill>
                  <a:latin typeface="Roboto Mono" pitchFamily="49" charset="0"/>
                  <a:ea typeface="Roboto Mono" pitchFamily="49" charset="0"/>
                  <a:cs typeface="Roboto Mono" pitchFamily="49" charset="0"/>
                </a:rPr>
                <a:t>STREAMING</a:t>
              </a:r>
            </a:p>
          </p:txBody>
        </p:sp>
        <p:sp>
          <p:nvSpPr>
            <p:cNvPr id="42" name="TextBox 41"/>
            <p:cNvSpPr txBox="1"/>
            <p:nvPr/>
          </p:nvSpPr>
          <p:spPr>
            <a:xfrm>
              <a:off x="4716272" y="2597912"/>
              <a:ext cx="2377440" cy="420624"/>
            </a:xfrm>
            <a:prstGeom prst="rect">
              <a:avLst/>
            </a:prstGeom>
            <a:noFill/>
          </p:spPr>
          <p:txBody>
            <a:bodyPr wrap="square">
              <a:normAutofit/>
            </a:bodyPr>
            <a:lstStyle/>
            <a:p>
              <a:pPr algn="l"/>
              <a:r>
                <a:rPr sz="1200" b="1">
                  <a:solidFill>
                    <a:srgbClr val="D95F3B"/>
                  </a:solidFill>
                  <a:latin typeface="Roboto Mono" pitchFamily="49" charset="0"/>
                  <a:ea typeface="Roboto Mono" pitchFamily="49" charset="0"/>
                  <a:cs typeface="Roboto Mono" pitchFamily="49" charset="0"/>
                </a:rPr>
                <a:t>Real time decisions</a:t>
              </a:r>
            </a:p>
          </p:txBody>
        </p:sp>
        <p:sp>
          <p:nvSpPr>
            <p:cNvPr id="43" name="TextBox 42"/>
            <p:cNvSpPr txBox="1"/>
            <p:nvPr/>
          </p:nvSpPr>
          <p:spPr>
            <a:xfrm>
              <a:off x="4716272" y="3018536"/>
              <a:ext cx="2377440" cy="621792"/>
            </a:xfrm>
            <a:prstGeom prst="rect">
              <a:avLst/>
            </a:prstGeom>
            <a:noFill/>
          </p:spPr>
          <p:txBody>
            <a:bodyPr wrap="square">
              <a:normAutofit/>
            </a:bodyPr>
            <a:lstStyle/>
            <a:p>
              <a:pPr algn="l"/>
              <a:r>
                <a:rPr sz="900" b="0">
                  <a:solidFill>
                    <a:srgbClr val="64748B"/>
                  </a:solidFill>
                  <a:latin typeface="Roboto Mono" pitchFamily="49" charset="0"/>
                  <a:ea typeface="Roboto Mono" pitchFamily="49" charset="0"/>
                  <a:cs typeface="Roboto Mono" pitchFamily="49" charset="0"/>
                </a:rPr>
                <a:t>- Fraud and IoT need in flight transforms</a:t>
              </a:r>
            </a:p>
            <a:p>
              <a:pPr algn="l"/>
              <a:r>
                <a:rPr sz="900" b="0">
                  <a:solidFill>
                    <a:srgbClr val="64748B"/>
                  </a:solidFill>
                  <a:latin typeface="Roboto Mono" pitchFamily="49" charset="0"/>
                  <a:ea typeface="Roboto Mono" pitchFamily="49" charset="0"/>
                  <a:cs typeface="Roboto Mono" pitchFamily="49" charset="0"/>
                </a:rPr>
                <a:t>- The decision window is too short to wait</a:t>
              </a:r>
            </a:p>
          </p:txBody>
        </p:sp>
        <p:sp>
          <p:nvSpPr>
            <p:cNvPr id="44" name="Rectangle 43"/>
            <p:cNvSpPr/>
            <p:nvPr/>
          </p:nvSpPr>
          <p:spPr>
            <a:xfrm>
              <a:off x="7294880" y="2250440"/>
              <a:ext cx="2651760" cy="64008"/>
            </a:xfrm>
            <a:prstGeom prst="rect">
              <a:avLst/>
            </a:prstGeom>
            <a:solidFill>
              <a:srgbClr val="D95F3B"/>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45" name="Rectangle 44"/>
            <p:cNvSpPr/>
            <p:nvPr/>
          </p:nvSpPr>
          <p:spPr>
            <a:xfrm>
              <a:off x="7294880" y="2314448"/>
              <a:ext cx="2651760" cy="14173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46" name="TextBox 45"/>
            <p:cNvSpPr txBox="1"/>
            <p:nvPr/>
          </p:nvSpPr>
          <p:spPr>
            <a:xfrm>
              <a:off x="7459472" y="2396744"/>
              <a:ext cx="2377440" cy="201168"/>
            </a:xfrm>
            <a:prstGeom prst="rect">
              <a:avLst/>
            </a:prstGeom>
            <a:noFill/>
          </p:spPr>
          <p:txBody>
            <a:bodyPr wrap="square">
              <a:normAutofit/>
            </a:bodyPr>
            <a:lstStyle/>
            <a:p>
              <a:pPr algn="l"/>
              <a:r>
                <a:rPr sz="900" b="1">
                  <a:solidFill>
                    <a:srgbClr val="64748B"/>
                  </a:solidFill>
                  <a:latin typeface="Roboto Mono" pitchFamily="49" charset="0"/>
                  <a:ea typeface="Roboto Mono" pitchFamily="49" charset="0"/>
                  <a:cs typeface="Roboto Mono" pitchFamily="49" charset="0"/>
                </a:rPr>
                <a:t>DESTINATION</a:t>
              </a:r>
            </a:p>
          </p:txBody>
        </p:sp>
        <p:sp>
          <p:nvSpPr>
            <p:cNvPr id="47" name="TextBox 46"/>
            <p:cNvSpPr txBox="1"/>
            <p:nvPr/>
          </p:nvSpPr>
          <p:spPr>
            <a:xfrm>
              <a:off x="7459472" y="2597912"/>
              <a:ext cx="2377440" cy="420624"/>
            </a:xfrm>
            <a:prstGeom prst="rect">
              <a:avLst/>
            </a:prstGeom>
            <a:noFill/>
          </p:spPr>
          <p:txBody>
            <a:bodyPr wrap="square">
              <a:normAutofit/>
            </a:bodyPr>
            <a:lstStyle/>
            <a:p>
              <a:pPr algn="l"/>
              <a:r>
                <a:rPr sz="1200" b="1">
                  <a:solidFill>
                    <a:srgbClr val="D95F3B"/>
                  </a:solidFill>
                  <a:latin typeface="Roboto Mono" pitchFamily="49" charset="0"/>
                  <a:ea typeface="Roboto Mono" pitchFamily="49" charset="0"/>
                  <a:cs typeface="Roboto Mono" pitchFamily="49" charset="0"/>
                </a:rPr>
                <a:t>Not every target is a warehouse</a:t>
              </a:r>
            </a:p>
          </p:txBody>
        </p:sp>
        <p:sp>
          <p:nvSpPr>
            <p:cNvPr id="48" name="TextBox 47"/>
            <p:cNvSpPr txBox="1"/>
            <p:nvPr/>
          </p:nvSpPr>
          <p:spPr>
            <a:xfrm>
              <a:off x="7459472" y="3018536"/>
              <a:ext cx="2377440" cy="621792"/>
            </a:xfrm>
            <a:prstGeom prst="rect">
              <a:avLst/>
            </a:prstGeom>
            <a:noFill/>
          </p:spPr>
          <p:txBody>
            <a:bodyPr wrap="square">
              <a:normAutofit/>
            </a:bodyPr>
            <a:lstStyle/>
            <a:p>
              <a:pPr algn="l"/>
              <a:r>
                <a:rPr sz="900" b="0">
                  <a:solidFill>
                    <a:srgbClr val="64748B"/>
                  </a:solidFill>
                  <a:latin typeface="Roboto Mono" pitchFamily="49" charset="0"/>
                  <a:ea typeface="Roboto Mono" pitchFamily="49" charset="0"/>
                  <a:cs typeface="Roboto Mono" pitchFamily="49" charset="0"/>
                </a:rPr>
                <a:t>- Operational systems expect already shaped records</a:t>
              </a:r>
            </a:p>
          </p:txBody>
        </p:sp>
        <p:sp>
          <p:nvSpPr>
            <p:cNvPr id="49" name="Rectangle 48"/>
            <p:cNvSpPr/>
            <p:nvPr/>
          </p:nvSpPr>
          <p:spPr>
            <a:xfrm>
              <a:off x="1808480" y="3850640"/>
              <a:ext cx="2651760" cy="64008"/>
            </a:xfrm>
            <a:prstGeom prst="rect">
              <a:avLst/>
            </a:prstGeom>
            <a:solidFill>
              <a:srgbClr val="D95F3B"/>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50" name="Rectangle 49"/>
            <p:cNvSpPr/>
            <p:nvPr/>
          </p:nvSpPr>
          <p:spPr>
            <a:xfrm>
              <a:off x="1808480" y="3914648"/>
              <a:ext cx="2651760" cy="14173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51" name="TextBox 50"/>
            <p:cNvSpPr txBox="1"/>
            <p:nvPr/>
          </p:nvSpPr>
          <p:spPr>
            <a:xfrm>
              <a:off x="1973072" y="3996944"/>
              <a:ext cx="2377440" cy="201168"/>
            </a:xfrm>
            <a:prstGeom prst="rect">
              <a:avLst/>
            </a:prstGeom>
            <a:noFill/>
          </p:spPr>
          <p:txBody>
            <a:bodyPr wrap="square">
              <a:normAutofit/>
            </a:bodyPr>
            <a:lstStyle/>
            <a:p>
              <a:pPr algn="l"/>
              <a:r>
                <a:rPr sz="900" b="1">
                  <a:solidFill>
                    <a:srgbClr val="64748B"/>
                  </a:solidFill>
                  <a:latin typeface="Roboto Mono" pitchFamily="49" charset="0"/>
                  <a:ea typeface="Roboto Mono" pitchFamily="49" charset="0"/>
                  <a:cs typeface="Roboto Mono" pitchFamily="49" charset="0"/>
                </a:rPr>
                <a:t>CONSTRAINTS</a:t>
              </a:r>
            </a:p>
          </p:txBody>
        </p:sp>
        <p:sp>
          <p:nvSpPr>
            <p:cNvPr id="52" name="TextBox 51"/>
            <p:cNvSpPr txBox="1"/>
            <p:nvPr/>
          </p:nvSpPr>
          <p:spPr>
            <a:xfrm>
              <a:off x="1973072" y="4198112"/>
              <a:ext cx="2377440" cy="420624"/>
            </a:xfrm>
            <a:prstGeom prst="rect">
              <a:avLst/>
            </a:prstGeom>
            <a:noFill/>
          </p:spPr>
          <p:txBody>
            <a:bodyPr wrap="square">
              <a:normAutofit/>
            </a:bodyPr>
            <a:lstStyle/>
            <a:p>
              <a:pPr algn="l"/>
              <a:r>
                <a:rPr sz="1200" b="1">
                  <a:solidFill>
                    <a:srgbClr val="D95F3B"/>
                  </a:solidFill>
                  <a:latin typeface="Roboto Mono" pitchFamily="49" charset="0"/>
                  <a:ea typeface="Roboto Mono" pitchFamily="49" charset="0"/>
                  <a:cs typeface="Roboto Mono" pitchFamily="49" charset="0"/>
                </a:rPr>
                <a:t>Edge and bandwidth limits</a:t>
              </a:r>
            </a:p>
          </p:txBody>
        </p:sp>
        <p:sp>
          <p:nvSpPr>
            <p:cNvPr id="53" name="TextBox 52"/>
            <p:cNvSpPr txBox="1"/>
            <p:nvPr/>
          </p:nvSpPr>
          <p:spPr>
            <a:xfrm>
              <a:off x="1973072" y="4618736"/>
              <a:ext cx="2377440" cy="621792"/>
            </a:xfrm>
            <a:prstGeom prst="rect">
              <a:avLst/>
            </a:prstGeom>
            <a:noFill/>
          </p:spPr>
          <p:txBody>
            <a:bodyPr wrap="square">
              <a:normAutofit/>
            </a:bodyPr>
            <a:lstStyle/>
            <a:p>
              <a:pPr algn="l"/>
              <a:r>
                <a:rPr sz="900" b="0">
                  <a:solidFill>
                    <a:srgbClr val="64748B"/>
                  </a:solidFill>
                  <a:latin typeface="Roboto Mono" pitchFamily="49" charset="0"/>
                  <a:ea typeface="Roboto Mono" pitchFamily="49" charset="0"/>
                  <a:cs typeface="Roboto Mono" pitchFamily="49" charset="0"/>
                </a:rPr>
                <a:t>- Filtering before transport reduces what moves</a:t>
              </a:r>
            </a:p>
            <a:p>
              <a:pPr algn="l"/>
              <a:r>
                <a:rPr sz="900" b="0">
                  <a:solidFill>
                    <a:srgbClr val="64748B"/>
                  </a:solidFill>
                  <a:latin typeface="Roboto Mono" pitchFamily="49" charset="0"/>
                  <a:ea typeface="Roboto Mono" pitchFamily="49" charset="0"/>
                  <a:cs typeface="Roboto Mono" pitchFamily="49" charset="0"/>
                </a:rPr>
                <a:t>- Storage limits still exist outside the cloud</a:t>
              </a:r>
            </a:p>
          </p:txBody>
        </p:sp>
        <p:sp>
          <p:nvSpPr>
            <p:cNvPr id="54" name="Rectangle 53"/>
            <p:cNvSpPr/>
            <p:nvPr/>
          </p:nvSpPr>
          <p:spPr>
            <a:xfrm>
              <a:off x="4551680" y="3850640"/>
              <a:ext cx="2651760" cy="64008"/>
            </a:xfrm>
            <a:prstGeom prst="rect">
              <a:avLst/>
            </a:prstGeom>
            <a:solidFill>
              <a:srgbClr val="D95F3B"/>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55" name="Rectangle 54"/>
            <p:cNvSpPr/>
            <p:nvPr/>
          </p:nvSpPr>
          <p:spPr>
            <a:xfrm>
              <a:off x="4551680" y="3914648"/>
              <a:ext cx="2651760" cy="14173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56" name="TextBox 55"/>
            <p:cNvSpPr txBox="1"/>
            <p:nvPr/>
          </p:nvSpPr>
          <p:spPr>
            <a:xfrm>
              <a:off x="4716272" y="3996944"/>
              <a:ext cx="2377440" cy="201168"/>
            </a:xfrm>
            <a:prstGeom prst="rect">
              <a:avLst/>
            </a:prstGeom>
            <a:noFill/>
          </p:spPr>
          <p:txBody>
            <a:bodyPr wrap="square">
              <a:normAutofit/>
            </a:bodyPr>
            <a:lstStyle/>
            <a:p>
              <a:pPr algn="l"/>
              <a:r>
                <a:rPr sz="900" b="1">
                  <a:solidFill>
                    <a:srgbClr val="64748B"/>
                  </a:solidFill>
                  <a:latin typeface="Roboto Mono" pitchFamily="49" charset="0"/>
                  <a:ea typeface="Roboto Mono" pitchFamily="49" charset="0"/>
                  <a:cs typeface="Roboto Mono" pitchFamily="49" charset="0"/>
                </a:rPr>
                <a:t>MINIMIZATION</a:t>
              </a:r>
            </a:p>
          </p:txBody>
        </p:sp>
        <p:sp>
          <p:nvSpPr>
            <p:cNvPr id="57" name="TextBox 56"/>
            <p:cNvSpPr txBox="1"/>
            <p:nvPr/>
          </p:nvSpPr>
          <p:spPr>
            <a:xfrm>
              <a:off x="4716272" y="4198112"/>
              <a:ext cx="2377440" cy="420624"/>
            </a:xfrm>
            <a:prstGeom prst="rect">
              <a:avLst/>
            </a:prstGeom>
            <a:noFill/>
          </p:spPr>
          <p:txBody>
            <a:bodyPr wrap="square">
              <a:normAutofit/>
            </a:bodyPr>
            <a:lstStyle/>
            <a:p>
              <a:pPr algn="l"/>
              <a:r>
                <a:rPr sz="1200" b="1">
                  <a:solidFill>
                    <a:srgbClr val="D95F3B"/>
                  </a:solidFill>
                  <a:latin typeface="Roboto Mono" pitchFamily="49" charset="0"/>
                  <a:ea typeface="Roboto Mono" pitchFamily="49" charset="0"/>
                  <a:cs typeface="Roboto Mono" pitchFamily="49" charset="0"/>
                </a:rPr>
                <a:t>Nothing to mask if never collected</a:t>
              </a:r>
            </a:p>
          </p:txBody>
        </p:sp>
        <p:sp>
          <p:nvSpPr>
            <p:cNvPr id="58" name="TextBox 57"/>
            <p:cNvSpPr txBox="1"/>
            <p:nvPr/>
          </p:nvSpPr>
          <p:spPr>
            <a:xfrm>
              <a:off x="4716272" y="4618736"/>
              <a:ext cx="2377440" cy="621792"/>
            </a:xfrm>
            <a:prstGeom prst="rect">
              <a:avLst/>
            </a:prstGeom>
            <a:noFill/>
          </p:spPr>
          <p:txBody>
            <a:bodyPr wrap="square">
              <a:normAutofit/>
            </a:bodyPr>
            <a:lstStyle/>
            <a:p>
              <a:pPr algn="l"/>
              <a:r>
                <a:rPr sz="900" b="0">
                  <a:solidFill>
                    <a:srgbClr val="64748B"/>
                  </a:solidFill>
                  <a:latin typeface="Roboto Mono" pitchFamily="49" charset="0"/>
                  <a:ea typeface="Roboto Mono" pitchFamily="49" charset="0"/>
                  <a:cs typeface="Roboto Mono" pitchFamily="49" charset="0"/>
                </a:rPr>
                <a:t>- GDPR and CCPA can require dropping fields pre storage</a:t>
              </a:r>
            </a:p>
            <a:p>
              <a:pPr algn="l"/>
              <a:r>
                <a:rPr sz="900" b="0">
                  <a:solidFill>
                    <a:srgbClr val="64748B"/>
                  </a:solidFill>
                  <a:latin typeface="Roboto Mono" pitchFamily="49" charset="0"/>
                  <a:ea typeface="Roboto Mono" pitchFamily="49" charset="0"/>
                  <a:cs typeface="Roboto Mono" pitchFamily="49" charset="0"/>
                </a:rPr>
                <a:t>- Minimization is a design constraint, not a preference</a:t>
              </a:r>
            </a:p>
          </p:txBody>
        </p:sp>
        <p:sp>
          <p:nvSpPr>
            <p:cNvPr id="59" name="Rectangle 58"/>
            <p:cNvSpPr/>
            <p:nvPr/>
          </p:nvSpPr>
          <p:spPr>
            <a:xfrm>
              <a:off x="7294880" y="3850640"/>
              <a:ext cx="2651760" cy="64008"/>
            </a:xfrm>
            <a:prstGeom prst="rect">
              <a:avLst/>
            </a:prstGeom>
            <a:solidFill>
              <a:srgbClr val="D95F3B"/>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60" name="Rectangle 59"/>
            <p:cNvSpPr/>
            <p:nvPr/>
          </p:nvSpPr>
          <p:spPr>
            <a:xfrm>
              <a:off x="7294880" y="3914648"/>
              <a:ext cx="2651760" cy="14173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61" name="TextBox 60"/>
            <p:cNvSpPr txBox="1"/>
            <p:nvPr/>
          </p:nvSpPr>
          <p:spPr>
            <a:xfrm>
              <a:off x="7459472" y="3996944"/>
              <a:ext cx="2377440" cy="201168"/>
            </a:xfrm>
            <a:prstGeom prst="rect">
              <a:avLst/>
            </a:prstGeom>
            <a:noFill/>
          </p:spPr>
          <p:txBody>
            <a:bodyPr wrap="square">
              <a:normAutofit/>
            </a:bodyPr>
            <a:lstStyle/>
            <a:p>
              <a:pPr algn="l"/>
              <a:r>
                <a:rPr sz="900" b="1">
                  <a:solidFill>
                    <a:srgbClr val="64748B"/>
                  </a:solidFill>
                  <a:latin typeface="Roboto Mono" pitchFamily="49" charset="0"/>
                  <a:ea typeface="Roboto Mono" pitchFamily="49" charset="0"/>
                  <a:cs typeface="Roboto Mono" pitchFamily="49" charset="0"/>
                </a:rPr>
                <a:t>INTERCHANGE</a:t>
              </a:r>
            </a:p>
          </p:txBody>
        </p:sp>
        <p:sp>
          <p:nvSpPr>
            <p:cNvPr id="62" name="TextBox 61"/>
            <p:cNvSpPr txBox="1"/>
            <p:nvPr/>
          </p:nvSpPr>
          <p:spPr>
            <a:xfrm>
              <a:off x="7459472" y="4198112"/>
              <a:ext cx="2377440" cy="420624"/>
            </a:xfrm>
            <a:prstGeom prst="rect">
              <a:avLst/>
            </a:prstGeom>
            <a:noFill/>
          </p:spPr>
          <p:txBody>
            <a:bodyPr wrap="square">
              <a:normAutofit/>
            </a:bodyPr>
            <a:lstStyle/>
            <a:p>
              <a:pPr algn="l"/>
              <a:r>
                <a:rPr sz="1200" b="1">
                  <a:solidFill>
                    <a:srgbClr val="D95F3B"/>
                  </a:solidFill>
                  <a:latin typeface="Roboto Mono" pitchFamily="49" charset="0"/>
                  <a:ea typeface="Roboto Mono" pitchFamily="49" charset="0"/>
                  <a:cs typeface="Roboto Mono" pitchFamily="49" charset="0"/>
                </a:rPr>
                <a:t>Partners still expect flat files</a:t>
              </a:r>
            </a:p>
          </p:txBody>
        </p:sp>
        <p:sp>
          <p:nvSpPr>
            <p:cNvPr id="63" name="TextBox 62"/>
            <p:cNvSpPr txBox="1"/>
            <p:nvPr/>
          </p:nvSpPr>
          <p:spPr>
            <a:xfrm>
              <a:off x="7459472" y="4618736"/>
              <a:ext cx="2377440" cy="621792"/>
            </a:xfrm>
            <a:prstGeom prst="rect">
              <a:avLst/>
            </a:prstGeom>
            <a:noFill/>
          </p:spPr>
          <p:txBody>
            <a:bodyPr wrap="square">
              <a:normAutofit/>
            </a:bodyPr>
            <a:lstStyle/>
            <a:p>
              <a:pPr algn="l"/>
              <a:r>
                <a:rPr sz="900" b="0">
                  <a:solidFill>
                    <a:srgbClr val="64748B"/>
                  </a:solidFill>
                  <a:latin typeface="Roboto Mono" pitchFamily="49" charset="0"/>
                  <a:ea typeface="Roboto Mono" pitchFamily="49" charset="0"/>
                  <a:cs typeface="Roboto Mono" pitchFamily="49" charset="0"/>
                </a:rPr>
                <a:t>- Mainframes and EDI feeds expect fixed format extracts</a:t>
              </a:r>
            </a:p>
            <a:p>
              <a:pPr algn="l"/>
              <a:r>
                <a:rPr sz="900" b="0">
                  <a:solidFill>
                    <a:srgbClr val="64748B"/>
                  </a:solidFill>
                  <a:latin typeface="Roboto Mono" pitchFamily="49" charset="0"/>
                  <a:ea typeface="Roboto Mono" pitchFamily="49" charset="0"/>
                  <a:cs typeface="Roboto Mono" pitchFamily="49" charset="0"/>
                </a:rPr>
                <a:t>- The lakehouse is not always the last mile</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05137" y="1224404"/>
            <a:ext cx="4711630" cy="2217876"/>
          </a:xfrm>
          <a:prstGeom prst="rect">
            <a:avLst/>
          </a:prstGeom>
          <a:noFill/>
          <a:ln/>
        </p:spPr>
        <p:txBody>
          <a:bodyPr wrap="square" lIns="25400" tIns="25400" rIns="25400" bIns="25400" rtlCol="0" anchor="t">
            <a:normAutofit/>
          </a:bodyPr>
          <a:lstStyle/>
          <a:p>
            <a:pPr marL="0" indent="0" algn="l">
              <a:lnSpc>
                <a:spcPct val="105000"/>
              </a:lnSpc>
              <a:buNone/>
            </a:pPr>
            <a:r>
              <a:rPr lang="en-US" sz="3200" b="1" kern="0" spc="-78" dirty="0">
                <a:solidFill>
                  <a:srgbClr val="212121"/>
                </a:solidFill>
                <a:latin typeface="Roboto Mono"/>
                <a:ea typeface="Roboto Mono"/>
                <a:cs typeface="Roboto Mono" pitchFamily="34" charset="-120"/>
              </a:rPr>
              <a:t>A real OMOP pipeline: why this one runs ETL, not ELT</a:t>
            </a:r>
            <a:endParaRPr lang="en-US" sz="3200">
              <a:latin typeface="Roboto Mono"/>
              <a:ea typeface="Roboto Mono"/>
            </a:endParaRPr>
          </a:p>
        </p:txBody>
      </p:sp>
      <p:sp>
        <p:nvSpPr>
          <p:cNvPr id="5" name="Text 3"/>
          <p:cNvSpPr/>
          <p:nvPr/>
        </p:nvSpPr>
        <p:spPr>
          <a:xfrm>
            <a:off x="6201220" y="947737"/>
            <a:ext cx="5385642" cy="540990"/>
          </a:xfrm>
          <a:prstGeom prst="rect">
            <a:avLst/>
          </a:prstGeom>
          <a:noFill/>
          <a:ln/>
        </p:spPr>
        <p:txBody>
          <a:bodyPr wrap="square" lIns="25400" tIns="25400" rIns="25400" bIns="25400" rtlCol="0" anchor="t">
            <a:normAutofit/>
          </a:bodyPr>
          <a:lstStyle/>
          <a:p>
            <a:pPr marL="0" indent="0" algn="l">
              <a:lnSpc>
                <a:spcPct val="120000"/>
              </a:lnSpc>
              <a:buNone/>
            </a:pPr>
            <a:r>
              <a:rPr lang="en-US" sz="1600" b="1" kern="0" spc="-25" dirty="0">
                <a:solidFill>
                  <a:srgbClr val="212121"/>
                </a:solidFill>
                <a:latin typeface="Roboto Mono" pitchFamily="49" charset="0"/>
                <a:ea typeface="Roboto Mono" pitchFamily="49" charset="0"/>
                <a:cs typeface="Roboto Mono" pitchFamily="34" charset="-120"/>
              </a:rPr>
              <a:t>Data can't land unmapped</a:t>
            </a:r>
          </a:p>
          <a:p>
            <a:pPr marL="0" indent="0" algn="l">
              <a:lnSpc>
                <a:spcPct val="120000"/>
              </a:lnSpc>
              <a:buNone/>
            </a:pPr>
            <a:endParaRPr lang="en-US" sz="1600" dirty="0">
              <a:latin typeface="Roboto Mono" pitchFamily="49" charset="0"/>
              <a:ea typeface="Roboto Mono" pitchFamily="49" charset="0"/>
            </a:endParaRPr>
          </a:p>
        </p:txBody>
      </p:sp>
      <p:pic>
        <p:nvPicPr>
          <p:cNvPr id="13" name="Image 0" descr="preencoded.png"/>
          <p:cNvPicPr>
            <a:picLocks noChangeAspect="1"/>
          </p:cNvPicPr>
          <p:nvPr/>
        </p:nvPicPr>
        <p:blipFill>
          <a:blip r:embed="rId3"/>
          <a:stretch>
            <a:fillRect/>
          </a:stretch>
        </p:blipFill>
        <p:spPr>
          <a:xfrm>
            <a:off x="762000" y="6286500"/>
            <a:ext cx="663327" cy="266700"/>
          </a:xfrm>
          <a:prstGeom prst="rect">
            <a:avLst/>
          </a:prstGeom>
        </p:spPr>
      </p:pic>
      <p:sp>
        <p:nvSpPr>
          <p:cNvPr id="15" name="Shape 2">
            <a:extLst>
              <a:ext uri="{FF2B5EF4-FFF2-40B4-BE49-F238E27FC236}">
                <a16:creationId xmlns:a16="http://schemas.microsoft.com/office/drawing/2014/main" id="{0498CF6E-45E0-F201-CE17-85512B9E0CBB}"/>
              </a:ext>
            </a:extLst>
          </p:cNvPr>
          <p:cNvSpPr/>
          <p:nvPr/>
        </p:nvSpPr>
        <p:spPr>
          <a:xfrm>
            <a:off x="6201220" y="2680218"/>
            <a:ext cx="5385641" cy="18000"/>
          </a:xfrm>
          <a:prstGeom prst="rect">
            <a:avLst/>
          </a:prstGeom>
          <a:solidFill>
            <a:srgbClr val="37B680"/>
          </a:solidFill>
          <a:ln/>
        </p:spPr>
        <p:txBody>
          <a:bodyPr>
            <a:normAutofit/>
          </a:bodyPr>
          <a:lstStyle/>
          <a:p>
            <a:endParaRPr lang="nl-BE">
              <a:latin typeface="Roboto Mono" pitchFamily="49" charset="0"/>
              <a:ea typeface="Roboto Mono" pitchFamily="49" charset="0"/>
            </a:endParaRPr>
          </a:p>
        </p:txBody>
      </p:sp>
      <p:sp>
        <p:nvSpPr>
          <p:cNvPr id="16" name="Text 5">
            <a:extLst>
              <a:ext uri="{FF2B5EF4-FFF2-40B4-BE49-F238E27FC236}">
                <a16:creationId xmlns:a16="http://schemas.microsoft.com/office/drawing/2014/main" id="{04A38B64-58A8-AE8F-FD4A-0FDF071FA68C}"/>
              </a:ext>
            </a:extLst>
          </p:cNvPr>
          <p:cNvSpPr/>
          <p:nvPr/>
        </p:nvSpPr>
        <p:spPr>
          <a:xfrm>
            <a:off x="6201220" y="1583977"/>
            <a:ext cx="5385640" cy="1013222"/>
          </a:xfrm>
          <a:prstGeom prst="rect">
            <a:avLst/>
          </a:prstGeom>
          <a:noFill/>
          <a:ln/>
        </p:spPr>
        <p:txBody>
          <a:bodyPr wrap="square" lIns="25400" tIns="25400" rIns="25400" bIns="25400" rtlCol="0" anchor="t">
            <a:normAutofit/>
          </a:bodyPr>
          <a:lstStyle/>
          <a:p>
            <a:pPr marL="0" indent="0" algn="l">
              <a:lnSpc>
                <a:spcPct val="160000"/>
              </a:lnSpc>
              <a:buNone/>
            </a:pPr>
            <a:r>
              <a:rPr lang="en-US" sz="1100" dirty="0">
                <a:solidFill>
                  <a:srgbClr val="4A5160"/>
                </a:solidFill>
                <a:latin typeface="Roboto Mono" pitchFamily="49" charset="0"/>
                <a:ea typeface="Roboto Mono" pitchFamily="49" charset="0"/>
                <a:cs typeface="Roboto Mono" pitchFamily="34" charset="-120"/>
              </a:rPr>
              <a:t>• Hourly and daily batches arrive on a dedicated, secured on prem box, nothing routes through an open lake first</a:t>
            </a:r>
          </a:p>
          <a:p>
            <a:pPr marL="0" indent="0" algn="l">
              <a:lnSpc>
                <a:spcPct val="160000"/>
              </a:lnSpc>
              <a:buNone/>
            </a:pPr>
            <a:r>
              <a:rPr lang="en-US" sz="1100" dirty="0">
                <a:solidFill>
                  <a:srgbClr val="4A5160"/>
                </a:solidFill>
                <a:latin typeface="Roboto Mono" pitchFamily="49" charset="0"/>
                <a:ea typeface="Roboto Mono" pitchFamily="49" charset="0"/>
                <a:cs typeface="Roboto Mono" pitchFamily="34" charset="-120"/>
              </a:rPr>
              <a:t>• The regulatory constraints on this data mean transformation has to happen before anything is persisted</a:t>
            </a:r>
          </a:p>
        </p:txBody>
      </p:sp>
      <p:sp>
        <p:nvSpPr>
          <p:cNvPr id="17" name="Text 3">
            <a:extLst>
              <a:ext uri="{FF2B5EF4-FFF2-40B4-BE49-F238E27FC236}">
                <a16:creationId xmlns:a16="http://schemas.microsoft.com/office/drawing/2014/main" id="{8FC96430-0C51-9552-5DCD-9B756DE66047}"/>
              </a:ext>
            </a:extLst>
          </p:cNvPr>
          <p:cNvSpPr/>
          <p:nvPr/>
        </p:nvSpPr>
        <p:spPr>
          <a:xfrm>
            <a:off x="6201220" y="2893495"/>
            <a:ext cx="5385642" cy="540990"/>
          </a:xfrm>
          <a:prstGeom prst="rect">
            <a:avLst/>
          </a:prstGeom>
          <a:noFill/>
          <a:ln/>
        </p:spPr>
        <p:txBody>
          <a:bodyPr wrap="square" lIns="25400" tIns="25400" rIns="25400" bIns="25400" rtlCol="0" anchor="t">
            <a:normAutofit/>
          </a:bodyPr>
          <a:lstStyle/>
          <a:p>
            <a:pPr marL="0" indent="0" algn="l">
              <a:lnSpc>
                <a:spcPct val="120000"/>
              </a:lnSpc>
              <a:buNone/>
            </a:pPr>
            <a:r>
              <a:rPr lang="en-US" sz="1600" b="1" kern="0" spc="-25" dirty="0">
                <a:solidFill>
                  <a:srgbClr val="212121"/>
                </a:solidFill>
                <a:latin typeface="Roboto Mono" pitchFamily="49" charset="0"/>
                <a:ea typeface="Roboto Mono" pitchFamily="49" charset="0"/>
                <a:cs typeface="Roboto Mono" pitchFamily="34" charset="-120"/>
              </a:rPr>
              <a:t>Spark runs inside the perimeter</a:t>
            </a:r>
          </a:p>
          <a:p>
            <a:pPr marL="0" indent="0" algn="l">
              <a:lnSpc>
                <a:spcPct val="120000"/>
              </a:lnSpc>
              <a:buNone/>
            </a:pPr>
            <a:endParaRPr lang="en-US" sz="1600" dirty="0">
              <a:latin typeface="Roboto Mono" pitchFamily="49" charset="0"/>
              <a:ea typeface="Roboto Mono" pitchFamily="49" charset="0"/>
            </a:endParaRPr>
          </a:p>
        </p:txBody>
      </p:sp>
      <p:sp>
        <p:nvSpPr>
          <p:cNvPr id="18" name="Shape 2">
            <a:extLst>
              <a:ext uri="{FF2B5EF4-FFF2-40B4-BE49-F238E27FC236}">
                <a16:creationId xmlns:a16="http://schemas.microsoft.com/office/drawing/2014/main" id="{19D3917F-A992-6DB2-D275-712CD6E60E28}"/>
              </a:ext>
            </a:extLst>
          </p:cNvPr>
          <p:cNvSpPr/>
          <p:nvPr/>
        </p:nvSpPr>
        <p:spPr>
          <a:xfrm>
            <a:off x="6201220" y="4625976"/>
            <a:ext cx="5385641" cy="18000"/>
          </a:xfrm>
          <a:prstGeom prst="rect">
            <a:avLst/>
          </a:prstGeom>
          <a:solidFill>
            <a:srgbClr val="37B680"/>
          </a:solidFill>
          <a:ln/>
        </p:spPr>
        <p:txBody>
          <a:bodyPr>
            <a:normAutofit/>
          </a:bodyPr>
          <a:lstStyle/>
          <a:p>
            <a:endParaRPr lang="nl-BE">
              <a:latin typeface="Roboto Mono" pitchFamily="49" charset="0"/>
              <a:ea typeface="Roboto Mono" pitchFamily="49" charset="0"/>
            </a:endParaRPr>
          </a:p>
        </p:txBody>
      </p:sp>
      <p:sp>
        <p:nvSpPr>
          <p:cNvPr id="19" name="Text 5">
            <a:extLst>
              <a:ext uri="{FF2B5EF4-FFF2-40B4-BE49-F238E27FC236}">
                <a16:creationId xmlns:a16="http://schemas.microsoft.com/office/drawing/2014/main" id="{CE8E97FA-3206-CE52-F4B2-F1A0E55B263F}"/>
              </a:ext>
            </a:extLst>
          </p:cNvPr>
          <p:cNvSpPr/>
          <p:nvPr/>
        </p:nvSpPr>
        <p:spPr>
          <a:xfrm>
            <a:off x="6201220" y="3529735"/>
            <a:ext cx="5385640" cy="1013222"/>
          </a:xfrm>
          <a:prstGeom prst="rect">
            <a:avLst/>
          </a:prstGeom>
          <a:noFill/>
          <a:ln/>
        </p:spPr>
        <p:txBody>
          <a:bodyPr wrap="square" lIns="25400" tIns="25400" rIns="25400" bIns="25400" rtlCol="0" anchor="t">
            <a:normAutofit/>
          </a:bodyPr>
          <a:lstStyle/>
          <a:p>
            <a:pPr marL="0" indent="0" algn="l">
              <a:lnSpc>
                <a:spcPct val="160000"/>
              </a:lnSpc>
              <a:buNone/>
            </a:pPr>
            <a:r>
              <a:rPr lang="en-US" sz="1100" dirty="0">
                <a:solidFill>
                  <a:srgbClr val="4A5160"/>
                </a:solidFill>
                <a:latin typeface="Roboto Mono" pitchFamily="49" charset="0"/>
                <a:ea typeface="Roboto Mono" pitchFamily="49" charset="0"/>
                <a:cs typeface="Roboto Mono" pitchFamily="34" charset="-120"/>
              </a:rPr>
              <a:t>• A k3s cluster running the Kubeflow Spark Operator does the concept mapping in place, as data arrives</a:t>
            </a:r>
          </a:p>
          <a:p>
            <a:pPr marL="0" indent="0" algn="l">
              <a:lnSpc>
                <a:spcPct val="160000"/>
              </a:lnSpc>
              <a:buNone/>
            </a:pPr>
            <a:r>
              <a:rPr lang="en-US" sz="1100" dirty="0">
                <a:solidFill>
                  <a:srgbClr val="4A5160"/>
                </a:solidFill>
                <a:latin typeface="Roboto Mono" pitchFamily="49" charset="0"/>
                <a:ea typeface="Roboto Mono" pitchFamily="49" charset="0"/>
                <a:cs typeface="Roboto Mono" pitchFamily="34" charset="-120"/>
              </a:rPr>
              <a:t>• Spark earns its place here: it scales the mapping step, not the ingestion or the load</a:t>
            </a:r>
          </a:p>
        </p:txBody>
      </p:sp>
      <p:sp>
        <p:nvSpPr>
          <p:cNvPr id="20" name="Text 3">
            <a:extLst>
              <a:ext uri="{FF2B5EF4-FFF2-40B4-BE49-F238E27FC236}">
                <a16:creationId xmlns:a16="http://schemas.microsoft.com/office/drawing/2014/main" id="{8510FD2C-CD45-F0EC-35A8-2674BD0406FD}"/>
              </a:ext>
            </a:extLst>
          </p:cNvPr>
          <p:cNvSpPr/>
          <p:nvPr/>
        </p:nvSpPr>
        <p:spPr>
          <a:xfrm>
            <a:off x="6201220" y="4786090"/>
            <a:ext cx="5385642" cy="540990"/>
          </a:xfrm>
          <a:prstGeom prst="rect">
            <a:avLst/>
          </a:prstGeom>
          <a:noFill/>
          <a:ln/>
        </p:spPr>
        <p:txBody>
          <a:bodyPr wrap="square" lIns="25400" tIns="25400" rIns="25400" bIns="25400" rtlCol="0" anchor="t">
            <a:normAutofit/>
          </a:bodyPr>
          <a:lstStyle/>
          <a:p>
            <a:pPr marL="0" indent="0" algn="l">
              <a:lnSpc>
                <a:spcPct val="120000"/>
              </a:lnSpc>
              <a:buNone/>
            </a:pPr>
            <a:r>
              <a:rPr lang="en-US" sz="1600" b="1" kern="0" spc="-25" dirty="0">
                <a:solidFill>
                  <a:srgbClr val="212121"/>
                </a:solidFill>
                <a:latin typeface="Roboto Mono" pitchFamily="49" charset="0"/>
                <a:ea typeface="Roboto Mono" pitchFamily="49" charset="0"/>
                <a:cs typeface="Roboto Mono" pitchFamily="34" charset="-120"/>
              </a:rPr>
              <a:t>Delta Lake absorbs corrections cheaply</a:t>
            </a:r>
          </a:p>
          <a:p>
            <a:pPr marL="0" indent="0" algn="l">
              <a:lnSpc>
                <a:spcPct val="120000"/>
              </a:lnSpc>
              <a:buNone/>
            </a:pPr>
            <a:endParaRPr lang="en-US" sz="1600" dirty="0">
              <a:latin typeface="Roboto Mono" pitchFamily="49" charset="0"/>
              <a:ea typeface="Roboto Mono" pitchFamily="49" charset="0"/>
            </a:endParaRPr>
          </a:p>
        </p:txBody>
      </p:sp>
      <p:sp>
        <p:nvSpPr>
          <p:cNvPr id="21" name="Text 5">
            <a:extLst>
              <a:ext uri="{FF2B5EF4-FFF2-40B4-BE49-F238E27FC236}">
                <a16:creationId xmlns:a16="http://schemas.microsoft.com/office/drawing/2014/main" id="{1C9F6F06-B271-C500-D454-277DD386F7F6}"/>
              </a:ext>
            </a:extLst>
          </p:cNvPr>
          <p:cNvSpPr/>
          <p:nvPr/>
        </p:nvSpPr>
        <p:spPr>
          <a:xfrm>
            <a:off x="6201220" y="5422330"/>
            <a:ext cx="5385640" cy="1013222"/>
          </a:xfrm>
          <a:prstGeom prst="rect">
            <a:avLst/>
          </a:prstGeom>
          <a:noFill/>
          <a:ln/>
        </p:spPr>
        <p:txBody>
          <a:bodyPr wrap="square" lIns="25400" tIns="25400" rIns="25400" bIns="25400" rtlCol="0" anchor="t">
            <a:normAutofit/>
          </a:bodyPr>
          <a:lstStyle/>
          <a:p>
            <a:pPr marL="0" indent="0" algn="l">
              <a:lnSpc>
                <a:spcPct val="160000"/>
              </a:lnSpc>
              <a:buNone/>
            </a:pPr>
            <a:r>
              <a:rPr lang="en-US" sz="1100" dirty="0">
                <a:solidFill>
                  <a:srgbClr val="4A5160"/>
                </a:solidFill>
                <a:latin typeface="Roboto Mono" pitchFamily="49" charset="0"/>
                <a:ea typeface="Roboto Mono" pitchFamily="49" charset="0"/>
                <a:cs typeface="Roboto Mono" pitchFamily="34" charset="-120"/>
              </a:rPr>
              <a:t>• Mapped records upsert and delete straight into Delta Lake tables with MERGE</a:t>
            </a:r>
          </a:p>
          <a:p>
            <a:pPr marL="0" indent="0" algn="l">
              <a:lnSpc>
                <a:spcPct val="160000"/>
              </a:lnSpc>
              <a:buNone/>
            </a:pPr>
            <a:r>
              <a:rPr lang="en-US" sz="1100" dirty="0">
                <a:solidFill>
                  <a:srgbClr val="4A5160"/>
                </a:solidFill>
                <a:latin typeface="Roboto Mono" pitchFamily="49" charset="0"/>
                <a:ea typeface="Roboto Mono" pitchFamily="49" charset="0"/>
                <a:cs typeface="Roboto Mono" pitchFamily="34" charset="-120"/>
              </a:rPr>
              <a:t>• A correction to one mapping means updating rows, not reprocessing the whole table</a:t>
            </a:r>
          </a:p>
        </p:txBody>
      </p:sp>
      <p:sp>
        <p:nvSpPr>
          <p:cNvPr id="4" name="Text 0">
            <a:extLst>
              <a:ext uri="{FF2B5EF4-FFF2-40B4-BE49-F238E27FC236}">
                <a16:creationId xmlns:a16="http://schemas.microsoft.com/office/drawing/2014/main" id="{5E243160-D091-20C2-CD14-7F672DD41E9C}"/>
              </a:ext>
            </a:extLst>
          </p:cNvPr>
          <p:cNvSpPr/>
          <p:nvPr/>
        </p:nvSpPr>
        <p:spPr>
          <a:xfrm>
            <a:off x="762000" y="609600"/>
            <a:ext cx="10988040" cy="223838"/>
          </a:xfrm>
          <a:prstGeom prst="rect">
            <a:avLst/>
          </a:prstGeom>
          <a:noFill/>
          <a:ln/>
        </p:spPr>
        <p:txBody>
          <a:bodyPr wrap="square" lIns="25400" tIns="25400" rIns="25400" bIns="25400" rtlCol="0" anchor="t">
            <a:normAutofit/>
          </a:bodyPr>
          <a:lstStyle/>
          <a:p>
            <a:pPr>
              <a:lnSpc>
                <a:spcPct val="150000"/>
              </a:lnSpc>
            </a:pPr>
            <a:r>
              <a:rPr lang="en-US" sz="1100" b="1" kern="0" spc="195" dirty="0">
                <a:solidFill>
                  <a:srgbClr val="38B580"/>
                </a:solidFill>
                <a:latin typeface="Roboto Mono" pitchFamily="49" charset="0"/>
                <a:ea typeface="Roboto Mono" pitchFamily="49" charset="0"/>
                <a:cs typeface="Roboto Mono" pitchFamily="34" charset="-120"/>
              </a:rPr>
              <a:t>SPOTLIGHT · FROM MY OWN WORK</a:t>
            </a:r>
            <a:endParaRPr lang="en-US" sz="975" dirty="0">
              <a:latin typeface="Roboto Mono" pitchFamily="49" charset="0"/>
              <a:ea typeface="Roboto Mono" pitchFamily="49" charset="0"/>
            </a:endParaRPr>
          </a:p>
        </p:txBody>
      </p:sp>
      <p:grpSp>
        <p:nvGrpSpPr>
          <p:cNvPr id="2" name="Group 1">
            <a:extLst>
              <a:ext uri="{FF2B5EF4-FFF2-40B4-BE49-F238E27FC236}">
                <a16:creationId xmlns:a16="http://schemas.microsoft.com/office/drawing/2014/main" id="{6E99A855-251D-53AD-778D-C1967CBBD4BD}"/>
              </a:ext>
            </a:extLst>
          </p:cNvPr>
          <p:cNvGrpSpPr/>
          <p:nvPr/>
        </p:nvGrpSpPr>
        <p:grpSpPr>
          <a:xfrm>
            <a:off x="469900" y="3514089"/>
            <a:ext cx="4711630" cy="2539403"/>
            <a:chOff x="774700" y="3321049"/>
            <a:chExt cx="4711630" cy="2539403"/>
          </a:xfrm>
        </p:grpSpPr>
        <p:sp>
          <p:nvSpPr>
            <p:cNvPr id="23" name="Shape 8">
              <a:extLst>
                <a:ext uri="{FF2B5EF4-FFF2-40B4-BE49-F238E27FC236}">
                  <a16:creationId xmlns:a16="http://schemas.microsoft.com/office/drawing/2014/main" id="{3B167178-4F6A-F1C0-4121-85C10ECBE04D}"/>
                </a:ext>
              </a:extLst>
            </p:cNvPr>
            <p:cNvSpPr/>
            <p:nvPr/>
          </p:nvSpPr>
          <p:spPr>
            <a:xfrm>
              <a:off x="815657" y="3321049"/>
              <a:ext cx="4617090" cy="2520353"/>
            </a:xfrm>
            <a:prstGeom prst="roundRect">
              <a:avLst>
                <a:gd name="adj" fmla="val 4938"/>
              </a:avLst>
            </a:prstGeom>
            <a:solidFill>
              <a:srgbClr val="EEF0F4"/>
            </a:solidFill>
            <a:ln w="19050">
              <a:solidFill>
                <a:srgbClr val="C4CAD7"/>
              </a:solidFill>
              <a:prstDash val="dash"/>
            </a:ln>
          </p:spPr>
          <p:txBody>
            <a:bodyPr>
              <a:normAutofit/>
            </a:bodyPr>
            <a:lstStyle/>
            <a:p>
              <a:endParaRPr lang="nl-BE">
                <a:latin typeface="Roboto Mono" pitchFamily="49" charset="0"/>
                <a:ea typeface="Roboto Mono" pitchFamily="49" charset="0"/>
              </a:endParaRPr>
            </a:p>
          </p:txBody>
        </p:sp>
        <p:pic>
          <p:nvPicPr>
            <p:cNvPr id="24" name="Picture 23" descr="slide-11-diagram.png"/>
            <p:cNvPicPr>
              <a:picLocks noChangeAspect="1"/>
            </p:cNvPicPr>
            <p:nvPr/>
          </p:nvPicPr>
          <p:blipFill>
            <a:blip r:embed="rId4"/>
            <a:stretch>
              <a:fillRect/>
            </a:stretch>
          </p:blipFill>
          <p:spPr>
            <a:xfrm>
              <a:off x="774700" y="3340099"/>
              <a:ext cx="4711630" cy="2520353"/>
            </a:xfrm>
            <a:prstGeom prst="rect">
              <a:avLst/>
            </a:prstGeom>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05137" y="1214244"/>
            <a:ext cx="4711630" cy="2126436"/>
          </a:xfrm>
          <a:prstGeom prst="rect">
            <a:avLst/>
          </a:prstGeom>
          <a:noFill/>
          <a:ln/>
        </p:spPr>
        <p:txBody>
          <a:bodyPr wrap="square" lIns="25400" tIns="25400" rIns="25400" bIns="25400" rtlCol="0" anchor="t">
            <a:noAutofit/>
          </a:bodyPr>
          <a:lstStyle/>
          <a:p>
            <a:pPr marL="0" indent="0" algn="l">
              <a:lnSpc>
                <a:spcPct val="105000"/>
              </a:lnSpc>
              <a:buNone/>
            </a:pPr>
            <a:r>
              <a:rPr lang="en-US" sz="3200" b="1" kern="0" spc="-78" dirty="0">
                <a:solidFill>
                  <a:srgbClr val="212121"/>
                </a:solidFill>
                <a:latin typeface="Roboto Mono"/>
                <a:ea typeface="Roboto Mono"/>
                <a:cs typeface="Roboto Mono" pitchFamily="34" charset="-120"/>
              </a:rPr>
              <a:t>Transforming in flight skips the lakehouse's whole point</a:t>
            </a:r>
            <a:endParaRPr lang="en-US" sz="3200">
              <a:latin typeface="Roboto Mono"/>
              <a:ea typeface="Roboto Mono"/>
            </a:endParaRPr>
          </a:p>
        </p:txBody>
      </p:sp>
      <p:sp>
        <p:nvSpPr>
          <p:cNvPr id="5" name="Text 3"/>
          <p:cNvSpPr/>
          <p:nvPr/>
        </p:nvSpPr>
        <p:spPr>
          <a:xfrm>
            <a:off x="6201220" y="947737"/>
            <a:ext cx="5385642" cy="540990"/>
          </a:xfrm>
          <a:prstGeom prst="rect">
            <a:avLst/>
          </a:prstGeom>
          <a:noFill/>
          <a:ln/>
        </p:spPr>
        <p:txBody>
          <a:bodyPr wrap="square" lIns="25400" tIns="25400" rIns="25400" bIns="25400" rtlCol="0" anchor="t">
            <a:normAutofit/>
          </a:bodyPr>
          <a:lstStyle/>
          <a:p>
            <a:pPr marL="0" indent="0" algn="l">
              <a:lnSpc>
                <a:spcPct val="120000"/>
              </a:lnSpc>
              <a:buNone/>
            </a:pPr>
            <a:r>
              <a:rPr lang="en-US" sz="1600" b="1" kern="0" spc="-25" dirty="0">
                <a:solidFill>
                  <a:srgbClr val="212121"/>
                </a:solidFill>
                <a:latin typeface="Roboto Mono" pitchFamily="49" charset="0"/>
                <a:ea typeface="Roboto Mono" pitchFamily="49" charset="0"/>
                <a:cs typeface="Roboto Mono" pitchFamily="34" charset="-120"/>
              </a:rPr>
              <a:t>Loses replayability</a:t>
            </a:r>
          </a:p>
          <a:p>
            <a:pPr marL="0" indent="0" algn="l">
              <a:lnSpc>
                <a:spcPct val="120000"/>
              </a:lnSpc>
              <a:buNone/>
            </a:pPr>
            <a:endParaRPr lang="en-US" sz="1600" dirty="0">
              <a:latin typeface="Roboto Mono" pitchFamily="49" charset="0"/>
              <a:ea typeface="Roboto Mono" pitchFamily="49" charset="0"/>
            </a:endParaRPr>
          </a:p>
        </p:txBody>
      </p:sp>
      <p:pic>
        <p:nvPicPr>
          <p:cNvPr id="13" name="Image 0" descr="preencoded.png"/>
          <p:cNvPicPr>
            <a:picLocks noChangeAspect="1"/>
          </p:cNvPicPr>
          <p:nvPr/>
        </p:nvPicPr>
        <p:blipFill>
          <a:blip r:embed="rId3"/>
          <a:stretch>
            <a:fillRect/>
          </a:stretch>
        </p:blipFill>
        <p:spPr>
          <a:xfrm>
            <a:off x="762000" y="6286500"/>
            <a:ext cx="663327" cy="266700"/>
          </a:xfrm>
          <a:prstGeom prst="rect">
            <a:avLst/>
          </a:prstGeom>
        </p:spPr>
      </p:pic>
      <p:sp>
        <p:nvSpPr>
          <p:cNvPr id="15" name="Shape 2">
            <a:extLst>
              <a:ext uri="{FF2B5EF4-FFF2-40B4-BE49-F238E27FC236}">
                <a16:creationId xmlns:a16="http://schemas.microsoft.com/office/drawing/2014/main" id="{0498CF6E-45E0-F201-CE17-85512B9E0CBB}"/>
              </a:ext>
            </a:extLst>
          </p:cNvPr>
          <p:cNvSpPr/>
          <p:nvPr/>
        </p:nvSpPr>
        <p:spPr>
          <a:xfrm>
            <a:off x="6201220" y="2365258"/>
            <a:ext cx="5385641" cy="18000"/>
          </a:xfrm>
          <a:prstGeom prst="rect">
            <a:avLst/>
          </a:prstGeom>
          <a:solidFill>
            <a:srgbClr val="37B680"/>
          </a:solidFill>
          <a:ln/>
        </p:spPr>
        <p:txBody>
          <a:bodyPr>
            <a:normAutofit/>
          </a:bodyPr>
          <a:lstStyle/>
          <a:p>
            <a:endParaRPr lang="nl-BE">
              <a:latin typeface="Roboto Mono" pitchFamily="49" charset="0"/>
              <a:ea typeface="Roboto Mono" pitchFamily="49" charset="0"/>
            </a:endParaRPr>
          </a:p>
        </p:txBody>
      </p:sp>
      <p:sp>
        <p:nvSpPr>
          <p:cNvPr id="16" name="Text 5">
            <a:extLst>
              <a:ext uri="{FF2B5EF4-FFF2-40B4-BE49-F238E27FC236}">
                <a16:creationId xmlns:a16="http://schemas.microsoft.com/office/drawing/2014/main" id="{04A38B64-58A8-AE8F-FD4A-0FDF071FA68C}"/>
              </a:ext>
            </a:extLst>
          </p:cNvPr>
          <p:cNvSpPr/>
          <p:nvPr/>
        </p:nvSpPr>
        <p:spPr>
          <a:xfrm>
            <a:off x="6201220" y="1492537"/>
            <a:ext cx="5385640" cy="1013222"/>
          </a:xfrm>
          <a:prstGeom prst="rect">
            <a:avLst/>
          </a:prstGeom>
          <a:noFill/>
          <a:ln/>
        </p:spPr>
        <p:txBody>
          <a:bodyPr wrap="square" lIns="25400" tIns="25400" rIns="25400" bIns="25400" rtlCol="0" anchor="t">
            <a:normAutofit/>
          </a:bodyPr>
          <a:lstStyle/>
          <a:p>
            <a:pPr marL="0" indent="0" algn="l">
              <a:lnSpc>
                <a:spcPct val="160000"/>
              </a:lnSpc>
              <a:buNone/>
            </a:pPr>
            <a:r>
              <a:rPr lang="en-US" sz="1100" dirty="0">
                <a:solidFill>
                  <a:srgbClr val="4A5160"/>
                </a:solidFill>
                <a:latin typeface="Roboto Mono" pitchFamily="49" charset="0"/>
                <a:ea typeface="Roboto Mono" pitchFamily="49" charset="0"/>
                <a:cs typeface="Roboto Mono" pitchFamily="34" charset="-120"/>
              </a:rPr>
              <a:t>• Raw history is never kept once transformed on arrival</a:t>
            </a:r>
          </a:p>
          <a:p>
            <a:pPr marL="0" indent="0" algn="l">
              <a:lnSpc>
                <a:spcPct val="160000"/>
              </a:lnSpc>
              <a:buNone/>
            </a:pPr>
            <a:r>
              <a:rPr lang="en-US" sz="1100" dirty="0">
                <a:solidFill>
                  <a:srgbClr val="4A5160"/>
                </a:solidFill>
                <a:latin typeface="Roboto Mono" pitchFamily="49" charset="0"/>
                <a:ea typeface="Roboto Mono" pitchFamily="49" charset="0"/>
                <a:cs typeface="Roboto Mono" pitchFamily="34" charset="-120"/>
              </a:rPr>
              <a:t>• A transform bug cannot be replayed from source</a:t>
            </a:r>
          </a:p>
        </p:txBody>
      </p:sp>
      <p:sp>
        <p:nvSpPr>
          <p:cNvPr id="17" name="Text 3">
            <a:extLst>
              <a:ext uri="{FF2B5EF4-FFF2-40B4-BE49-F238E27FC236}">
                <a16:creationId xmlns:a16="http://schemas.microsoft.com/office/drawing/2014/main" id="{8FC96430-0C51-9552-5DCD-9B756DE66047}"/>
              </a:ext>
            </a:extLst>
          </p:cNvPr>
          <p:cNvSpPr/>
          <p:nvPr/>
        </p:nvSpPr>
        <p:spPr>
          <a:xfrm>
            <a:off x="6201220" y="2578535"/>
            <a:ext cx="5385642" cy="540990"/>
          </a:xfrm>
          <a:prstGeom prst="rect">
            <a:avLst/>
          </a:prstGeom>
          <a:noFill/>
          <a:ln/>
        </p:spPr>
        <p:txBody>
          <a:bodyPr wrap="square" lIns="25400" tIns="25400" rIns="25400" bIns="25400" rtlCol="0" anchor="t">
            <a:normAutofit/>
          </a:bodyPr>
          <a:lstStyle/>
          <a:p>
            <a:pPr marL="0" indent="0" algn="l">
              <a:lnSpc>
                <a:spcPct val="120000"/>
              </a:lnSpc>
              <a:buNone/>
            </a:pPr>
            <a:r>
              <a:rPr lang="en-US" sz="1600" b="1" kern="0" spc="-25" dirty="0">
                <a:solidFill>
                  <a:srgbClr val="212121"/>
                </a:solidFill>
                <a:latin typeface="Roboto Mono" pitchFamily="49" charset="0"/>
                <a:ea typeface="Roboto Mono" pitchFamily="49" charset="0"/>
                <a:cs typeface="Roboto Mono" pitchFamily="34" charset="-120"/>
              </a:rPr>
              <a:t>Fights the engine's design</a:t>
            </a:r>
          </a:p>
          <a:p>
            <a:pPr marL="0" indent="0" algn="l">
              <a:lnSpc>
                <a:spcPct val="120000"/>
              </a:lnSpc>
              <a:buNone/>
            </a:pPr>
            <a:endParaRPr lang="en-US" sz="1600" dirty="0">
              <a:latin typeface="Roboto Mono" pitchFamily="49" charset="0"/>
              <a:ea typeface="Roboto Mono" pitchFamily="49" charset="0"/>
            </a:endParaRPr>
          </a:p>
        </p:txBody>
      </p:sp>
      <p:sp>
        <p:nvSpPr>
          <p:cNvPr id="18" name="Shape 2">
            <a:extLst>
              <a:ext uri="{FF2B5EF4-FFF2-40B4-BE49-F238E27FC236}">
                <a16:creationId xmlns:a16="http://schemas.microsoft.com/office/drawing/2014/main" id="{19D3917F-A992-6DB2-D275-712CD6E60E28}"/>
              </a:ext>
            </a:extLst>
          </p:cNvPr>
          <p:cNvSpPr/>
          <p:nvPr/>
        </p:nvSpPr>
        <p:spPr>
          <a:xfrm>
            <a:off x="6201220" y="4625976"/>
            <a:ext cx="5385641" cy="18000"/>
          </a:xfrm>
          <a:prstGeom prst="rect">
            <a:avLst/>
          </a:prstGeom>
          <a:solidFill>
            <a:srgbClr val="37B680"/>
          </a:solidFill>
          <a:ln/>
        </p:spPr>
        <p:txBody>
          <a:bodyPr>
            <a:normAutofit/>
          </a:bodyPr>
          <a:lstStyle/>
          <a:p>
            <a:endParaRPr lang="nl-BE">
              <a:latin typeface="Roboto Mono" pitchFamily="49" charset="0"/>
              <a:ea typeface="Roboto Mono" pitchFamily="49" charset="0"/>
            </a:endParaRPr>
          </a:p>
        </p:txBody>
      </p:sp>
      <p:sp>
        <p:nvSpPr>
          <p:cNvPr id="19" name="Text 5">
            <a:extLst>
              <a:ext uri="{FF2B5EF4-FFF2-40B4-BE49-F238E27FC236}">
                <a16:creationId xmlns:a16="http://schemas.microsoft.com/office/drawing/2014/main" id="{CE8E97FA-3206-CE52-F4B2-F1A0E55B263F}"/>
              </a:ext>
            </a:extLst>
          </p:cNvPr>
          <p:cNvSpPr/>
          <p:nvPr/>
        </p:nvSpPr>
        <p:spPr>
          <a:xfrm>
            <a:off x="6201220" y="3113175"/>
            <a:ext cx="5314520" cy="1348502"/>
          </a:xfrm>
          <a:prstGeom prst="rect">
            <a:avLst/>
          </a:prstGeom>
          <a:noFill/>
          <a:ln/>
        </p:spPr>
        <p:txBody>
          <a:bodyPr wrap="square" lIns="25400" tIns="25400" rIns="25400" bIns="25400" rtlCol="0" anchor="t">
            <a:normAutofit/>
          </a:bodyPr>
          <a:lstStyle/>
          <a:p>
            <a:pPr marL="0" indent="0" algn="l">
              <a:lnSpc>
                <a:spcPct val="160000"/>
              </a:lnSpc>
              <a:buNone/>
            </a:pPr>
            <a:r>
              <a:rPr lang="en-US" sz="1100" dirty="0">
                <a:solidFill>
                  <a:srgbClr val="4A5160"/>
                </a:solidFill>
                <a:latin typeface="Roboto Mono" pitchFamily="49" charset="0"/>
                <a:ea typeface="Roboto Mono" pitchFamily="49" charset="0"/>
                <a:cs typeface="Roboto Mono" pitchFamily="34" charset="-120"/>
              </a:rPr>
              <a:t>• BigQuery and Databricks SQL scale for set based SQL, not row by row code</a:t>
            </a:r>
          </a:p>
          <a:p>
            <a:pPr marL="0" indent="0" algn="l">
              <a:lnSpc>
                <a:spcPct val="160000"/>
              </a:lnSpc>
              <a:buNone/>
            </a:pPr>
            <a:r>
              <a:rPr lang="en-US" sz="1100" dirty="0">
                <a:solidFill>
                  <a:srgbClr val="4A5160"/>
                </a:solidFill>
                <a:latin typeface="Roboto Mono" pitchFamily="49" charset="0"/>
                <a:ea typeface="Roboto Mono" pitchFamily="49" charset="0"/>
                <a:cs typeface="Roboto Mono" pitchFamily="34" charset="-120"/>
              </a:rPr>
              <a:t>• Elastic compute sits unused while upstream logic runs serially</a:t>
            </a:r>
          </a:p>
        </p:txBody>
      </p:sp>
      <p:sp>
        <p:nvSpPr>
          <p:cNvPr id="20" name="Text 3">
            <a:extLst>
              <a:ext uri="{FF2B5EF4-FFF2-40B4-BE49-F238E27FC236}">
                <a16:creationId xmlns:a16="http://schemas.microsoft.com/office/drawing/2014/main" id="{8510FD2C-CD45-F0EC-35A8-2674BD0406FD}"/>
              </a:ext>
            </a:extLst>
          </p:cNvPr>
          <p:cNvSpPr/>
          <p:nvPr/>
        </p:nvSpPr>
        <p:spPr>
          <a:xfrm>
            <a:off x="6201220" y="4786090"/>
            <a:ext cx="5385642" cy="540990"/>
          </a:xfrm>
          <a:prstGeom prst="rect">
            <a:avLst/>
          </a:prstGeom>
          <a:noFill/>
          <a:ln/>
        </p:spPr>
        <p:txBody>
          <a:bodyPr wrap="square" lIns="25400" tIns="25400" rIns="25400" bIns="25400" rtlCol="0" anchor="t">
            <a:normAutofit/>
          </a:bodyPr>
          <a:lstStyle/>
          <a:p>
            <a:pPr marL="0" indent="0" algn="l">
              <a:lnSpc>
                <a:spcPct val="120000"/>
              </a:lnSpc>
              <a:buNone/>
            </a:pPr>
            <a:r>
              <a:rPr lang="en-US" sz="1600" b="1" kern="0" spc="-25" dirty="0">
                <a:solidFill>
                  <a:srgbClr val="212121"/>
                </a:solidFill>
                <a:latin typeface="Roboto Mono" pitchFamily="49" charset="0"/>
                <a:ea typeface="Roboto Mono" pitchFamily="49" charset="0"/>
                <a:cs typeface="Roboto Mono" pitchFamily="34" charset="-120"/>
              </a:rPr>
              <a:t>Breaks the audit trail</a:t>
            </a:r>
          </a:p>
          <a:p>
            <a:pPr marL="0" indent="0" algn="l">
              <a:lnSpc>
                <a:spcPct val="120000"/>
              </a:lnSpc>
              <a:buNone/>
            </a:pPr>
            <a:endParaRPr lang="en-US" sz="1600" dirty="0">
              <a:latin typeface="Roboto Mono" pitchFamily="49" charset="0"/>
              <a:ea typeface="Roboto Mono" pitchFamily="49" charset="0"/>
            </a:endParaRPr>
          </a:p>
        </p:txBody>
      </p:sp>
      <p:sp>
        <p:nvSpPr>
          <p:cNvPr id="21" name="Text 5">
            <a:extLst>
              <a:ext uri="{FF2B5EF4-FFF2-40B4-BE49-F238E27FC236}">
                <a16:creationId xmlns:a16="http://schemas.microsoft.com/office/drawing/2014/main" id="{1C9F6F06-B271-C500-D454-277DD386F7F6}"/>
              </a:ext>
            </a:extLst>
          </p:cNvPr>
          <p:cNvSpPr/>
          <p:nvPr/>
        </p:nvSpPr>
        <p:spPr>
          <a:xfrm>
            <a:off x="6201220" y="5280090"/>
            <a:ext cx="5385640" cy="1013222"/>
          </a:xfrm>
          <a:prstGeom prst="rect">
            <a:avLst/>
          </a:prstGeom>
          <a:noFill/>
          <a:ln/>
        </p:spPr>
        <p:txBody>
          <a:bodyPr wrap="square" lIns="25400" tIns="25400" rIns="25400" bIns="25400" rtlCol="0" anchor="t">
            <a:normAutofit/>
          </a:bodyPr>
          <a:lstStyle/>
          <a:p>
            <a:pPr marL="0" indent="0" algn="l">
              <a:lnSpc>
                <a:spcPct val="160000"/>
              </a:lnSpc>
              <a:buNone/>
            </a:pPr>
            <a:r>
              <a:rPr lang="en-US" sz="1100" dirty="0">
                <a:solidFill>
                  <a:srgbClr val="4A5160"/>
                </a:solidFill>
                <a:latin typeface="Roboto Mono" pitchFamily="49" charset="0"/>
                <a:ea typeface="Roboto Mono" pitchFamily="49" charset="0"/>
                <a:cs typeface="Roboto Mono" pitchFamily="34" charset="-120"/>
              </a:rPr>
              <a:t>• Delta Lake time travel depends on every raw version landing first</a:t>
            </a:r>
          </a:p>
          <a:p>
            <a:pPr marL="0" indent="0" algn="l">
              <a:lnSpc>
                <a:spcPct val="160000"/>
              </a:lnSpc>
              <a:buNone/>
            </a:pPr>
            <a:r>
              <a:rPr lang="en-US" sz="1100" dirty="0">
                <a:solidFill>
                  <a:srgbClr val="4A5160"/>
                </a:solidFill>
                <a:latin typeface="Roboto Mono" pitchFamily="49" charset="0"/>
                <a:ea typeface="Roboto Mono" pitchFamily="49" charset="0"/>
                <a:cs typeface="Roboto Mono" pitchFamily="34" charset="-120"/>
              </a:rPr>
              <a:t>• A schema change means redeploying a connector, not editing SQL</a:t>
            </a:r>
          </a:p>
        </p:txBody>
      </p:sp>
      <p:sp>
        <p:nvSpPr>
          <p:cNvPr id="4" name="Text 0">
            <a:extLst>
              <a:ext uri="{FF2B5EF4-FFF2-40B4-BE49-F238E27FC236}">
                <a16:creationId xmlns:a16="http://schemas.microsoft.com/office/drawing/2014/main" id="{5E243160-D091-20C2-CD14-7F672DD41E9C}"/>
              </a:ext>
            </a:extLst>
          </p:cNvPr>
          <p:cNvSpPr/>
          <p:nvPr/>
        </p:nvSpPr>
        <p:spPr>
          <a:xfrm>
            <a:off x="762000" y="609600"/>
            <a:ext cx="10988040" cy="223838"/>
          </a:xfrm>
          <a:prstGeom prst="rect">
            <a:avLst/>
          </a:prstGeom>
          <a:noFill/>
          <a:ln/>
        </p:spPr>
        <p:txBody>
          <a:bodyPr wrap="square" lIns="25400" tIns="25400" rIns="25400" bIns="25400" rtlCol="0" anchor="t">
            <a:normAutofit/>
          </a:bodyPr>
          <a:lstStyle/>
          <a:p>
            <a:pPr>
              <a:lnSpc>
                <a:spcPct val="150000"/>
              </a:lnSpc>
            </a:pPr>
            <a:r>
              <a:rPr lang="en-US" sz="1100" b="1" kern="0" spc="195" dirty="0">
                <a:solidFill>
                  <a:srgbClr val="38B580"/>
                </a:solidFill>
                <a:latin typeface="Roboto Mono" pitchFamily="49" charset="0"/>
                <a:ea typeface="Roboto Mono" pitchFamily="49" charset="0"/>
                <a:cs typeface="Roboto Mono" pitchFamily="34" charset="-120"/>
              </a:rPr>
              <a:t>05 / THE TRADE-OFF</a:t>
            </a:r>
            <a:endParaRPr lang="en-US" sz="975" dirty="0">
              <a:latin typeface="Roboto Mono" pitchFamily="49" charset="0"/>
              <a:ea typeface="Roboto Mono" pitchFamily="49" charset="0"/>
            </a:endParaRPr>
          </a:p>
        </p:txBody>
      </p:sp>
      <p:grpSp>
        <p:nvGrpSpPr>
          <p:cNvPr id="2" name="Group 1">
            <a:extLst>
              <a:ext uri="{FF2B5EF4-FFF2-40B4-BE49-F238E27FC236}">
                <a16:creationId xmlns:a16="http://schemas.microsoft.com/office/drawing/2014/main" id="{C9DDA406-BB2D-D567-9DC3-0E63338A2C1F}"/>
              </a:ext>
            </a:extLst>
          </p:cNvPr>
          <p:cNvGrpSpPr/>
          <p:nvPr/>
        </p:nvGrpSpPr>
        <p:grpSpPr>
          <a:xfrm>
            <a:off x="693420" y="3534409"/>
            <a:ext cx="4711630" cy="2539403"/>
            <a:chOff x="774700" y="3321049"/>
            <a:chExt cx="4711630" cy="2539403"/>
          </a:xfrm>
        </p:grpSpPr>
        <p:sp>
          <p:nvSpPr>
            <p:cNvPr id="23" name="Shape 8">
              <a:extLst>
                <a:ext uri="{FF2B5EF4-FFF2-40B4-BE49-F238E27FC236}">
                  <a16:creationId xmlns:a16="http://schemas.microsoft.com/office/drawing/2014/main" id="{3B167178-4F6A-F1C0-4121-85C10ECBE04D}"/>
                </a:ext>
              </a:extLst>
            </p:cNvPr>
            <p:cNvSpPr/>
            <p:nvPr/>
          </p:nvSpPr>
          <p:spPr>
            <a:xfrm>
              <a:off x="815657" y="3321049"/>
              <a:ext cx="4617090" cy="2520353"/>
            </a:xfrm>
            <a:prstGeom prst="roundRect">
              <a:avLst>
                <a:gd name="adj" fmla="val 4938"/>
              </a:avLst>
            </a:prstGeom>
            <a:solidFill>
              <a:srgbClr val="EEF0F4"/>
            </a:solidFill>
            <a:ln w="19050">
              <a:solidFill>
                <a:srgbClr val="C4CAD7"/>
              </a:solidFill>
              <a:prstDash val="dash"/>
            </a:ln>
          </p:spPr>
          <p:txBody>
            <a:bodyPr>
              <a:normAutofit/>
            </a:bodyPr>
            <a:lstStyle/>
            <a:p>
              <a:endParaRPr lang="nl-BE">
                <a:latin typeface="Roboto Mono" pitchFamily="49" charset="0"/>
                <a:ea typeface="Roboto Mono" pitchFamily="49" charset="0"/>
              </a:endParaRPr>
            </a:p>
          </p:txBody>
        </p:sp>
        <p:pic>
          <p:nvPicPr>
            <p:cNvPr id="24" name="Picture 23" descr="slide-12-diagram.png"/>
            <p:cNvPicPr>
              <a:picLocks noChangeAspect="1"/>
            </p:cNvPicPr>
            <p:nvPr/>
          </p:nvPicPr>
          <p:blipFill>
            <a:blip r:embed="rId4"/>
            <a:stretch>
              <a:fillRect/>
            </a:stretch>
          </p:blipFill>
          <p:spPr>
            <a:xfrm>
              <a:off x="774700" y="3340099"/>
              <a:ext cx="4711630" cy="2520353"/>
            </a:xfrm>
            <a:prstGeom prst="rect">
              <a:avLst/>
            </a:prstGeom>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3" name="Text 1"/>
          <p:cNvSpPr/>
          <p:nvPr/>
        </p:nvSpPr>
        <p:spPr>
          <a:xfrm>
            <a:off x="8276555" y="3952875"/>
            <a:ext cx="3561992" cy="2867025"/>
          </a:xfrm>
          <a:prstGeom prst="rect">
            <a:avLst/>
          </a:prstGeom>
          <a:noFill/>
          <a:ln/>
        </p:spPr>
        <p:txBody>
          <a:bodyPr wrap="square" lIns="25400" tIns="25400" rIns="25400" bIns="25400" rtlCol="0" anchor="t">
            <a:normAutofit/>
          </a:bodyPr>
          <a:lstStyle/>
          <a:p>
            <a:pPr marL="0" indent="0" algn="l">
              <a:lnSpc>
                <a:spcPct val="90000"/>
              </a:lnSpc>
              <a:buNone/>
            </a:pPr>
            <a:r>
              <a:rPr lang="en-US" sz="24750" b="1" kern="0" spc="-1237" dirty="0">
                <a:solidFill>
                  <a:schemeClr val="bg1"/>
                </a:solidFill>
                <a:latin typeface="Roboto Mono" pitchFamily="49" charset="0"/>
                <a:ea typeface="Roboto Mono" pitchFamily="49" charset="0"/>
                <a:cs typeface="Roboto Mono" pitchFamily="34" charset="-120"/>
              </a:rPr>
              <a:t>02</a:t>
            </a:r>
            <a:endParaRPr lang="en-US" sz="24750" dirty="0">
              <a:solidFill>
                <a:schemeClr val="bg1"/>
              </a:solidFill>
              <a:latin typeface="Roboto Mono" pitchFamily="49" charset="0"/>
              <a:ea typeface="Roboto Mono" pitchFamily="49" charset="0"/>
            </a:endParaRPr>
          </a:p>
        </p:txBody>
      </p:sp>
      <p:sp>
        <p:nvSpPr>
          <p:cNvPr id="4" name="Text 2"/>
          <p:cNvSpPr/>
          <p:nvPr/>
        </p:nvSpPr>
        <p:spPr>
          <a:xfrm>
            <a:off x="762000" y="2621756"/>
            <a:ext cx="5354983" cy="223838"/>
          </a:xfrm>
          <a:prstGeom prst="rect">
            <a:avLst/>
          </a:prstGeom>
          <a:noFill/>
          <a:ln/>
        </p:spPr>
        <p:txBody>
          <a:bodyPr wrap="square" lIns="25400" tIns="25400" rIns="25400" bIns="25400" rtlCol="0" anchor="t">
            <a:normAutofit/>
          </a:bodyPr>
          <a:lstStyle/>
          <a:p>
            <a:pPr marL="0" indent="0" algn="l">
              <a:lnSpc>
                <a:spcPct val="150000"/>
              </a:lnSpc>
              <a:buNone/>
            </a:pPr>
            <a:r>
              <a:rPr lang="en-US" sz="1100" b="1" kern="0" spc="195" dirty="0">
                <a:solidFill>
                  <a:srgbClr val="9BE3BF"/>
                </a:solidFill>
                <a:latin typeface="Roboto Mono" pitchFamily="49" charset="0"/>
                <a:ea typeface="Roboto Mono" pitchFamily="49" charset="0"/>
                <a:cs typeface="Roboto Mono" pitchFamily="34" charset="-120"/>
              </a:rPr>
              <a:t>ROOTSACADEMY 2026</a:t>
            </a:r>
            <a:endParaRPr lang="en-US" sz="975" dirty="0">
              <a:latin typeface="Roboto Mono" pitchFamily="49" charset="0"/>
              <a:ea typeface="Roboto Mono" pitchFamily="49" charset="0"/>
            </a:endParaRPr>
          </a:p>
        </p:txBody>
      </p:sp>
      <p:sp>
        <p:nvSpPr>
          <p:cNvPr id="6" name="Shape 4"/>
          <p:cNvSpPr/>
          <p:nvPr/>
        </p:nvSpPr>
        <p:spPr>
          <a:xfrm>
            <a:off x="762000" y="4179094"/>
            <a:ext cx="1143000" cy="57150"/>
          </a:xfrm>
          <a:prstGeom prst="roundRect">
            <a:avLst>
              <a:gd name="adj" fmla="val 50000"/>
            </a:avLst>
          </a:prstGeom>
          <a:solidFill>
            <a:srgbClr val="38B580"/>
          </a:solidFill>
          <a:ln/>
        </p:spPr>
        <p:txBody>
          <a:bodyPr>
            <a:normAutofit/>
          </a:bodyPr>
          <a:lstStyle/>
          <a:p>
            <a:endParaRPr lang="nl-BE">
              <a:latin typeface="Roboto Mono" pitchFamily="49" charset="0"/>
              <a:ea typeface="Roboto Mono" pitchFamily="49" charset="0"/>
            </a:endParaRPr>
          </a:p>
        </p:txBody>
      </p:sp>
      <p:sp>
        <p:nvSpPr>
          <p:cNvPr id="5" name="Text 3"/>
          <p:cNvSpPr/>
          <p:nvPr/>
        </p:nvSpPr>
        <p:spPr>
          <a:xfrm>
            <a:off x="762000" y="2959894"/>
            <a:ext cx="5334663" cy="3324860"/>
          </a:xfrm>
          <a:prstGeom prst="rect">
            <a:avLst/>
          </a:prstGeom>
          <a:noFill/>
          <a:ln/>
        </p:spPr>
        <p:txBody>
          <a:bodyPr wrap="square" lIns="25400" tIns="25400" rIns="25400" bIns="25400" rtlCol="0" anchor="t">
            <a:normAutofit/>
          </a:bodyPr>
          <a:lstStyle/>
          <a:p>
            <a:pPr marL="0" indent="0" algn="l">
              <a:lnSpc>
                <a:spcPct val="100000"/>
              </a:lnSpc>
              <a:buNone/>
            </a:pPr>
            <a:r>
              <a:rPr lang="en-US" sz="6600" b="1" kern="0" spc="-198" dirty="0">
                <a:solidFill>
                  <a:srgbClr val="FFFFFF"/>
                </a:solidFill>
                <a:latin typeface="Roboto Mono" pitchFamily="49" charset="0"/>
                <a:ea typeface="Roboto Mono" pitchFamily="49" charset="0"/>
                <a:cs typeface="Roboto Mono" pitchFamily="34" charset="-120"/>
              </a:rPr>
              <a:t>Now, build both yourself</a:t>
            </a:r>
            <a:endParaRPr lang="en-US" sz="6600" dirty="0">
              <a:latin typeface="Roboto Mono" pitchFamily="49" charset="0"/>
              <a:ea typeface="Roboto Mono" pitchFamily="49" charset="0"/>
            </a:endParaRPr>
          </a:p>
        </p:txBody>
      </p:sp>
      <p:pic>
        <p:nvPicPr>
          <p:cNvPr id="7" name="Image 0" descr="preencoded.png"/>
          <p:cNvPicPr>
            <a:picLocks noChangeAspect="1"/>
          </p:cNvPicPr>
          <p:nvPr/>
        </p:nvPicPr>
        <p:blipFill>
          <a:blip r:embed="rId2"/>
          <a:stretch>
            <a:fillRect/>
          </a:stretch>
        </p:blipFill>
        <p:spPr>
          <a:xfrm>
            <a:off x="762000" y="6286500"/>
            <a:ext cx="680145" cy="266700"/>
          </a:xfrm>
          <a:prstGeom prst="rect">
            <a:avLst/>
          </a:prstGeom>
        </p:spPr>
      </p:pic>
      <p:pic>
        <p:nvPicPr>
          <p:cNvPr id="9" name="Image 0" descr="preencoded.png">
            <a:extLst>
              <a:ext uri="{FF2B5EF4-FFF2-40B4-BE49-F238E27FC236}">
                <a16:creationId xmlns:a16="http://schemas.microsoft.com/office/drawing/2014/main" id="{6312C1DB-D3C3-AA5E-A3FD-1E23B9B51697}"/>
              </a:ext>
            </a:extLst>
          </p:cNvPr>
          <p:cNvPicPr>
            <a:picLocks noChangeAspect="1"/>
          </p:cNvPicPr>
          <p:nvPr/>
        </p:nvPicPr>
        <p:blipFill>
          <a:blip r:embed="rId3">
            <a:alphaModFix amt="90000"/>
          </a:blip>
          <a:stretch>
            <a:fillRect/>
          </a:stretch>
        </p:blipFill>
        <p:spPr>
          <a:xfrm>
            <a:off x="10668000" y="685800"/>
            <a:ext cx="762000" cy="762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1" name="Image 0" descr="preencoded.png"/>
          <p:cNvPicPr>
            <a:picLocks noChangeAspect="1"/>
          </p:cNvPicPr>
          <p:nvPr/>
        </p:nvPicPr>
        <p:blipFill>
          <a:blip r:embed="rId2"/>
          <a:stretch>
            <a:fillRect/>
          </a:stretch>
        </p:blipFill>
        <p:spPr>
          <a:xfrm>
            <a:off x="762000" y="6286500"/>
            <a:ext cx="663327" cy="266700"/>
          </a:xfrm>
          <a:prstGeom prst="rect">
            <a:avLst/>
          </a:prstGeom>
        </p:spPr>
      </p:pic>
      <p:sp>
        <p:nvSpPr>
          <p:cNvPr id="32" name="TextBox 31"/>
          <p:cNvSpPr txBox="1"/>
          <p:nvPr/>
        </p:nvSpPr>
        <p:spPr>
          <a:xfrm>
            <a:off x="457200" y="310896"/>
            <a:ext cx="6400800" cy="274320"/>
          </a:xfrm>
          <a:prstGeom prst="rect">
            <a:avLst/>
          </a:prstGeom>
          <a:noFill/>
        </p:spPr>
        <p:txBody>
          <a:bodyPr wrap="square">
            <a:normAutofit/>
          </a:bodyPr>
          <a:lstStyle/>
          <a:p>
            <a:pPr algn="l"/>
            <a:r>
              <a:rPr sz="1100" b="1">
                <a:solidFill>
                  <a:srgbClr val="38B580"/>
                </a:solidFill>
                <a:latin typeface="Roboto Mono" pitchFamily="49" charset="0"/>
                <a:ea typeface="Roboto Mono" pitchFamily="49" charset="0"/>
                <a:cs typeface="Roboto Mono" pitchFamily="49" charset="0"/>
              </a:rPr>
              <a:t>THE OLIST DATASET</a:t>
            </a:r>
          </a:p>
        </p:txBody>
      </p:sp>
      <p:grpSp>
        <p:nvGrpSpPr>
          <p:cNvPr id="2" name="Group 1">
            <a:extLst>
              <a:ext uri="{FF2B5EF4-FFF2-40B4-BE49-F238E27FC236}">
                <a16:creationId xmlns:a16="http://schemas.microsoft.com/office/drawing/2014/main" id="{C5DEC6CA-194B-750D-05A9-4084AF458817}"/>
              </a:ext>
            </a:extLst>
          </p:cNvPr>
          <p:cNvGrpSpPr/>
          <p:nvPr/>
        </p:nvGrpSpPr>
        <p:grpSpPr>
          <a:xfrm>
            <a:off x="1981200" y="1125728"/>
            <a:ext cx="8229600" cy="4297680"/>
            <a:chOff x="457200" y="566928"/>
            <a:chExt cx="8229600" cy="4297680"/>
          </a:xfrm>
        </p:grpSpPr>
        <p:sp>
          <p:nvSpPr>
            <p:cNvPr id="33" name="TextBox 32"/>
            <p:cNvSpPr txBox="1"/>
            <p:nvPr/>
          </p:nvSpPr>
          <p:spPr>
            <a:xfrm>
              <a:off x="457200" y="566928"/>
              <a:ext cx="7498079" cy="731520"/>
            </a:xfrm>
            <a:prstGeom prst="rect">
              <a:avLst/>
            </a:prstGeom>
            <a:noFill/>
          </p:spPr>
          <p:txBody>
            <a:bodyPr wrap="square">
              <a:normAutofit/>
            </a:bodyPr>
            <a:lstStyle/>
            <a:p>
              <a:pPr algn="l"/>
              <a:r>
                <a:rPr sz="2200" b="1">
                  <a:solidFill>
                    <a:srgbClr val="212121"/>
                  </a:solidFill>
                  <a:latin typeface="Roboto Mono" pitchFamily="49" charset="0"/>
                  <a:ea typeface="Roboto Mono" pitchFamily="49" charset="0"/>
                  <a:cs typeface="Roboto Mono" pitchFamily="49" charset="0"/>
                </a:rPr>
                <a:t>8 tables, about 100,000 orders, one story</a:t>
              </a:r>
            </a:p>
          </p:txBody>
        </p:sp>
        <p:sp>
          <p:nvSpPr>
            <p:cNvPr id="34" name="Rectangle 33"/>
            <p:cNvSpPr/>
            <p:nvPr/>
          </p:nvSpPr>
          <p:spPr>
            <a:xfrm>
              <a:off x="457200" y="1417320"/>
              <a:ext cx="2651760" cy="91440"/>
            </a:xfrm>
            <a:prstGeom prst="rect">
              <a:avLst/>
            </a:prstGeom>
            <a:solidFill>
              <a:srgbClr val="38B580"/>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35" name="Rectangle 34"/>
            <p:cNvSpPr/>
            <p:nvPr/>
          </p:nvSpPr>
          <p:spPr>
            <a:xfrm>
              <a:off x="457200" y="1508760"/>
              <a:ext cx="2651760" cy="12344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36" name="TextBox 35"/>
            <p:cNvSpPr txBox="1"/>
            <p:nvPr/>
          </p:nvSpPr>
          <p:spPr>
            <a:xfrm>
              <a:off x="640080" y="1636776"/>
              <a:ext cx="2331720" cy="310896"/>
            </a:xfrm>
            <a:prstGeom prst="rect">
              <a:avLst/>
            </a:prstGeom>
            <a:noFill/>
          </p:spPr>
          <p:txBody>
            <a:bodyPr wrap="square">
              <a:normAutofit/>
            </a:bodyPr>
            <a:lstStyle/>
            <a:p>
              <a:pPr algn="l"/>
              <a:r>
                <a:rPr sz="1250" b="1">
                  <a:solidFill>
                    <a:srgbClr val="212121"/>
                  </a:solidFill>
                  <a:latin typeface="Roboto Mono" pitchFamily="49" charset="0"/>
                  <a:ea typeface="Roboto Mono" pitchFamily="49" charset="0"/>
                  <a:cs typeface="Roboto Mono" pitchFamily="49" charset="0"/>
                </a:rPr>
                <a:t>orders + customers</a:t>
              </a:r>
            </a:p>
          </p:txBody>
        </p:sp>
        <p:sp>
          <p:nvSpPr>
            <p:cNvPr id="37" name="TextBox 36"/>
            <p:cNvSpPr txBox="1"/>
            <p:nvPr/>
          </p:nvSpPr>
          <p:spPr>
            <a:xfrm>
              <a:off x="640080" y="1965960"/>
              <a:ext cx="2331720" cy="667512"/>
            </a:xfrm>
            <a:prstGeom prst="rect">
              <a:avLst/>
            </a:prstGeom>
            <a:noFill/>
          </p:spPr>
          <p:txBody>
            <a:bodyPr wrap="square">
              <a:normAutofit/>
            </a:bodyPr>
            <a:lstStyle/>
            <a:p>
              <a:pPr algn="l"/>
              <a:r>
                <a:rPr sz="1000" b="0">
                  <a:solidFill>
                    <a:srgbClr val="64748B"/>
                  </a:solidFill>
                  <a:latin typeface="Roboto Mono" pitchFamily="49" charset="0"/>
                  <a:ea typeface="Roboto Mono" pitchFamily="49" charset="0"/>
                  <a:cs typeface="Roboto Mono" pitchFamily="49" charset="0"/>
                </a:rPr>
                <a:t>status, timestamps, delivery dates; city/state/zip</a:t>
              </a:r>
            </a:p>
          </p:txBody>
        </p:sp>
        <p:sp>
          <p:nvSpPr>
            <p:cNvPr id="38" name="Rectangle 37"/>
            <p:cNvSpPr/>
            <p:nvPr/>
          </p:nvSpPr>
          <p:spPr>
            <a:xfrm>
              <a:off x="3200400" y="1417320"/>
              <a:ext cx="2651760" cy="91440"/>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39" name="Rectangle 38"/>
            <p:cNvSpPr/>
            <p:nvPr/>
          </p:nvSpPr>
          <p:spPr>
            <a:xfrm>
              <a:off x="3200400" y="1508760"/>
              <a:ext cx="2651760" cy="12344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40" name="TextBox 39"/>
            <p:cNvSpPr txBox="1"/>
            <p:nvPr/>
          </p:nvSpPr>
          <p:spPr>
            <a:xfrm>
              <a:off x="3383280" y="1636776"/>
              <a:ext cx="2331720" cy="310896"/>
            </a:xfrm>
            <a:prstGeom prst="rect">
              <a:avLst/>
            </a:prstGeom>
            <a:noFill/>
          </p:spPr>
          <p:txBody>
            <a:bodyPr wrap="square">
              <a:normAutofit/>
            </a:bodyPr>
            <a:lstStyle/>
            <a:p>
              <a:pPr algn="l"/>
              <a:r>
                <a:rPr sz="1250" b="1">
                  <a:solidFill>
                    <a:srgbClr val="212121"/>
                  </a:solidFill>
                  <a:latin typeface="Roboto Mono" pitchFamily="49" charset="0"/>
                  <a:ea typeface="Roboto Mono" pitchFamily="49" charset="0"/>
                  <a:cs typeface="Roboto Mono" pitchFamily="49" charset="0"/>
                </a:rPr>
                <a:t>products + sellers</a:t>
              </a:r>
            </a:p>
          </p:txBody>
        </p:sp>
        <p:sp>
          <p:nvSpPr>
            <p:cNvPr id="41" name="TextBox 40"/>
            <p:cNvSpPr txBox="1"/>
            <p:nvPr/>
          </p:nvSpPr>
          <p:spPr>
            <a:xfrm>
              <a:off x="3383280" y="1965960"/>
              <a:ext cx="2331720" cy="667512"/>
            </a:xfrm>
            <a:prstGeom prst="rect">
              <a:avLst/>
            </a:prstGeom>
            <a:noFill/>
          </p:spPr>
          <p:txBody>
            <a:bodyPr wrap="square">
              <a:normAutofit/>
            </a:bodyPr>
            <a:lstStyle/>
            <a:p>
              <a:pPr algn="l"/>
              <a:r>
                <a:rPr sz="1000" b="0">
                  <a:solidFill>
                    <a:srgbClr val="64748B"/>
                  </a:solidFill>
                  <a:latin typeface="Roboto Mono" pitchFamily="49" charset="0"/>
                  <a:ea typeface="Roboto Mono" pitchFamily="49" charset="0"/>
                  <a:cs typeface="Roboto Mono" pitchFamily="49" charset="0"/>
                </a:rPr>
                <a:t>category, dimensions, weight; seller city/state</a:t>
              </a:r>
            </a:p>
          </p:txBody>
        </p:sp>
        <p:sp>
          <p:nvSpPr>
            <p:cNvPr id="42" name="Rectangle 41"/>
            <p:cNvSpPr/>
            <p:nvPr/>
          </p:nvSpPr>
          <p:spPr>
            <a:xfrm>
              <a:off x="5943600" y="1417320"/>
              <a:ext cx="2651760" cy="9144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43" name="Rectangle 42"/>
            <p:cNvSpPr/>
            <p:nvPr/>
          </p:nvSpPr>
          <p:spPr>
            <a:xfrm>
              <a:off x="5943600" y="1508760"/>
              <a:ext cx="2651760" cy="12344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44" name="TextBox 43"/>
            <p:cNvSpPr txBox="1"/>
            <p:nvPr/>
          </p:nvSpPr>
          <p:spPr>
            <a:xfrm>
              <a:off x="6126480" y="1636776"/>
              <a:ext cx="2331720" cy="310896"/>
            </a:xfrm>
            <a:prstGeom prst="rect">
              <a:avLst/>
            </a:prstGeom>
            <a:noFill/>
          </p:spPr>
          <p:txBody>
            <a:bodyPr wrap="square">
              <a:normAutofit/>
            </a:bodyPr>
            <a:lstStyle/>
            <a:p>
              <a:pPr algn="l"/>
              <a:r>
                <a:rPr sz="1250" b="1">
                  <a:solidFill>
                    <a:srgbClr val="212121"/>
                  </a:solidFill>
                  <a:latin typeface="Roboto Mono" pitchFamily="49" charset="0"/>
                  <a:ea typeface="Roboto Mono" pitchFamily="49" charset="0"/>
                  <a:cs typeface="Roboto Mono" pitchFamily="49" charset="0"/>
                </a:rPr>
                <a:t>order_items</a:t>
              </a:r>
            </a:p>
          </p:txBody>
        </p:sp>
        <p:sp>
          <p:nvSpPr>
            <p:cNvPr id="45" name="TextBox 44"/>
            <p:cNvSpPr txBox="1"/>
            <p:nvPr/>
          </p:nvSpPr>
          <p:spPr>
            <a:xfrm>
              <a:off x="6126480" y="1965960"/>
              <a:ext cx="2331720" cy="667512"/>
            </a:xfrm>
            <a:prstGeom prst="rect">
              <a:avLst/>
            </a:prstGeom>
            <a:noFill/>
          </p:spPr>
          <p:txBody>
            <a:bodyPr wrap="square">
              <a:normAutofit/>
            </a:bodyPr>
            <a:lstStyle/>
            <a:p>
              <a:pPr algn="l"/>
              <a:r>
                <a:rPr sz="1000" b="0">
                  <a:solidFill>
                    <a:srgbClr val="64748B"/>
                  </a:solidFill>
                  <a:latin typeface="Roboto Mono" pitchFamily="49" charset="0"/>
                  <a:ea typeface="Roboto Mono" pitchFamily="49" charset="0"/>
                  <a:cs typeface="Roboto Mono" pitchFamily="49" charset="0"/>
                </a:rPr>
                <a:t>order -&gt; product + seller + price + freight</a:t>
              </a:r>
            </a:p>
          </p:txBody>
        </p:sp>
        <p:sp>
          <p:nvSpPr>
            <p:cNvPr id="46" name="Rectangle 45"/>
            <p:cNvSpPr/>
            <p:nvPr/>
          </p:nvSpPr>
          <p:spPr>
            <a:xfrm>
              <a:off x="457200" y="2834640"/>
              <a:ext cx="265176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47" name="Rectangle 46"/>
            <p:cNvSpPr/>
            <p:nvPr/>
          </p:nvSpPr>
          <p:spPr>
            <a:xfrm>
              <a:off x="457200" y="2926080"/>
              <a:ext cx="2651760" cy="12344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48" name="TextBox 47"/>
            <p:cNvSpPr txBox="1"/>
            <p:nvPr/>
          </p:nvSpPr>
          <p:spPr>
            <a:xfrm>
              <a:off x="640080" y="3054096"/>
              <a:ext cx="2331720" cy="310896"/>
            </a:xfrm>
            <a:prstGeom prst="rect">
              <a:avLst/>
            </a:prstGeom>
            <a:noFill/>
          </p:spPr>
          <p:txBody>
            <a:bodyPr wrap="square">
              <a:normAutofit/>
            </a:bodyPr>
            <a:lstStyle/>
            <a:p>
              <a:pPr algn="l"/>
              <a:r>
                <a:rPr sz="1250" b="1">
                  <a:solidFill>
                    <a:srgbClr val="212121"/>
                  </a:solidFill>
                  <a:latin typeface="Roboto Mono" pitchFamily="49" charset="0"/>
                  <a:ea typeface="Roboto Mono" pitchFamily="49" charset="0"/>
                  <a:cs typeface="Roboto Mono" pitchFamily="49" charset="0"/>
                </a:rPr>
                <a:t>order_payments</a:t>
              </a:r>
            </a:p>
          </p:txBody>
        </p:sp>
        <p:sp>
          <p:nvSpPr>
            <p:cNvPr id="49" name="TextBox 48"/>
            <p:cNvSpPr txBox="1"/>
            <p:nvPr/>
          </p:nvSpPr>
          <p:spPr>
            <a:xfrm>
              <a:off x="640080" y="3383280"/>
              <a:ext cx="2331720" cy="667512"/>
            </a:xfrm>
            <a:prstGeom prst="rect">
              <a:avLst/>
            </a:prstGeom>
            <a:noFill/>
          </p:spPr>
          <p:txBody>
            <a:bodyPr wrap="square">
              <a:normAutofit/>
            </a:bodyPr>
            <a:lstStyle/>
            <a:p>
              <a:pPr algn="l"/>
              <a:r>
                <a:rPr sz="1000" b="0">
                  <a:solidFill>
                    <a:srgbClr val="64748B"/>
                  </a:solidFill>
                  <a:latin typeface="Roboto Mono" pitchFamily="49" charset="0"/>
                  <a:ea typeface="Roboto Mono" pitchFamily="49" charset="0"/>
                  <a:cs typeface="Roboto Mono" pitchFamily="49" charset="0"/>
                </a:rPr>
                <a:t>type, installments, value (many per order)</a:t>
              </a:r>
            </a:p>
          </p:txBody>
        </p:sp>
        <p:sp>
          <p:nvSpPr>
            <p:cNvPr id="50" name="Rectangle 49"/>
            <p:cNvSpPr/>
            <p:nvPr/>
          </p:nvSpPr>
          <p:spPr>
            <a:xfrm>
              <a:off x="3200400" y="2834640"/>
              <a:ext cx="2651760" cy="9144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51" name="Rectangle 50"/>
            <p:cNvSpPr/>
            <p:nvPr/>
          </p:nvSpPr>
          <p:spPr>
            <a:xfrm>
              <a:off x="3200400" y="2926080"/>
              <a:ext cx="2651760" cy="12344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52" name="TextBox 51"/>
            <p:cNvSpPr txBox="1"/>
            <p:nvPr/>
          </p:nvSpPr>
          <p:spPr>
            <a:xfrm>
              <a:off x="3383280" y="3054096"/>
              <a:ext cx="2331720" cy="310896"/>
            </a:xfrm>
            <a:prstGeom prst="rect">
              <a:avLst/>
            </a:prstGeom>
            <a:noFill/>
          </p:spPr>
          <p:txBody>
            <a:bodyPr wrap="square">
              <a:normAutofit/>
            </a:bodyPr>
            <a:lstStyle/>
            <a:p>
              <a:pPr algn="l"/>
              <a:r>
                <a:rPr sz="1250" b="1">
                  <a:solidFill>
                    <a:srgbClr val="212121"/>
                  </a:solidFill>
                  <a:latin typeface="Roboto Mono" pitchFamily="49" charset="0"/>
                  <a:ea typeface="Roboto Mono" pitchFamily="49" charset="0"/>
                  <a:cs typeface="Roboto Mono" pitchFamily="49" charset="0"/>
                </a:rPr>
                <a:t>order_reviews</a:t>
              </a:r>
            </a:p>
          </p:txBody>
        </p:sp>
        <p:sp>
          <p:nvSpPr>
            <p:cNvPr id="53" name="TextBox 52"/>
            <p:cNvSpPr txBox="1"/>
            <p:nvPr/>
          </p:nvSpPr>
          <p:spPr>
            <a:xfrm>
              <a:off x="3383280" y="3383280"/>
              <a:ext cx="2331720" cy="667512"/>
            </a:xfrm>
            <a:prstGeom prst="rect">
              <a:avLst/>
            </a:prstGeom>
            <a:noFill/>
          </p:spPr>
          <p:txBody>
            <a:bodyPr wrap="square">
              <a:normAutofit/>
            </a:bodyPr>
            <a:lstStyle/>
            <a:p>
              <a:pPr algn="l"/>
              <a:r>
                <a:rPr sz="1000" b="0">
                  <a:solidFill>
                    <a:srgbClr val="64748B"/>
                  </a:solidFill>
                  <a:latin typeface="Roboto Mono" pitchFamily="49" charset="0"/>
                  <a:ea typeface="Roboto Mono" pitchFamily="49" charset="0"/>
                  <a:cs typeface="Roboto Mono" pitchFamily="49" charset="0"/>
                </a:rPr>
                <a:t>score 1-5, comments - satisfaction</a:t>
              </a:r>
            </a:p>
          </p:txBody>
        </p:sp>
        <p:sp>
          <p:nvSpPr>
            <p:cNvPr id="54" name="Rectangle 53"/>
            <p:cNvSpPr/>
            <p:nvPr/>
          </p:nvSpPr>
          <p:spPr>
            <a:xfrm>
              <a:off x="5943600" y="2834640"/>
              <a:ext cx="2651760" cy="914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55" name="Rectangle 54"/>
            <p:cNvSpPr/>
            <p:nvPr/>
          </p:nvSpPr>
          <p:spPr>
            <a:xfrm>
              <a:off x="5943600" y="2926080"/>
              <a:ext cx="2651760" cy="12344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56" name="TextBox 55"/>
            <p:cNvSpPr txBox="1"/>
            <p:nvPr/>
          </p:nvSpPr>
          <p:spPr>
            <a:xfrm>
              <a:off x="6126480" y="3054096"/>
              <a:ext cx="2331720" cy="310896"/>
            </a:xfrm>
            <a:prstGeom prst="rect">
              <a:avLst/>
            </a:prstGeom>
            <a:noFill/>
          </p:spPr>
          <p:txBody>
            <a:bodyPr wrap="square">
              <a:normAutofit/>
            </a:bodyPr>
            <a:lstStyle/>
            <a:p>
              <a:pPr algn="l"/>
              <a:r>
                <a:rPr sz="1250" b="1">
                  <a:solidFill>
                    <a:srgbClr val="212121"/>
                  </a:solidFill>
                  <a:latin typeface="Roboto Mono" pitchFamily="49" charset="0"/>
                  <a:ea typeface="Roboto Mono" pitchFamily="49" charset="0"/>
                  <a:cs typeface="Roboto Mono" pitchFamily="49" charset="0"/>
                </a:rPr>
                <a:t>category translation</a:t>
              </a:r>
            </a:p>
          </p:txBody>
        </p:sp>
        <p:sp>
          <p:nvSpPr>
            <p:cNvPr id="57" name="TextBox 56"/>
            <p:cNvSpPr txBox="1"/>
            <p:nvPr/>
          </p:nvSpPr>
          <p:spPr>
            <a:xfrm>
              <a:off x="6126480" y="3383280"/>
              <a:ext cx="2331720" cy="667512"/>
            </a:xfrm>
            <a:prstGeom prst="rect">
              <a:avLst/>
            </a:prstGeom>
            <a:noFill/>
          </p:spPr>
          <p:txBody>
            <a:bodyPr wrap="square">
              <a:normAutofit/>
            </a:bodyPr>
            <a:lstStyle/>
            <a:p>
              <a:pPr algn="l"/>
              <a:r>
                <a:rPr sz="1000" b="0">
                  <a:solidFill>
                    <a:srgbClr val="64748B"/>
                  </a:solidFill>
                  <a:latin typeface="Roboto Mono" pitchFamily="49" charset="0"/>
                  <a:ea typeface="Roboto Mono" pitchFamily="49" charset="0"/>
                  <a:cs typeface="Roboto Mono" pitchFamily="49" charset="0"/>
                </a:rPr>
                <a:t>product category name: PT -&gt; EN mapping</a:t>
              </a:r>
            </a:p>
          </p:txBody>
        </p:sp>
        <p:sp>
          <p:nvSpPr>
            <p:cNvPr id="58" name="TextBox 57"/>
            <p:cNvSpPr txBox="1"/>
            <p:nvPr/>
          </p:nvSpPr>
          <p:spPr>
            <a:xfrm>
              <a:off x="457200" y="4572000"/>
              <a:ext cx="8229600" cy="292608"/>
            </a:xfrm>
            <a:prstGeom prst="rect">
              <a:avLst/>
            </a:prstGeom>
            <a:noFill/>
          </p:spPr>
          <p:txBody>
            <a:bodyPr wrap="square">
              <a:normAutofit/>
            </a:bodyPr>
            <a:lstStyle/>
            <a:p>
              <a:pPr algn="l"/>
              <a:r>
                <a:rPr sz="1050" b="0">
                  <a:solidFill>
                    <a:srgbClr val="64748B"/>
                  </a:solidFill>
                  <a:latin typeface="Roboto Mono" pitchFamily="49" charset="0"/>
                  <a:ea typeface="Roboto Mono" pitchFamily="49" charset="0"/>
                  <a:cs typeface="Roboto Mono" pitchFamily="49" charset="0"/>
                </a:rPr>
                <a:t>Source: kaggle.com/datasets/olistbr/brazilian-ecommerce - the dataset behind today's exercise.</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 name="Shape 8">
            <a:extLst>
              <a:ext uri="{FF2B5EF4-FFF2-40B4-BE49-F238E27FC236}">
                <a16:creationId xmlns:a16="http://schemas.microsoft.com/office/drawing/2014/main" id="{D7111985-4FC0-E9CB-616E-0FDB8C9759F8}"/>
              </a:ext>
            </a:extLst>
          </p:cNvPr>
          <p:cNvSpPr/>
          <p:nvPr/>
        </p:nvSpPr>
        <p:spPr>
          <a:xfrm>
            <a:off x="2086583" y="2284782"/>
            <a:ext cx="7869306" cy="119734"/>
          </a:xfrm>
          <a:prstGeom prst="rect">
            <a:avLst/>
          </a:prstGeom>
          <a:solidFill>
            <a:srgbClr val="DFE3EB"/>
          </a:solidFill>
          <a:ln/>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Roboto Mono"/>
              </a:defRPr>
            </a:pPr>
            <a:endParaRPr kumimoji="0" lang="nl-BE" sz="1800" b="0" i="0" u="none" strike="noStrike" kern="1200" cap="none" spc="0" normalizeH="0" baseline="0" noProof="0">
              <a:ln>
                <a:noFill/>
              </a:ln>
              <a:solidFill>
                <a:prstClr val="black"/>
              </a:solidFill>
              <a:effectLst/>
              <a:uLnTx/>
              <a:uFillTx/>
              <a:latin typeface="Roboto Mono" pitchFamily="49" charset="0"/>
              <a:ea typeface="Roboto Mono" pitchFamily="49" charset="0"/>
            </a:endParaRPr>
          </a:p>
        </p:txBody>
      </p:sp>
      <p:sp>
        <p:nvSpPr>
          <p:cNvPr id="2" name="Text 0"/>
          <p:cNvSpPr/>
          <p:nvPr/>
        </p:nvSpPr>
        <p:spPr>
          <a:xfrm>
            <a:off x="762000" y="609600"/>
            <a:ext cx="10988040" cy="223838"/>
          </a:xfrm>
          <a:prstGeom prst="rect">
            <a:avLst/>
          </a:prstGeom>
          <a:noFill/>
          <a:ln/>
        </p:spPr>
        <p:txBody>
          <a:bodyPr wrap="square" lIns="25400" tIns="25400" rIns="25400" bIns="25400" rtlCol="0" anchor="t">
            <a:normAutofit/>
          </a:bodyPr>
          <a:lstStyle/>
          <a:p>
            <a:pPr>
              <a:lnSpc>
                <a:spcPct val="150000"/>
              </a:lnSpc>
            </a:pPr>
            <a:r>
              <a:rPr lang="en-US" sz="1100" b="1" kern="0" spc="195" dirty="0">
                <a:solidFill>
                  <a:srgbClr val="38B580"/>
                </a:solidFill>
                <a:latin typeface="Roboto Mono" pitchFamily="49" charset="0"/>
                <a:ea typeface="Roboto Mono" pitchFamily="49" charset="0"/>
                <a:cs typeface="Roboto Mono" pitchFamily="34" charset="-120"/>
              </a:rPr>
              <a:t>OLIST EXERCISE</a:t>
            </a:r>
            <a:endParaRPr lang="en-US" sz="975" dirty="0">
              <a:latin typeface="Roboto Mono" pitchFamily="49" charset="0"/>
              <a:ea typeface="Roboto Mono" pitchFamily="49" charset="0"/>
            </a:endParaRPr>
          </a:p>
        </p:txBody>
      </p:sp>
      <p:sp>
        <p:nvSpPr>
          <p:cNvPr id="3" name="Text 1"/>
          <p:cNvSpPr/>
          <p:nvPr/>
        </p:nvSpPr>
        <p:spPr>
          <a:xfrm>
            <a:off x="762000" y="1125537"/>
            <a:ext cx="9810750" cy="418133"/>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5000"/>
              </a:lnSpc>
              <a:spcBef>
                <a:spcPts val="0"/>
              </a:spcBef>
              <a:spcAft>
                <a:spcPts val="0"/>
              </a:spcAft>
              <a:buClrTx/>
              <a:buSzTx/>
              <a:buFontTx/>
              <a:buNone/>
              <a:tabLst/>
              <a:defRPr>
                <a:latin typeface="Roboto Mono"/>
              </a:defRPr>
            </a:pPr>
            <a:r>
              <a:rPr kumimoji="0" lang="en-US" sz="2850" b="1" i="0" u="none" strike="noStrike" kern="0" cap="none" spc="-57" normalizeH="0" baseline="0" noProof="0" dirty="0">
                <a:ln>
                  <a:noFill/>
                </a:ln>
                <a:solidFill>
                  <a:srgbClr val="212121"/>
                </a:solidFill>
                <a:effectLst/>
                <a:uLnTx/>
                <a:uFillTx/>
                <a:latin typeface="Roboto Mono" pitchFamily="49" charset="0"/>
                <a:ea typeface="Roboto Mono" pitchFamily="49" charset="0"/>
                <a:cs typeface="Roboto Mono" pitchFamily="34" charset="-120"/>
              </a:rPr>
              <a:t>Today: one dataset, two ways to build it</a:t>
            </a:r>
            <a:endParaRPr kumimoji="0" lang="en-US" sz="2850"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pic>
        <p:nvPicPr>
          <p:cNvPr id="33" name="Image 0" descr="preencoded.png"/>
          <p:cNvPicPr>
            <a:picLocks noChangeAspect="1"/>
          </p:cNvPicPr>
          <p:nvPr/>
        </p:nvPicPr>
        <p:blipFill>
          <a:blip r:embed="rId3"/>
          <a:stretch>
            <a:fillRect/>
          </a:stretch>
        </p:blipFill>
        <p:spPr>
          <a:xfrm>
            <a:off x="762000" y="6286500"/>
            <a:ext cx="663327" cy="266700"/>
          </a:xfrm>
          <a:prstGeom prst="rect">
            <a:avLst/>
          </a:prstGeom>
        </p:spPr>
      </p:pic>
      <p:sp>
        <p:nvSpPr>
          <p:cNvPr id="40" name="Ovaal 39">
            <a:extLst>
              <a:ext uri="{FF2B5EF4-FFF2-40B4-BE49-F238E27FC236}">
                <a16:creationId xmlns:a16="http://schemas.microsoft.com/office/drawing/2014/main" id="{97D4E1B0-B466-CF0A-0949-AC6F730EE54C}"/>
              </a:ext>
            </a:extLst>
          </p:cNvPr>
          <p:cNvSpPr/>
          <p:nvPr/>
        </p:nvSpPr>
        <p:spPr>
          <a:xfrm>
            <a:off x="1795949" y="2110450"/>
            <a:ext cx="502193" cy="502193"/>
          </a:xfrm>
          <a:prstGeom prst="ellipse">
            <a:avLst/>
          </a:prstGeom>
          <a:solidFill>
            <a:srgbClr val="FFFFFF"/>
          </a:solidFill>
          <a:ln w="19050">
            <a:solidFill>
              <a:srgbClr val="37B68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Roboto Mono"/>
              </a:defRPr>
            </a:pPr>
            <a:r>
              <a:rPr kumimoji="0" lang="en-US" sz="1400" b="1" i="0" u="none" strike="noStrike" kern="1200" cap="none" spc="0" normalizeH="0" baseline="0" noProof="0" dirty="0">
                <a:ln>
                  <a:noFill/>
                </a:ln>
                <a:solidFill>
                  <a:srgbClr val="167353"/>
                </a:solidFill>
                <a:effectLst/>
                <a:uLnTx/>
                <a:uFillTx/>
                <a:latin typeface="Roboto Mono" pitchFamily="49" charset="0"/>
                <a:ea typeface="Roboto Mono" pitchFamily="49" charset="0"/>
                <a:cs typeface="Roboto Mono" pitchFamily="34" charset="-120"/>
              </a:rPr>
              <a:t>01</a:t>
            </a:r>
            <a:endParaRPr kumimoji="0" lang="nl-BE" sz="1100"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sp>
        <p:nvSpPr>
          <p:cNvPr id="41" name="Text 6">
            <a:extLst>
              <a:ext uri="{FF2B5EF4-FFF2-40B4-BE49-F238E27FC236}">
                <a16:creationId xmlns:a16="http://schemas.microsoft.com/office/drawing/2014/main" id="{B23044CD-79AB-B2C0-0E1F-ACD73F83CC7B}"/>
              </a:ext>
            </a:extLst>
          </p:cNvPr>
          <p:cNvSpPr/>
          <p:nvPr/>
        </p:nvSpPr>
        <p:spPr>
          <a:xfrm>
            <a:off x="1473304" y="2706223"/>
            <a:ext cx="1147483" cy="285038"/>
          </a:xfrm>
          <a:prstGeom prst="rect">
            <a:avLst/>
          </a:prstGeom>
          <a:noFill/>
          <a:ln/>
        </p:spPr>
        <p:txBody>
          <a:bodyPr wrap="none" lIns="25400" tIns="25400" rIns="25400" bIns="25400" rtlCol="0" anchor="t">
            <a:normAutofit/>
          </a:bodyPr>
          <a:lstStyle/>
          <a:p>
            <a:pPr marL="0" marR="0" lvl="0" indent="0" algn="ctr" defTabSz="914400" rtl="0" eaLnBrk="1" fontAlgn="auto" latinLnBrk="0" hangingPunct="1">
              <a:lnSpc>
                <a:spcPct val="150000"/>
              </a:lnSpc>
              <a:spcBef>
                <a:spcPts val="0"/>
              </a:spcBef>
              <a:spcAft>
                <a:spcPts val="0"/>
              </a:spcAft>
              <a:buClrTx/>
              <a:buSzTx/>
              <a:buFontTx/>
              <a:buNone/>
              <a:tabLst/>
              <a:defRPr>
                <a:latin typeface="Roboto Mono"/>
              </a:defRPr>
            </a:pPr>
            <a:r>
              <a:rPr kumimoji="0" lang="en-US" sz="1400" b="1" i="0" u="none" strike="noStrike" kern="1200" cap="none" spc="0" normalizeH="0" baseline="0" noProof="0" dirty="0">
                <a:ln>
                  <a:noFill/>
                </a:ln>
                <a:solidFill>
                  <a:srgbClr val="212121"/>
                </a:solidFill>
                <a:effectLst/>
                <a:uLnTx/>
                <a:uFillTx/>
                <a:latin typeface="Roboto Mono" pitchFamily="49" charset="0"/>
                <a:ea typeface="Roboto Mono" pitchFamily="49" charset="0"/>
                <a:cs typeface="Roboto Mono" pitchFamily="34" charset="-120"/>
              </a:rPr>
              <a:t>Delivery performance by state</a:t>
            </a:r>
            <a:endParaRPr kumimoji="0" lang="en-US" sz="1400"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sp>
        <p:nvSpPr>
          <p:cNvPr id="60" name="Text 14">
            <a:extLst>
              <a:ext uri="{FF2B5EF4-FFF2-40B4-BE49-F238E27FC236}">
                <a16:creationId xmlns:a16="http://schemas.microsoft.com/office/drawing/2014/main" id="{51D48D06-49BB-E3E3-E738-173FBEAEF011}"/>
              </a:ext>
            </a:extLst>
          </p:cNvPr>
          <p:cNvSpPr/>
          <p:nvPr/>
        </p:nvSpPr>
        <p:spPr>
          <a:xfrm>
            <a:off x="5328492" y="3084841"/>
            <a:ext cx="1535016" cy="874814"/>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50000"/>
              </a:lnSpc>
              <a:spcBef>
                <a:spcPts val="0"/>
              </a:spcBef>
              <a:spcAft>
                <a:spcPts val="0"/>
              </a:spcAft>
              <a:buClrTx/>
              <a:buSzTx/>
              <a:buFontTx/>
              <a:buNone/>
              <a:tabLst/>
              <a:defRPr>
                <a:latin typeface="Roboto Mono"/>
              </a:defRPr>
            </a:pPr>
            <a:endParaRPr kumimoji="0" lang="en-US" sz="900"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sp>
        <p:nvSpPr>
          <p:cNvPr id="61" name="Ovaal 60">
            <a:extLst>
              <a:ext uri="{FF2B5EF4-FFF2-40B4-BE49-F238E27FC236}">
                <a16:creationId xmlns:a16="http://schemas.microsoft.com/office/drawing/2014/main" id="{B3AA3024-3A26-788E-C9AD-AE5376E55209}"/>
              </a:ext>
            </a:extLst>
          </p:cNvPr>
          <p:cNvSpPr/>
          <p:nvPr/>
        </p:nvSpPr>
        <p:spPr>
          <a:xfrm>
            <a:off x="5844904" y="2110450"/>
            <a:ext cx="502193" cy="502193"/>
          </a:xfrm>
          <a:prstGeom prst="ellipse">
            <a:avLst/>
          </a:prstGeom>
          <a:solidFill>
            <a:srgbClr val="FFFFFF"/>
          </a:solidFill>
          <a:ln w="19050">
            <a:solidFill>
              <a:srgbClr val="37B68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Roboto Mono"/>
              </a:defRPr>
            </a:pPr>
            <a:r>
              <a:rPr kumimoji="0" lang="en-US" sz="1400" b="1" i="0" u="none" strike="noStrike" kern="1200" cap="none" spc="0" normalizeH="0" baseline="0" noProof="0" dirty="0">
                <a:ln>
                  <a:noFill/>
                </a:ln>
                <a:solidFill>
                  <a:srgbClr val="167353"/>
                </a:solidFill>
                <a:effectLst/>
                <a:uLnTx/>
                <a:uFillTx/>
                <a:latin typeface="Roboto Mono" pitchFamily="49" charset="0"/>
                <a:ea typeface="Roboto Mono" pitchFamily="49" charset="0"/>
                <a:cs typeface="Roboto Mono" pitchFamily="34" charset="-120"/>
              </a:rPr>
              <a:t>02</a:t>
            </a:r>
            <a:endParaRPr kumimoji="0" lang="nl-BE" sz="1100"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sp>
        <p:nvSpPr>
          <p:cNvPr id="62" name="Text 6">
            <a:extLst>
              <a:ext uri="{FF2B5EF4-FFF2-40B4-BE49-F238E27FC236}">
                <a16:creationId xmlns:a16="http://schemas.microsoft.com/office/drawing/2014/main" id="{DEF1137B-C3E0-2C56-00CC-39FAB3EF401A}"/>
              </a:ext>
            </a:extLst>
          </p:cNvPr>
          <p:cNvSpPr/>
          <p:nvPr/>
        </p:nvSpPr>
        <p:spPr>
          <a:xfrm>
            <a:off x="5522259" y="2706223"/>
            <a:ext cx="1147483" cy="285038"/>
          </a:xfrm>
          <a:prstGeom prst="rect">
            <a:avLst/>
          </a:prstGeom>
          <a:noFill/>
          <a:ln/>
        </p:spPr>
        <p:txBody>
          <a:bodyPr wrap="none" lIns="25400" tIns="25400" rIns="25400" bIns="25400" rtlCol="0" anchor="t">
            <a:normAutofit/>
          </a:bodyPr>
          <a:lstStyle/>
          <a:p>
            <a:pPr marL="0" marR="0" lvl="0" indent="0" algn="ctr" defTabSz="914400" rtl="0" eaLnBrk="1" fontAlgn="auto" latinLnBrk="0" hangingPunct="1">
              <a:lnSpc>
                <a:spcPct val="150000"/>
              </a:lnSpc>
              <a:spcBef>
                <a:spcPts val="0"/>
              </a:spcBef>
              <a:spcAft>
                <a:spcPts val="0"/>
              </a:spcAft>
              <a:buClrTx/>
              <a:buSzTx/>
              <a:buFontTx/>
              <a:buNone/>
              <a:tabLst/>
              <a:defRPr>
                <a:latin typeface="Roboto Mono"/>
              </a:defRPr>
            </a:pPr>
            <a:r>
              <a:rPr kumimoji="0" lang="en-US" sz="1400" b="1" i="0" u="none" strike="noStrike" kern="1200" cap="none" spc="0" normalizeH="0" baseline="0" noProof="0" dirty="0">
                <a:ln>
                  <a:noFill/>
                </a:ln>
                <a:solidFill>
                  <a:srgbClr val="212121"/>
                </a:solidFill>
                <a:effectLst/>
                <a:uLnTx/>
                <a:uFillTx/>
                <a:latin typeface="Roboto Mono" pitchFamily="49" charset="0"/>
                <a:ea typeface="Roboto Mono" pitchFamily="49" charset="0"/>
                <a:cs typeface="Roboto Mono" pitchFamily="34" charset="-120"/>
              </a:rPr>
              <a:t>Monthly revenue by category</a:t>
            </a:r>
            <a:endParaRPr kumimoji="0" lang="en-US" sz="1400"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sp>
        <p:nvSpPr>
          <p:cNvPr id="65" name="Ovaal 64">
            <a:extLst>
              <a:ext uri="{FF2B5EF4-FFF2-40B4-BE49-F238E27FC236}">
                <a16:creationId xmlns:a16="http://schemas.microsoft.com/office/drawing/2014/main" id="{661E2397-0CF2-3857-F304-84C57869BC4E}"/>
              </a:ext>
            </a:extLst>
          </p:cNvPr>
          <p:cNvSpPr/>
          <p:nvPr/>
        </p:nvSpPr>
        <p:spPr>
          <a:xfrm>
            <a:off x="9704554" y="2110450"/>
            <a:ext cx="502193" cy="502193"/>
          </a:xfrm>
          <a:prstGeom prst="ellipse">
            <a:avLst/>
          </a:prstGeom>
          <a:solidFill>
            <a:srgbClr val="FFFFFF"/>
          </a:solidFill>
          <a:ln w="19050">
            <a:solidFill>
              <a:srgbClr val="37B68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Roboto Mono"/>
              </a:defRPr>
            </a:pPr>
            <a:r>
              <a:rPr kumimoji="0" lang="en-US" sz="1400" b="1" i="0" u="none" strike="noStrike" kern="1200" cap="none" spc="0" normalizeH="0" baseline="0" noProof="0" dirty="0">
                <a:ln>
                  <a:noFill/>
                </a:ln>
                <a:solidFill>
                  <a:srgbClr val="167353"/>
                </a:solidFill>
                <a:effectLst/>
                <a:uLnTx/>
                <a:uFillTx/>
                <a:latin typeface="Roboto Mono" pitchFamily="49" charset="0"/>
                <a:ea typeface="Roboto Mono" pitchFamily="49" charset="0"/>
                <a:cs typeface="Roboto Mono" pitchFamily="34" charset="-120"/>
              </a:rPr>
              <a:t>03</a:t>
            </a:r>
            <a:endParaRPr kumimoji="0" lang="nl-BE" sz="1100"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sp>
        <p:nvSpPr>
          <p:cNvPr id="66" name="Text 6">
            <a:extLst>
              <a:ext uri="{FF2B5EF4-FFF2-40B4-BE49-F238E27FC236}">
                <a16:creationId xmlns:a16="http://schemas.microsoft.com/office/drawing/2014/main" id="{85ADF2B4-1432-E438-3E85-F05A0051513C}"/>
              </a:ext>
            </a:extLst>
          </p:cNvPr>
          <p:cNvSpPr/>
          <p:nvPr/>
        </p:nvSpPr>
        <p:spPr>
          <a:xfrm>
            <a:off x="9381909" y="2706223"/>
            <a:ext cx="1147483" cy="285038"/>
          </a:xfrm>
          <a:prstGeom prst="rect">
            <a:avLst/>
          </a:prstGeom>
          <a:noFill/>
          <a:ln/>
        </p:spPr>
        <p:txBody>
          <a:bodyPr wrap="none" lIns="25400" tIns="25400" rIns="25400" bIns="25400" rtlCol="0" anchor="t">
            <a:normAutofit/>
          </a:bodyPr>
          <a:lstStyle/>
          <a:p>
            <a:pPr marL="0" marR="0" lvl="0" indent="0" algn="ctr" defTabSz="914400" rtl="0" eaLnBrk="1" fontAlgn="auto" latinLnBrk="0" hangingPunct="1">
              <a:lnSpc>
                <a:spcPct val="150000"/>
              </a:lnSpc>
              <a:spcBef>
                <a:spcPts val="0"/>
              </a:spcBef>
              <a:spcAft>
                <a:spcPts val="0"/>
              </a:spcAft>
              <a:buClrTx/>
              <a:buSzTx/>
              <a:buFontTx/>
              <a:buNone/>
              <a:tabLst/>
              <a:defRPr>
                <a:latin typeface="Roboto Mono"/>
              </a:defRPr>
            </a:pPr>
            <a:r>
              <a:rPr kumimoji="0" lang="en-US" sz="1400" b="1" i="0" u="none" strike="noStrike" kern="1200" cap="none" spc="0" normalizeH="0" baseline="0" noProof="0" dirty="0">
                <a:ln>
                  <a:noFill/>
                </a:ln>
                <a:solidFill>
                  <a:srgbClr val="212121"/>
                </a:solidFill>
                <a:effectLst/>
                <a:uLnTx/>
                <a:uFillTx/>
                <a:latin typeface="Roboto Mono" pitchFamily="49" charset="0"/>
                <a:ea typeface="Roboto Mono" pitchFamily="49" charset="0"/>
                <a:cs typeface="Roboto Mono" pitchFamily="34" charset="-120"/>
              </a:rPr>
              <a:t>Review score vs delivery delay</a:t>
            </a:r>
            <a:endParaRPr kumimoji="0" lang="en-US" sz="1400"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sp>
        <p:nvSpPr>
          <p:cNvPr id="13" name="Text 14">
            <a:extLst>
              <a:ext uri="{FF2B5EF4-FFF2-40B4-BE49-F238E27FC236}">
                <a16:creationId xmlns:a16="http://schemas.microsoft.com/office/drawing/2014/main" id="{35264F7D-D68A-E45B-F6B3-C5A564FC834B}"/>
              </a:ext>
            </a:extLst>
          </p:cNvPr>
          <p:cNvSpPr/>
          <p:nvPr/>
        </p:nvSpPr>
        <p:spPr>
          <a:xfrm>
            <a:off x="9183680" y="3084841"/>
            <a:ext cx="1535016" cy="874814"/>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50000"/>
              </a:lnSpc>
              <a:spcBef>
                <a:spcPts val="0"/>
              </a:spcBef>
              <a:spcAft>
                <a:spcPts val="0"/>
              </a:spcAft>
              <a:buClrTx/>
              <a:buSzTx/>
              <a:buFontTx/>
              <a:buNone/>
              <a:tabLst/>
              <a:defRPr>
                <a:latin typeface="Roboto Mono"/>
              </a:defRPr>
            </a:pPr>
            <a:endParaRPr kumimoji="0" lang="en-US" sz="788"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sp>
        <p:nvSpPr>
          <p:cNvPr id="14" name="Text 14">
            <a:extLst>
              <a:ext uri="{FF2B5EF4-FFF2-40B4-BE49-F238E27FC236}">
                <a16:creationId xmlns:a16="http://schemas.microsoft.com/office/drawing/2014/main" id="{6976758F-AAAC-19F5-9E06-5DE0B71DE1DD}"/>
              </a:ext>
            </a:extLst>
          </p:cNvPr>
          <p:cNvSpPr/>
          <p:nvPr/>
        </p:nvSpPr>
        <p:spPr>
          <a:xfrm>
            <a:off x="7670522" y="5406765"/>
            <a:ext cx="1535016" cy="874814"/>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50000"/>
              </a:lnSpc>
              <a:spcBef>
                <a:spcPts val="0"/>
              </a:spcBef>
              <a:spcAft>
                <a:spcPts val="0"/>
              </a:spcAft>
              <a:buClrTx/>
              <a:buSzTx/>
              <a:buFontTx/>
              <a:buNone/>
              <a:tabLst/>
              <a:defRPr>
                <a:latin typeface="Roboto Mono"/>
              </a:defRPr>
            </a:pPr>
            <a:endParaRPr kumimoji="0" lang="en-US" sz="788"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sp>
        <p:nvSpPr>
          <p:cNvPr id="17" name="Text 14">
            <a:extLst>
              <a:ext uri="{FF2B5EF4-FFF2-40B4-BE49-F238E27FC236}">
                <a16:creationId xmlns:a16="http://schemas.microsoft.com/office/drawing/2014/main" id="{9D62D7C2-8734-6029-1667-57B191CB666A}"/>
              </a:ext>
            </a:extLst>
          </p:cNvPr>
          <p:cNvSpPr/>
          <p:nvPr/>
        </p:nvSpPr>
        <p:spPr>
          <a:xfrm>
            <a:off x="787045" y="3105368"/>
            <a:ext cx="2520000" cy="2238592"/>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50000"/>
              </a:lnSpc>
              <a:spcBef>
                <a:spcPts val="0"/>
              </a:spcBef>
              <a:spcAft>
                <a:spcPts val="0"/>
              </a:spcAft>
              <a:buClrTx/>
              <a:buSzTx/>
              <a:buFontTx/>
              <a:buNone/>
              <a:tabLst/>
              <a:defRPr>
                <a:latin typeface="Roboto Mono"/>
              </a:defRPr>
            </a:pPr>
            <a:r>
              <a:rPr kumimoji="0" lang="en-US" sz="1400" b="0" i="0" u="none" strike="noStrike" kern="1200" cap="none" spc="0" normalizeH="0" baseline="0" noProof="0" dirty="0">
                <a:ln>
                  <a:noFill/>
                </a:ln>
                <a:solidFill>
                  <a:prstClr val="black"/>
                </a:solidFill>
                <a:effectLst/>
                <a:uLnTx/>
                <a:uFillTx/>
                <a:latin typeface="Roboto Mono" pitchFamily="49" charset="0"/>
                <a:ea typeface="Roboto Mono" pitchFamily="49" charset="0"/>
              </a:rPr>
              <a:t>• Built twice: PySpark ETL and dbt ELT</a:t>
            </a:r>
          </a:p>
        </p:txBody>
      </p:sp>
      <p:sp>
        <p:nvSpPr>
          <p:cNvPr id="7" name="Text 14">
            <a:extLst>
              <a:ext uri="{FF2B5EF4-FFF2-40B4-BE49-F238E27FC236}">
                <a16:creationId xmlns:a16="http://schemas.microsoft.com/office/drawing/2014/main" id="{0666864A-A668-0C15-5083-6C92EAA711A6}"/>
              </a:ext>
            </a:extLst>
          </p:cNvPr>
          <p:cNvSpPr/>
          <p:nvPr/>
        </p:nvSpPr>
        <p:spPr>
          <a:xfrm>
            <a:off x="4836000" y="3113331"/>
            <a:ext cx="2520000" cy="2238592"/>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50000"/>
              </a:lnSpc>
              <a:spcBef>
                <a:spcPts val="0"/>
              </a:spcBef>
              <a:spcAft>
                <a:spcPts val="0"/>
              </a:spcAft>
              <a:buClrTx/>
              <a:buSzTx/>
              <a:buFontTx/>
              <a:buNone/>
              <a:tabLst/>
              <a:defRPr>
                <a:latin typeface="Roboto Mono"/>
              </a:defRPr>
            </a:pPr>
            <a:r>
              <a:rPr kumimoji="0" lang="en-US" sz="1400" b="0" i="0" u="none" strike="noStrike" kern="1200" cap="none" spc="0" normalizeH="0" baseline="0" noProof="0" dirty="0">
                <a:ln>
                  <a:noFill/>
                </a:ln>
                <a:solidFill>
                  <a:prstClr val="black"/>
                </a:solidFill>
                <a:effectLst/>
                <a:uLnTx/>
                <a:uFillTx/>
                <a:latin typeface="Roboto Mono" pitchFamily="49" charset="0"/>
                <a:ea typeface="Roboto Mono" pitchFamily="49" charset="0"/>
              </a:rPr>
              <a:t>• Your choice: PySpark or dbt</a:t>
            </a:r>
          </a:p>
        </p:txBody>
      </p:sp>
      <p:sp>
        <p:nvSpPr>
          <p:cNvPr id="16" name="Text 14">
            <a:extLst>
              <a:ext uri="{FF2B5EF4-FFF2-40B4-BE49-F238E27FC236}">
                <a16:creationId xmlns:a16="http://schemas.microsoft.com/office/drawing/2014/main" id="{C21816C1-92D0-42BC-B672-8DA5D9A380E9}"/>
              </a:ext>
            </a:extLst>
          </p:cNvPr>
          <p:cNvSpPr/>
          <p:nvPr/>
        </p:nvSpPr>
        <p:spPr>
          <a:xfrm>
            <a:off x="8691188" y="3113331"/>
            <a:ext cx="2520000" cy="2238592"/>
          </a:xfrm>
          <a:prstGeom prst="rect">
            <a:avLst/>
          </a:prstGeom>
          <a:noFill/>
          <a:ln/>
        </p:spPr>
        <p:txBody>
          <a:bodyPr wrap="square" lIns="25400" tIns="25400" rIns="25400" bIns="25400" rtlCol="0" anchor="t">
            <a:normAutofit/>
          </a:bodyPr>
          <a:lstStyle/>
          <a:p>
            <a:pPr marL="0" marR="0" lvl="0" indent="0" algn="ctr" defTabSz="914400" rtl="0" eaLnBrk="1" fontAlgn="auto" latinLnBrk="0" hangingPunct="1">
              <a:lnSpc>
                <a:spcPct val="150000"/>
              </a:lnSpc>
              <a:spcBef>
                <a:spcPts val="0"/>
              </a:spcBef>
              <a:spcAft>
                <a:spcPts val="0"/>
              </a:spcAft>
              <a:buClrTx/>
              <a:buSzTx/>
              <a:buFontTx/>
              <a:buNone/>
              <a:tabLst/>
              <a:defRPr>
                <a:latin typeface="Roboto Mono"/>
              </a:defRPr>
            </a:pPr>
            <a:r>
              <a:rPr kumimoji="0" lang="en-US" sz="1400" b="0" i="0" u="none" strike="noStrike" kern="1200" cap="none" spc="0" normalizeH="0" baseline="0" noProof="0" dirty="0">
                <a:ln>
                  <a:noFill/>
                </a:ln>
                <a:solidFill>
                  <a:prstClr val="black"/>
                </a:solidFill>
                <a:effectLst/>
                <a:uLnTx/>
                <a:uFillTx/>
                <a:latin typeface="Roboto Mono" pitchFamily="49" charset="0"/>
                <a:ea typeface="Roboto Mono" pitchFamily="49" charset="0"/>
              </a:rPr>
              <a:t>• Your choice: PySpark or dbt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10896"/>
            <a:ext cx="6400800" cy="274320"/>
          </a:xfrm>
          <a:prstGeom prst="rect">
            <a:avLst/>
          </a:prstGeom>
          <a:noFill/>
        </p:spPr>
        <p:txBody>
          <a:bodyPr wrap="square">
            <a:spAutoFit/>
          </a:bodyPr>
          <a:lstStyle/>
          <a:p>
            <a:pPr algn="l"/>
            <a:r>
              <a:rPr sz="1100" b="1">
                <a:solidFill>
                  <a:srgbClr val="38B580"/>
                </a:solidFill>
                <a:latin typeface="Roboto Mono"/>
              </a:rPr>
              <a:t>OLIST EXERCISE — IN DETAIL</a:t>
            </a:r>
          </a:p>
        </p:txBody>
      </p:sp>
      <p:sp>
        <p:nvSpPr>
          <p:cNvPr id="3" name="TextBox 2"/>
          <p:cNvSpPr txBox="1"/>
          <p:nvPr/>
        </p:nvSpPr>
        <p:spPr>
          <a:xfrm>
            <a:off x="457200" y="566928"/>
            <a:ext cx="10988040" cy="731520"/>
          </a:xfrm>
          <a:prstGeom prst="rect">
            <a:avLst/>
          </a:prstGeom>
          <a:noFill/>
        </p:spPr>
        <p:txBody>
          <a:bodyPr wrap="square">
            <a:spAutoFit/>
          </a:bodyPr>
          <a:lstStyle/>
          <a:p>
            <a:pPr algn="l"/>
            <a:r>
              <a:rPr sz="2200" b="1">
                <a:solidFill>
                  <a:srgbClr val="212121"/>
                </a:solidFill>
                <a:latin typeface="Roboto Mono"/>
              </a:rPr>
              <a:t>What each question actually asks for</a:t>
            </a:r>
          </a:p>
        </p:txBody>
      </p:sp>
      <p:sp>
        <p:nvSpPr>
          <p:cNvPr id="4" name="Rectangle 3"/>
          <p:cNvSpPr/>
          <p:nvPr/>
        </p:nvSpPr>
        <p:spPr>
          <a:xfrm>
            <a:off x="457200" y="1417320"/>
            <a:ext cx="3606800" cy="91440"/>
          </a:xfrm>
          <a:prstGeom prst="rect">
            <a:avLst/>
          </a:prstGeom>
          <a:solidFill>
            <a:srgbClr val="38B5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1508760"/>
            <a:ext cx="3606800" cy="4400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636776"/>
            <a:ext cx="3241040" cy="500000"/>
          </a:xfrm>
          <a:prstGeom prst="rect">
            <a:avLst/>
          </a:prstGeom>
          <a:noFill/>
        </p:spPr>
        <p:txBody>
          <a:bodyPr wrap="square">
            <a:spAutoFit/>
          </a:bodyPr>
          <a:lstStyle/>
          <a:p>
            <a:pPr algn="l"/>
            <a:r>
              <a:rPr sz="1300" b="1">
                <a:solidFill>
                  <a:srgbClr val="212121"/>
                </a:solidFill>
                <a:latin typeface="Roboto Mono"/>
              </a:rPr>
              <a:t>Q1 — Delivery performance by state</a:t>
            </a:r>
          </a:p>
        </p:txBody>
      </p:sp>
      <p:sp>
        <p:nvSpPr>
          <p:cNvPr id="7" name="TextBox 6"/>
          <p:cNvSpPr txBox="1"/>
          <p:nvPr/>
        </p:nvSpPr>
        <p:spPr>
          <a:xfrm>
            <a:off x="640080" y="2136776"/>
            <a:ext cx="3241040" cy="280000"/>
          </a:xfrm>
          <a:prstGeom prst="rect">
            <a:avLst/>
          </a:prstGeom>
          <a:noFill/>
        </p:spPr>
        <p:txBody>
          <a:bodyPr wrap="square">
            <a:spAutoFit/>
          </a:bodyPr>
          <a:lstStyle/>
          <a:p>
            <a:pPr algn="l"/>
            <a:r>
              <a:rPr sz="950" b="1">
                <a:solidFill>
                  <a:srgbClr val="38B580"/>
                </a:solidFill>
                <a:latin typeface="Roboto Mono"/>
              </a:rPr>
              <a:t>Built BOTH ways — PySpark and dbt.</a:t>
            </a:r>
          </a:p>
        </p:txBody>
      </p:sp>
      <p:sp>
        <p:nvSpPr>
          <p:cNvPr id="8" name="TextBox 7"/>
          <p:cNvSpPr txBox="1"/>
          <p:nvPr/>
        </p:nvSpPr>
        <p:spPr>
          <a:xfrm>
            <a:off x="640080" y="2456776"/>
            <a:ext cx="3241040" cy="3351984"/>
          </a:xfrm>
          <a:prstGeom prst="rect">
            <a:avLst/>
          </a:prstGeom>
          <a:noFill/>
        </p:spPr>
        <p:txBody>
          <a:bodyPr wrap="square">
            <a:spAutoFit/>
          </a:bodyPr>
          <a:lstStyle/>
          <a:p>
            <a:pPr algn="l"/>
            <a:r>
              <a:rPr sz="950" b="0">
                <a:solidFill>
                  <a:srgbClr val="64748B"/>
                </a:solidFill>
                <a:latin typeface="Roboto Mono"/>
              </a:rPr>
              <a:t>For every state, work out how many delivered orders there were, how late deliveries tend to run on average, and what share of orders arrive after the date customers were promised.
Dataset: the orders table and the customers table (to know which state each order shipped to).
End result: one row per state, ready to rank from worst to best delivery experience.</a:t>
            </a:r>
          </a:p>
        </p:txBody>
      </p:sp>
      <p:sp>
        <p:nvSpPr>
          <p:cNvPr id="9" name="Rectangle 8"/>
          <p:cNvSpPr/>
          <p:nvPr/>
        </p:nvSpPr>
        <p:spPr>
          <a:xfrm>
            <a:off x="4292600" y="1417320"/>
            <a:ext cx="3606800" cy="91440"/>
          </a:xfrm>
          <a:prstGeom prst="rect">
            <a:avLst/>
          </a:prstGeom>
          <a:solidFill>
            <a:srgbClr val="38B5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292600" y="1508760"/>
            <a:ext cx="3606800" cy="4400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75480" y="1636776"/>
            <a:ext cx="3241040" cy="500000"/>
          </a:xfrm>
          <a:prstGeom prst="rect">
            <a:avLst/>
          </a:prstGeom>
          <a:noFill/>
        </p:spPr>
        <p:txBody>
          <a:bodyPr wrap="square">
            <a:spAutoFit/>
          </a:bodyPr>
          <a:lstStyle/>
          <a:p>
            <a:pPr algn="l"/>
            <a:r>
              <a:rPr sz="1300" b="1">
                <a:solidFill>
                  <a:srgbClr val="212121"/>
                </a:solidFill>
                <a:latin typeface="Roboto Mono"/>
              </a:rPr>
              <a:t>Q2 — Monthly revenue by category</a:t>
            </a:r>
          </a:p>
        </p:txBody>
      </p:sp>
      <p:sp>
        <p:nvSpPr>
          <p:cNvPr id="12" name="TextBox 11"/>
          <p:cNvSpPr txBox="1"/>
          <p:nvPr/>
        </p:nvSpPr>
        <p:spPr>
          <a:xfrm>
            <a:off x="4475480" y="2136776"/>
            <a:ext cx="3241040" cy="280000"/>
          </a:xfrm>
          <a:prstGeom prst="rect">
            <a:avLst/>
          </a:prstGeom>
          <a:noFill/>
        </p:spPr>
        <p:txBody>
          <a:bodyPr wrap="square">
            <a:spAutoFit/>
          </a:bodyPr>
          <a:lstStyle/>
          <a:p>
            <a:pPr algn="l"/>
            <a:r>
              <a:rPr sz="950" b="1">
                <a:solidFill>
                  <a:srgbClr val="38B580"/>
                </a:solidFill>
                <a:latin typeface="Roboto Mono"/>
              </a:rPr>
              <a:t>Your choice — PySpark or dbt.</a:t>
            </a:r>
          </a:p>
        </p:txBody>
      </p:sp>
      <p:sp>
        <p:nvSpPr>
          <p:cNvPr id="13" name="TextBox 12"/>
          <p:cNvSpPr txBox="1"/>
          <p:nvPr/>
        </p:nvSpPr>
        <p:spPr>
          <a:xfrm>
            <a:off x="4475480" y="2456776"/>
            <a:ext cx="3241040" cy="3351984"/>
          </a:xfrm>
          <a:prstGeom prst="rect">
            <a:avLst/>
          </a:prstGeom>
          <a:noFill/>
        </p:spPr>
        <p:txBody>
          <a:bodyPr wrap="square">
            <a:spAutoFit/>
          </a:bodyPr>
          <a:lstStyle/>
          <a:p>
            <a:pPr algn="l"/>
            <a:r>
              <a:rPr sz="950" b="0">
                <a:solidFill>
                  <a:srgbClr val="64748B"/>
                </a:solidFill>
                <a:latin typeface="Roboto Mono"/>
              </a:rPr>
              <a:t>For each month and each product category, work out total revenue and how many orders were placed, using the English category names, and leaving out cancelled orders.
Dataset: order items, products, orders, and the category translation table (product categories are recorded in Portuguese and need mapping to English).
End result: one row per month per category, showing how revenue shifts over time and across categories.</a:t>
            </a:r>
          </a:p>
        </p:txBody>
      </p:sp>
      <p:sp>
        <p:nvSpPr>
          <p:cNvPr id="14" name="Rectangle 13"/>
          <p:cNvSpPr/>
          <p:nvPr/>
        </p:nvSpPr>
        <p:spPr>
          <a:xfrm>
            <a:off x="8128000" y="1417320"/>
            <a:ext cx="3606800" cy="91440"/>
          </a:xfrm>
          <a:prstGeom prst="rect">
            <a:avLst/>
          </a:prstGeom>
          <a:solidFill>
            <a:srgbClr val="38B5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28000" y="1508760"/>
            <a:ext cx="3606800" cy="4400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10880" y="1636776"/>
            <a:ext cx="3241040" cy="500000"/>
          </a:xfrm>
          <a:prstGeom prst="rect">
            <a:avLst/>
          </a:prstGeom>
          <a:noFill/>
        </p:spPr>
        <p:txBody>
          <a:bodyPr wrap="square">
            <a:spAutoFit/>
          </a:bodyPr>
          <a:lstStyle/>
          <a:p>
            <a:pPr algn="l"/>
            <a:r>
              <a:rPr sz="1300" b="1">
                <a:solidFill>
                  <a:srgbClr val="212121"/>
                </a:solidFill>
                <a:latin typeface="Roboto Mono"/>
              </a:rPr>
              <a:t>Q3 — Review score vs delivery delay</a:t>
            </a:r>
          </a:p>
        </p:txBody>
      </p:sp>
      <p:sp>
        <p:nvSpPr>
          <p:cNvPr id="17" name="TextBox 16"/>
          <p:cNvSpPr txBox="1"/>
          <p:nvPr/>
        </p:nvSpPr>
        <p:spPr>
          <a:xfrm>
            <a:off x="8310880" y="2136776"/>
            <a:ext cx="3241040" cy="280000"/>
          </a:xfrm>
          <a:prstGeom prst="rect">
            <a:avLst/>
          </a:prstGeom>
          <a:noFill/>
        </p:spPr>
        <p:txBody>
          <a:bodyPr wrap="square">
            <a:spAutoFit/>
          </a:bodyPr>
          <a:lstStyle/>
          <a:p>
            <a:pPr algn="l"/>
            <a:r>
              <a:rPr sz="950" b="1">
                <a:solidFill>
                  <a:srgbClr val="38B580"/>
                </a:solidFill>
                <a:latin typeface="Roboto Mono"/>
              </a:rPr>
              <a:t>Your choice — PySpark or dbt.</a:t>
            </a:r>
          </a:p>
        </p:txBody>
      </p:sp>
      <p:sp>
        <p:nvSpPr>
          <p:cNvPr id="18" name="TextBox 17"/>
          <p:cNvSpPr txBox="1"/>
          <p:nvPr/>
        </p:nvSpPr>
        <p:spPr>
          <a:xfrm>
            <a:off x="8310880" y="2456776"/>
            <a:ext cx="3241040" cy="3351984"/>
          </a:xfrm>
          <a:prstGeom prst="rect">
            <a:avLst/>
          </a:prstGeom>
          <a:noFill/>
        </p:spPr>
        <p:txBody>
          <a:bodyPr wrap="square">
            <a:spAutoFit/>
          </a:bodyPr>
          <a:lstStyle/>
          <a:p>
            <a:pPr algn="l"/>
            <a:r>
              <a:rPr sz="950" b="0">
                <a:solidFill>
                  <a:srgbClr val="64748B"/>
                </a:solidFill>
                <a:latin typeface="Roboto Mono"/>
              </a:rPr>
              <a:t>Group delivered orders into a few bands — on time, and increasingly late — and see how the average review score differs between those bands.
Dataset: the orders table and the order reviews table.
End result: one row per delay band, so you can say out loud whether shipping speed actually seems to move satisfaction.</a:t>
            </a:r>
          </a:p>
        </p:txBody>
      </p:sp>
      <p:sp>
        <p:nvSpPr>
          <p:cNvPr id="19" name="TextBox 18"/>
          <p:cNvSpPr txBox="1"/>
          <p:nvPr/>
        </p:nvSpPr>
        <p:spPr>
          <a:xfrm>
            <a:off x="457200" y="6008760"/>
            <a:ext cx="8229600" cy="292608"/>
          </a:xfrm>
          <a:prstGeom prst="rect">
            <a:avLst/>
          </a:prstGeom>
          <a:noFill/>
        </p:spPr>
        <p:txBody>
          <a:bodyPr wrap="square">
            <a:spAutoFit/>
          </a:bodyPr>
          <a:lstStyle/>
          <a:p>
            <a:pPr algn="l"/>
            <a:r>
              <a:rPr sz="1000" b="0">
                <a:solidFill>
                  <a:srgbClr val="64748B"/>
                </a:solidFill>
                <a:latin typeface="Roboto Mono"/>
              </a:rPr>
              <a:t>Exact required output columns are in the notebook/dbt file headers — this slide is the plain-language version.</a:t>
            </a:r>
          </a:p>
        </p:txBody>
      </p:sp>
      <p:pic>
        <p:nvPicPr>
          <p:cNvPr id="20" name="Picture 19" descr="image.png"/>
          <p:cNvPicPr>
            <a:picLocks noChangeAspect="1"/>
          </p:cNvPicPr>
          <p:nvPr/>
        </p:nvPicPr>
        <p:blipFill>
          <a:blip r:embed="rId2"/>
          <a:stretch>
            <a:fillRect/>
          </a:stretch>
        </p:blipFill>
        <p:spPr>
          <a:xfrm>
            <a:off x="762000" y="6286500"/>
            <a:ext cx="663327" cy="2667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hthoek 21">
            <a:extLst>
              <a:ext uri="{FF2B5EF4-FFF2-40B4-BE49-F238E27FC236}">
                <a16:creationId xmlns:a16="http://schemas.microsoft.com/office/drawing/2014/main" id="{63036241-4FFB-22F6-0D49-08525E217170}"/>
              </a:ext>
            </a:extLst>
          </p:cNvPr>
          <p:cNvSpPr/>
          <p:nvPr/>
        </p:nvSpPr>
        <p:spPr>
          <a:xfrm>
            <a:off x="4546600" y="0"/>
            <a:ext cx="7645400" cy="6857999"/>
          </a:xfrm>
          <a:prstGeom prst="rect">
            <a:avLst/>
          </a:prstGeom>
          <a:solidFill>
            <a:srgbClr val="F4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latin typeface="Roboto Mono"/>
              </a:defRPr>
            </a:pPr>
            <a:endParaRPr kumimoji="0" lang="nl-BE" sz="1800" b="0" i="0" u="none" strike="noStrike" kern="1200" cap="none" spc="0" normalizeH="0" baseline="0" noProof="0">
              <a:ln>
                <a:noFill/>
              </a:ln>
              <a:solidFill>
                <a:prstClr val="white"/>
              </a:solidFill>
              <a:effectLst/>
              <a:uLnTx/>
              <a:uFillTx/>
              <a:latin typeface="Roboto Mono" pitchFamily="49" charset="0"/>
              <a:ea typeface="Roboto Mono" pitchFamily="49" charset="0"/>
            </a:endParaRPr>
          </a:p>
        </p:txBody>
      </p:sp>
      <p:sp>
        <p:nvSpPr>
          <p:cNvPr id="3" name="Text 1">
            <a:extLst>
              <a:ext uri="{FF2B5EF4-FFF2-40B4-BE49-F238E27FC236}">
                <a16:creationId xmlns:a16="http://schemas.microsoft.com/office/drawing/2014/main" id="{F87F40B9-837F-0244-1009-1F22DCDF25BB}"/>
              </a:ext>
            </a:extLst>
          </p:cNvPr>
          <p:cNvSpPr/>
          <p:nvPr/>
        </p:nvSpPr>
        <p:spPr>
          <a:xfrm>
            <a:off x="457200" y="2588419"/>
            <a:ext cx="3531870" cy="1638300"/>
          </a:xfrm>
          <a:prstGeom prst="rect">
            <a:avLst/>
          </a:prstGeom>
          <a:noFill/>
          <a:ln/>
        </p:spPr>
        <p:txBody>
          <a:bodyPr wrap="square" lIns="25400" tIns="25400" rIns="25400" bIns="25400" rtlCol="0" anchor="ctr">
            <a:normAutofit/>
          </a:bodyPr>
          <a:lstStyle/>
          <a:p>
            <a:pPr marL="0" marR="0" lvl="0" indent="0" algn="ctr" defTabSz="914400" rtl="0" eaLnBrk="1" fontAlgn="auto" latinLnBrk="0" hangingPunct="1">
              <a:lnSpc>
                <a:spcPct val="105000"/>
              </a:lnSpc>
              <a:spcBef>
                <a:spcPts val="0"/>
              </a:spcBef>
              <a:spcAft>
                <a:spcPts val="0"/>
              </a:spcAft>
              <a:buClrTx/>
              <a:buSzTx/>
              <a:buFontTx/>
              <a:buNone/>
              <a:tabLst/>
              <a:defRPr>
                <a:latin typeface="Roboto Mono"/>
              </a:defRPr>
            </a:pPr>
            <a:r>
              <a:rPr kumimoji="0" lang="en-US" sz="3000" b="1" i="0" u="none" strike="noStrike" kern="0" cap="none" spc="-60" normalizeH="0" baseline="0" noProof="0" dirty="0">
                <a:ln>
                  <a:noFill/>
                </a:ln>
                <a:solidFill>
                  <a:srgbClr val="37B680"/>
                </a:solidFill>
                <a:effectLst/>
                <a:uLnTx/>
                <a:uFillTx/>
                <a:latin typeface="Roboto Mono" pitchFamily="49" charset="0"/>
                <a:ea typeface="Roboto Mono" pitchFamily="49" charset="0"/>
                <a:cs typeface="Roboto Mono" pitchFamily="34" charset="-120"/>
              </a:rPr>
              <a:t>Main takeaways</a:t>
            </a:r>
            <a:endParaRPr kumimoji="0" lang="en-US" sz="3000" b="0" i="0" u="none" strike="noStrike" kern="1200" cap="none" spc="0" normalizeH="0" baseline="0" noProof="0" dirty="0">
              <a:ln>
                <a:noFill/>
              </a:ln>
              <a:solidFill>
                <a:srgbClr val="37B680"/>
              </a:solidFill>
              <a:effectLst/>
              <a:uLnTx/>
              <a:uFillTx/>
              <a:latin typeface="Roboto Mono" pitchFamily="49" charset="0"/>
              <a:ea typeface="Roboto Mono" pitchFamily="49" charset="0"/>
            </a:endParaRPr>
          </a:p>
        </p:txBody>
      </p:sp>
      <p:pic>
        <p:nvPicPr>
          <p:cNvPr id="20" name="Image 0" descr="preencoded.png">
            <a:extLst>
              <a:ext uri="{FF2B5EF4-FFF2-40B4-BE49-F238E27FC236}">
                <a16:creationId xmlns:a16="http://schemas.microsoft.com/office/drawing/2014/main" id="{94E45E6A-65C1-A30D-C33F-2CED0572B0BC}"/>
              </a:ext>
            </a:extLst>
          </p:cNvPr>
          <p:cNvPicPr>
            <a:picLocks noChangeAspect="1"/>
          </p:cNvPicPr>
          <p:nvPr/>
        </p:nvPicPr>
        <p:blipFill>
          <a:blip r:embed="rId2"/>
          <a:stretch>
            <a:fillRect/>
          </a:stretch>
        </p:blipFill>
        <p:spPr>
          <a:xfrm>
            <a:off x="762000" y="6286500"/>
            <a:ext cx="663327" cy="266700"/>
          </a:xfrm>
          <a:prstGeom prst="rect">
            <a:avLst/>
          </a:prstGeom>
        </p:spPr>
      </p:pic>
      <p:sp>
        <p:nvSpPr>
          <p:cNvPr id="30" name="Shape 2">
            <a:extLst>
              <a:ext uri="{FF2B5EF4-FFF2-40B4-BE49-F238E27FC236}">
                <a16:creationId xmlns:a16="http://schemas.microsoft.com/office/drawing/2014/main" id="{7299AC55-4998-FB0C-E215-DCF3F793B164}"/>
              </a:ext>
            </a:extLst>
          </p:cNvPr>
          <p:cNvSpPr/>
          <p:nvPr/>
        </p:nvSpPr>
        <p:spPr>
          <a:xfrm>
            <a:off x="4954385" y="4784855"/>
            <a:ext cx="6929638" cy="1736662"/>
          </a:xfrm>
          <a:prstGeom prst="roundRect">
            <a:avLst>
              <a:gd name="adj" fmla="val 8755"/>
            </a:avLst>
          </a:prstGeom>
          <a:solidFill>
            <a:srgbClr val="FFFFFF"/>
          </a:solidFill>
          <a:ln w="9525">
            <a:solidFill>
              <a:srgbClr val="DFE3EB"/>
            </a:solidFill>
            <a:prstDash val="solid"/>
          </a:ln>
          <a:effectLst>
            <a:outerShdw blurRad="57150" dist="19050" dir="5400000" algn="bl" rotWithShape="0">
              <a:srgbClr val="0F172A">
                <a:alpha val="8000"/>
              </a:srgbClr>
            </a:outerShdw>
          </a:effectLst>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Roboto Mono"/>
              </a:defRPr>
            </a:pPr>
            <a:endParaRPr kumimoji="0" lang="nl-BE" sz="1800" b="0" i="0" u="none" strike="noStrike" kern="1200" cap="none" spc="0" normalizeH="0" baseline="0" noProof="0">
              <a:ln>
                <a:noFill/>
              </a:ln>
              <a:solidFill>
                <a:prstClr val="black"/>
              </a:solidFill>
              <a:effectLst/>
              <a:uLnTx/>
              <a:uFillTx/>
              <a:latin typeface="Roboto Mono" pitchFamily="49" charset="0"/>
              <a:ea typeface="Roboto Mono" pitchFamily="49" charset="0"/>
            </a:endParaRPr>
          </a:p>
        </p:txBody>
      </p:sp>
      <p:sp>
        <p:nvSpPr>
          <p:cNvPr id="31" name="Text 3">
            <a:extLst>
              <a:ext uri="{FF2B5EF4-FFF2-40B4-BE49-F238E27FC236}">
                <a16:creationId xmlns:a16="http://schemas.microsoft.com/office/drawing/2014/main" id="{D354EC59-6E5F-20BD-F915-268C299EB13B}"/>
              </a:ext>
            </a:extLst>
          </p:cNvPr>
          <p:cNvSpPr/>
          <p:nvPr/>
        </p:nvSpPr>
        <p:spPr>
          <a:xfrm>
            <a:off x="5167691" y="4863384"/>
            <a:ext cx="4657916" cy="271809"/>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50000"/>
              </a:lnSpc>
              <a:spcBef>
                <a:spcPts val="0"/>
              </a:spcBef>
              <a:spcAft>
                <a:spcPts val="0"/>
              </a:spcAft>
              <a:buClrTx/>
              <a:buSzTx/>
              <a:buFontTx/>
              <a:buNone/>
              <a:tabLst/>
              <a:defRPr>
                <a:latin typeface="Roboto Mono"/>
              </a:defRPr>
            </a:pPr>
            <a:r>
              <a:rPr kumimoji="0" lang="en-US" sz="1100" b="1" i="0" u="none" strike="noStrike" kern="0" cap="none" spc="132" normalizeH="0" baseline="0" noProof="0" dirty="0">
                <a:ln>
                  <a:noFill/>
                </a:ln>
                <a:solidFill>
                  <a:srgbClr val="38B580"/>
                </a:solidFill>
                <a:effectLst/>
                <a:uLnTx/>
                <a:uFillTx/>
                <a:latin typeface="Roboto Mono" pitchFamily="49" charset="0"/>
                <a:ea typeface="Roboto Mono" pitchFamily="49" charset="0"/>
                <a:cs typeface="Roboto Mono" pitchFamily="34" charset="-120"/>
              </a:rPr>
              <a:t>TODAY</a:t>
            </a:r>
            <a:endParaRPr kumimoji="0" lang="en-US" sz="825"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sp>
        <p:nvSpPr>
          <p:cNvPr id="32" name="Text 4">
            <a:extLst>
              <a:ext uri="{FF2B5EF4-FFF2-40B4-BE49-F238E27FC236}">
                <a16:creationId xmlns:a16="http://schemas.microsoft.com/office/drawing/2014/main" id="{E74A7A20-242E-B3B8-3C87-85A97C5929A2}"/>
              </a:ext>
            </a:extLst>
          </p:cNvPr>
          <p:cNvSpPr/>
          <p:nvPr/>
        </p:nvSpPr>
        <p:spPr>
          <a:xfrm>
            <a:off x="5167692" y="5176727"/>
            <a:ext cx="4657916" cy="326171"/>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25000"/>
              </a:lnSpc>
              <a:spcBef>
                <a:spcPts val="0"/>
              </a:spcBef>
              <a:spcAft>
                <a:spcPts val="0"/>
              </a:spcAft>
              <a:buClrTx/>
              <a:buSzTx/>
              <a:buFontTx/>
              <a:buNone/>
              <a:tabLst/>
              <a:defRPr>
                <a:latin typeface="Roboto Mono"/>
              </a:defRPr>
            </a:pPr>
            <a:r>
              <a:rPr kumimoji="0" lang="en-US" sz="1575" b="1" i="0" u="none" strike="noStrike" kern="0" cap="none" spc="-16" normalizeH="0" baseline="0" noProof="0" dirty="0">
                <a:ln>
                  <a:noFill/>
                </a:ln>
                <a:solidFill>
                  <a:srgbClr val="212121"/>
                </a:solidFill>
                <a:effectLst/>
                <a:uLnTx/>
                <a:uFillTx/>
                <a:latin typeface="Roboto Mono" pitchFamily="49" charset="0"/>
                <a:ea typeface="Roboto Mono" pitchFamily="49" charset="0"/>
                <a:cs typeface="Roboto Mono" pitchFamily="34" charset="-120"/>
              </a:rPr>
              <a:t>You are building both</a:t>
            </a:r>
            <a:endParaRPr kumimoji="0" lang="en-US" sz="1575"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sp>
        <p:nvSpPr>
          <p:cNvPr id="33" name="Text 5">
            <a:extLst>
              <a:ext uri="{FF2B5EF4-FFF2-40B4-BE49-F238E27FC236}">
                <a16:creationId xmlns:a16="http://schemas.microsoft.com/office/drawing/2014/main" id="{95021629-908C-1EC1-B353-5013B479C547}"/>
              </a:ext>
            </a:extLst>
          </p:cNvPr>
          <p:cNvSpPr/>
          <p:nvPr/>
        </p:nvSpPr>
        <p:spPr>
          <a:xfrm>
            <a:off x="5167691" y="5456969"/>
            <a:ext cx="6100096" cy="991705"/>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50000"/>
              </a:lnSpc>
              <a:spcBef>
                <a:spcPts val="0"/>
              </a:spcBef>
              <a:spcAft>
                <a:spcPts val="0"/>
              </a:spcAft>
              <a:buClrTx/>
              <a:buSzTx/>
              <a:buFontTx/>
              <a:buNone/>
              <a:tabLst/>
              <a:defRPr>
                <a:latin typeface="Roboto Mono"/>
              </a:defRPr>
            </a:pPr>
            <a:r>
              <a:rPr kumimoji="0" lang="en-US" sz="1050" b="0" i="0" u="none" strike="noStrike" kern="1200" cap="none" spc="0" normalizeH="0" baseline="0" noProof="0" dirty="0">
                <a:ln>
                  <a:noFill/>
                </a:ln>
                <a:solidFill>
                  <a:srgbClr val="4A5160"/>
                </a:solidFill>
                <a:effectLst/>
                <a:uLnTx/>
                <a:uFillTx/>
                <a:latin typeface="Roboto Mono" pitchFamily="49" charset="0"/>
                <a:ea typeface="Roboto Mono" pitchFamily="49" charset="0"/>
                <a:cs typeface="Roboto Mono" pitchFamily="34" charset="-120"/>
              </a:rPr>
              <a:t>Same question, ETL and ELT, side by side</a:t>
            </a:r>
            <a:endParaRPr kumimoji="0" lang="en-US" sz="1400"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sp>
        <p:nvSpPr>
          <p:cNvPr id="2" name="Shape 2">
            <a:extLst>
              <a:ext uri="{FF2B5EF4-FFF2-40B4-BE49-F238E27FC236}">
                <a16:creationId xmlns:a16="http://schemas.microsoft.com/office/drawing/2014/main" id="{A2316573-FF0C-BDCB-ADC4-34B2F76C6AE4}"/>
              </a:ext>
            </a:extLst>
          </p:cNvPr>
          <p:cNvSpPr/>
          <p:nvPr/>
        </p:nvSpPr>
        <p:spPr>
          <a:xfrm>
            <a:off x="4954385" y="330795"/>
            <a:ext cx="6929638" cy="1799879"/>
          </a:xfrm>
          <a:prstGeom prst="roundRect">
            <a:avLst>
              <a:gd name="adj" fmla="val 8755"/>
            </a:avLst>
          </a:prstGeom>
          <a:solidFill>
            <a:srgbClr val="FFFFFF"/>
          </a:solidFill>
          <a:ln w="9525">
            <a:solidFill>
              <a:srgbClr val="DFE3EB"/>
            </a:solidFill>
            <a:prstDash val="solid"/>
          </a:ln>
          <a:effectLst>
            <a:outerShdw blurRad="57150" dist="19050" dir="5400000" algn="bl" rotWithShape="0">
              <a:srgbClr val="0F172A">
                <a:alpha val="8000"/>
              </a:srgbClr>
            </a:outerShdw>
          </a:effectLst>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Roboto Mono"/>
              </a:defRPr>
            </a:pPr>
            <a:endParaRPr kumimoji="0" lang="nl-BE" sz="1800" b="0" i="0" u="none" strike="noStrike" kern="1200" cap="none" spc="0" normalizeH="0" baseline="0" noProof="0">
              <a:ln>
                <a:noFill/>
              </a:ln>
              <a:solidFill>
                <a:prstClr val="black"/>
              </a:solidFill>
              <a:effectLst/>
              <a:uLnTx/>
              <a:uFillTx/>
              <a:latin typeface="Roboto Mono" pitchFamily="49" charset="0"/>
              <a:ea typeface="Roboto Mono" pitchFamily="49" charset="0"/>
            </a:endParaRPr>
          </a:p>
        </p:txBody>
      </p:sp>
      <p:sp>
        <p:nvSpPr>
          <p:cNvPr id="8" name="Text 3">
            <a:extLst>
              <a:ext uri="{FF2B5EF4-FFF2-40B4-BE49-F238E27FC236}">
                <a16:creationId xmlns:a16="http://schemas.microsoft.com/office/drawing/2014/main" id="{8F3B1DE7-F3E7-4180-E335-67B0FFDAD0F9}"/>
              </a:ext>
            </a:extLst>
          </p:cNvPr>
          <p:cNvSpPr/>
          <p:nvPr/>
        </p:nvSpPr>
        <p:spPr>
          <a:xfrm>
            <a:off x="5167691" y="409325"/>
            <a:ext cx="4657916" cy="271809"/>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50000"/>
              </a:lnSpc>
              <a:spcBef>
                <a:spcPts val="0"/>
              </a:spcBef>
              <a:spcAft>
                <a:spcPts val="0"/>
              </a:spcAft>
              <a:buClrTx/>
              <a:buSzTx/>
              <a:buFontTx/>
              <a:buNone/>
              <a:tabLst/>
              <a:defRPr>
                <a:latin typeface="Roboto Mono"/>
              </a:defRPr>
            </a:pPr>
            <a:r>
              <a:rPr kumimoji="0" lang="en-US" sz="1100" b="1" i="0" u="none" strike="noStrike" kern="0" cap="none" spc="132" normalizeH="0" baseline="0" noProof="0" dirty="0">
                <a:ln>
                  <a:noFill/>
                </a:ln>
                <a:solidFill>
                  <a:srgbClr val="38B580"/>
                </a:solidFill>
                <a:effectLst/>
                <a:uLnTx/>
                <a:uFillTx/>
                <a:latin typeface="Roboto Mono" pitchFamily="49" charset="0"/>
                <a:ea typeface="Roboto Mono" pitchFamily="49" charset="0"/>
                <a:cs typeface="Roboto Mono" pitchFamily="34" charset="-120"/>
              </a:rPr>
              <a:t>DEFAULT</a:t>
            </a:r>
            <a:endParaRPr kumimoji="0" lang="en-US" sz="825"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sp>
        <p:nvSpPr>
          <p:cNvPr id="9" name="Text 4">
            <a:extLst>
              <a:ext uri="{FF2B5EF4-FFF2-40B4-BE49-F238E27FC236}">
                <a16:creationId xmlns:a16="http://schemas.microsoft.com/office/drawing/2014/main" id="{79550911-684D-298F-2079-FF8B2199311D}"/>
              </a:ext>
            </a:extLst>
          </p:cNvPr>
          <p:cNvSpPr/>
          <p:nvPr/>
        </p:nvSpPr>
        <p:spPr>
          <a:xfrm>
            <a:off x="5167692" y="722668"/>
            <a:ext cx="4657916" cy="326171"/>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25000"/>
              </a:lnSpc>
              <a:spcBef>
                <a:spcPts val="0"/>
              </a:spcBef>
              <a:spcAft>
                <a:spcPts val="0"/>
              </a:spcAft>
              <a:buClrTx/>
              <a:buSzTx/>
              <a:buFontTx/>
              <a:buNone/>
              <a:tabLst/>
              <a:defRPr>
                <a:latin typeface="Roboto Mono"/>
              </a:defRPr>
            </a:pPr>
            <a:r>
              <a:rPr kumimoji="0" lang="en-US" sz="1575" b="1" i="0" u="none" strike="noStrike" kern="0" cap="none" spc="-16" normalizeH="0" baseline="0" noProof="0" dirty="0">
                <a:ln>
                  <a:noFill/>
                </a:ln>
                <a:solidFill>
                  <a:srgbClr val="212121"/>
                </a:solidFill>
                <a:effectLst/>
                <a:uLnTx/>
                <a:uFillTx/>
                <a:latin typeface="Roboto Mono" pitchFamily="49" charset="0"/>
                <a:ea typeface="Roboto Mono" pitchFamily="49" charset="0"/>
                <a:cs typeface="Roboto Mono" pitchFamily="34" charset="-120"/>
              </a:rPr>
              <a:t>ELT is the default now</a:t>
            </a:r>
            <a:endParaRPr kumimoji="0" lang="en-US" sz="1575"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sp>
        <p:nvSpPr>
          <p:cNvPr id="10" name="Text 5">
            <a:extLst>
              <a:ext uri="{FF2B5EF4-FFF2-40B4-BE49-F238E27FC236}">
                <a16:creationId xmlns:a16="http://schemas.microsoft.com/office/drawing/2014/main" id="{EBF0EF00-82FD-B195-16FD-150C5B0EE922}"/>
              </a:ext>
            </a:extLst>
          </p:cNvPr>
          <p:cNvSpPr/>
          <p:nvPr/>
        </p:nvSpPr>
        <p:spPr>
          <a:xfrm>
            <a:off x="5167691" y="1002910"/>
            <a:ext cx="6100096" cy="1052593"/>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50000"/>
              </a:lnSpc>
              <a:spcBef>
                <a:spcPts val="0"/>
              </a:spcBef>
              <a:spcAft>
                <a:spcPts val="0"/>
              </a:spcAft>
              <a:buClrTx/>
              <a:buSzTx/>
              <a:buFontTx/>
              <a:buNone/>
              <a:tabLst/>
              <a:defRPr>
                <a:latin typeface="Roboto Mono"/>
              </a:defRPr>
            </a:pPr>
            <a:r>
              <a:rPr kumimoji="0" lang="en-US" sz="1050" b="0" i="0" u="none" strike="noStrike" kern="1200" cap="none" spc="0" normalizeH="0" baseline="0" noProof="0" dirty="0">
                <a:ln>
                  <a:noFill/>
                </a:ln>
                <a:solidFill>
                  <a:srgbClr val="4A5160"/>
                </a:solidFill>
                <a:effectLst/>
                <a:uLnTx/>
                <a:uFillTx/>
                <a:latin typeface="Roboto Mono" pitchFamily="49" charset="0"/>
                <a:ea typeface="Roboto Mono" pitchFamily="49" charset="0"/>
                <a:cs typeface="Roboto Mono" pitchFamily="34" charset="-120"/>
              </a:rPr>
              <a:t>Cheap storage, elastic compute, managed ingestion</a:t>
            </a:r>
            <a:endParaRPr kumimoji="0" lang="en-US" sz="1400"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sp>
        <p:nvSpPr>
          <p:cNvPr id="11" name="Shape 2">
            <a:extLst>
              <a:ext uri="{FF2B5EF4-FFF2-40B4-BE49-F238E27FC236}">
                <a16:creationId xmlns:a16="http://schemas.microsoft.com/office/drawing/2014/main" id="{E858EBEA-4D9F-DF61-6063-6103DBBE14EA}"/>
              </a:ext>
            </a:extLst>
          </p:cNvPr>
          <p:cNvSpPr/>
          <p:nvPr/>
        </p:nvSpPr>
        <p:spPr>
          <a:xfrm>
            <a:off x="4954385" y="2551848"/>
            <a:ext cx="6929638" cy="1736663"/>
          </a:xfrm>
          <a:prstGeom prst="roundRect">
            <a:avLst>
              <a:gd name="adj" fmla="val 8755"/>
            </a:avLst>
          </a:prstGeom>
          <a:solidFill>
            <a:srgbClr val="FFFFFF"/>
          </a:solidFill>
          <a:ln w="9525">
            <a:solidFill>
              <a:srgbClr val="DFE3EB"/>
            </a:solidFill>
            <a:prstDash val="solid"/>
          </a:ln>
          <a:effectLst>
            <a:outerShdw blurRad="57150" dist="19050" dir="5400000" algn="bl" rotWithShape="0">
              <a:srgbClr val="0F172A">
                <a:alpha val="8000"/>
              </a:srgbClr>
            </a:outerShdw>
          </a:effectLst>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Roboto Mono"/>
              </a:defRPr>
            </a:pPr>
            <a:endParaRPr kumimoji="0" lang="nl-BE" sz="1800" b="0" i="0" u="none" strike="noStrike" kern="1200" cap="none" spc="0" normalizeH="0" baseline="0" noProof="0">
              <a:ln>
                <a:noFill/>
              </a:ln>
              <a:solidFill>
                <a:prstClr val="black"/>
              </a:solidFill>
              <a:effectLst/>
              <a:uLnTx/>
              <a:uFillTx/>
              <a:latin typeface="Roboto Mono" pitchFamily="49" charset="0"/>
              <a:ea typeface="Roboto Mono" pitchFamily="49" charset="0"/>
            </a:endParaRPr>
          </a:p>
        </p:txBody>
      </p:sp>
      <p:sp>
        <p:nvSpPr>
          <p:cNvPr id="12" name="Text 3">
            <a:extLst>
              <a:ext uri="{FF2B5EF4-FFF2-40B4-BE49-F238E27FC236}">
                <a16:creationId xmlns:a16="http://schemas.microsoft.com/office/drawing/2014/main" id="{2B11FCC1-4124-CFE1-4722-7CC3F2BFD333}"/>
              </a:ext>
            </a:extLst>
          </p:cNvPr>
          <p:cNvSpPr/>
          <p:nvPr/>
        </p:nvSpPr>
        <p:spPr>
          <a:xfrm>
            <a:off x="5167691" y="2630378"/>
            <a:ext cx="4657916" cy="271809"/>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50000"/>
              </a:lnSpc>
              <a:spcBef>
                <a:spcPts val="0"/>
              </a:spcBef>
              <a:spcAft>
                <a:spcPts val="0"/>
              </a:spcAft>
              <a:buClrTx/>
              <a:buSzTx/>
              <a:buFontTx/>
              <a:buNone/>
              <a:tabLst/>
              <a:defRPr>
                <a:latin typeface="Roboto Mono"/>
              </a:defRPr>
            </a:pPr>
            <a:r>
              <a:rPr kumimoji="0" lang="en-US" sz="1100" b="1" i="0" u="none" strike="noStrike" kern="0" cap="none" spc="132" normalizeH="0" baseline="0" noProof="0" dirty="0">
                <a:ln>
                  <a:noFill/>
                </a:ln>
                <a:solidFill>
                  <a:srgbClr val="38B580"/>
                </a:solidFill>
                <a:effectLst/>
                <a:uLnTx/>
                <a:uFillTx/>
                <a:latin typeface="Roboto Mono" pitchFamily="49" charset="0"/>
                <a:ea typeface="Roboto Mono" pitchFamily="49" charset="0"/>
                <a:cs typeface="Roboto Mono" pitchFamily="34" charset="-120"/>
              </a:rPr>
              <a:t>EXCEPTION</a:t>
            </a:r>
            <a:endParaRPr kumimoji="0" lang="en-US" sz="825"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sp>
        <p:nvSpPr>
          <p:cNvPr id="13" name="Text 4">
            <a:extLst>
              <a:ext uri="{FF2B5EF4-FFF2-40B4-BE49-F238E27FC236}">
                <a16:creationId xmlns:a16="http://schemas.microsoft.com/office/drawing/2014/main" id="{C9CCAA3D-A153-03CC-1813-A0075E42F186}"/>
              </a:ext>
            </a:extLst>
          </p:cNvPr>
          <p:cNvSpPr/>
          <p:nvPr/>
        </p:nvSpPr>
        <p:spPr>
          <a:xfrm>
            <a:off x="5167692" y="2943721"/>
            <a:ext cx="4657916" cy="326171"/>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25000"/>
              </a:lnSpc>
              <a:spcBef>
                <a:spcPts val="0"/>
              </a:spcBef>
              <a:spcAft>
                <a:spcPts val="0"/>
              </a:spcAft>
              <a:buClrTx/>
              <a:buSzTx/>
              <a:buFontTx/>
              <a:buNone/>
              <a:tabLst/>
              <a:defRPr>
                <a:latin typeface="Roboto Mono"/>
              </a:defRPr>
            </a:pPr>
            <a:r>
              <a:rPr kumimoji="0" lang="en-US" sz="1575" b="1" i="0" u="none" strike="noStrike" kern="0" cap="none" spc="-16" normalizeH="0" baseline="0" noProof="0" dirty="0">
                <a:ln>
                  <a:noFill/>
                </a:ln>
                <a:solidFill>
                  <a:srgbClr val="212121"/>
                </a:solidFill>
                <a:effectLst/>
                <a:uLnTx/>
                <a:uFillTx/>
                <a:latin typeface="Roboto Mono" pitchFamily="49" charset="0"/>
                <a:ea typeface="Roboto Mono" pitchFamily="49" charset="0"/>
                <a:cs typeface="Roboto Mono" pitchFamily="34" charset="-120"/>
              </a:rPr>
              <a:t>ETL still has real jobs</a:t>
            </a:r>
            <a:endParaRPr kumimoji="0" lang="en-US" sz="1575"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sp>
        <p:nvSpPr>
          <p:cNvPr id="14" name="Text 5">
            <a:extLst>
              <a:ext uri="{FF2B5EF4-FFF2-40B4-BE49-F238E27FC236}">
                <a16:creationId xmlns:a16="http://schemas.microsoft.com/office/drawing/2014/main" id="{5C56FF7A-EC83-EA63-5D0D-BDE39EEAF9EF}"/>
              </a:ext>
            </a:extLst>
          </p:cNvPr>
          <p:cNvSpPr/>
          <p:nvPr/>
        </p:nvSpPr>
        <p:spPr>
          <a:xfrm>
            <a:off x="5167691" y="3223963"/>
            <a:ext cx="6100096" cy="975399"/>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50000"/>
              </a:lnSpc>
              <a:spcBef>
                <a:spcPts val="0"/>
              </a:spcBef>
              <a:spcAft>
                <a:spcPts val="0"/>
              </a:spcAft>
              <a:buClrTx/>
              <a:buSzTx/>
              <a:buFontTx/>
              <a:buNone/>
              <a:tabLst/>
              <a:defRPr>
                <a:latin typeface="Roboto Mono"/>
              </a:defRPr>
            </a:pPr>
            <a:r>
              <a:rPr kumimoji="0" lang="en-US" sz="1050" b="0" i="0" u="none" strike="noStrike" kern="1200" cap="none" spc="0" normalizeH="0" baseline="0" noProof="0" dirty="0">
                <a:ln>
                  <a:noFill/>
                </a:ln>
                <a:solidFill>
                  <a:srgbClr val="4A5160"/>
                </a:solidFill>
                <a:effectLst/>
                <a:uLnTx/>
                <a:uFillTx/>
                <a:latin typeface="Roboto Mono" pitchFamily="49" charset="0"/>
                <a:ea typeface="Roboto Mono" pitchFamily="49" charset="0"/>
                <a:cs typeface="Roboto Mono" pitchFamily="34" charset="-120"/>
              </a:rPr>
              <a:t>Compliance, streaming, edge constraints</a:t>
            </a:r>
            <a:endParaRPr kumimoji="0" lang="en-US" sz="1400"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2">
            <a:extLst>
              <a:ext uri="{FF2B5EF4-FFF2-40B4-BE49-F238E27FC236}">
                <a16:creationId xmlns:a16="http://schemas.microsoft.com/office/drawing/2014/main" id="{F531FB63-7294-A84B-AB0E-1D8E4BD1CF93}"/>
              </a:ext>
            </a:extLst>
          </p:cNvPr>
          <p:cNvSpPr/>
          <p:nvPr/>
        </p:nvSpPr>
        <p:spPr>
          <a:xfrm>
            <a:off x="1502781" y="2644092"/>
            <a:ext cx="5596759" cy="3390900"/>
          </a:xfrm>
          <a:prstGeom prst="rect">
            <a:avLst/>
          </a:prstGeom>
          <a:noFill/>
          <a:ln/>
        </p:spPr>
        <p:txBody>
          <a:bodyPr wrap="square" lIns="25400" tIns="25400" rIns="25400" bIns="2540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Roboto Mono"/>
              </a:defRPr>
            </a:pPr>
            <a:r>
              <a:rPr kumimoji="0" lang="en-US" sz="7200" b="1" i="0" u="none" strike="noStrike" kern="0" cap="none" spc="-198" normalizeH="0" baseline="0" noProof="0" dirty="0">
                <a:ln>
                  <a:noFill/>
                </a:ln>
                <a:solidFill>
                  <a:srgbClr val="FFFFFF"/>
                </a:solidFill>
                <a:effectLst/>
                <a:uLnTx/>
                <a:uFillTx/>
                <a:latin typeface="Roboto Mono" pitchFamily="49" charset="0"/>
                <a:ea typeface="Roboto Mono" pitchFamily="49" charset="0"/>
                <a:cs typeface="Roboto Mono" pitchFamily="34" charset="-120"/>
              </a:rPr>
              <a:t>Thank you.</a:t>
            </a:r>
            <a:endParaRPr kumimoji="0" lang="en-US" sz="7200" b="0" i="0" u="none" strike="noStrike" kern="1200" cap="none" spc="0" normalizeH="0" baseline="0" noProof="0" dirty="0">
              <a:ln>
                <a:noFill/>
              </a:ln>
              <a:solidFill>
                <a:prstClr val="black"/>
              </a:solidFill>
              <a:effectLst/>
              <a:uLnTx/>
              <a:uFillTx/>
              <a:latin typeface="Roboto Mono" pitchFamily="49" charset="0"/>
              <a:ea typeface="Roboto Mono" pitchFamily="49" charset="0"/>
            </a:endParaRPr>
          </a:p>
        </p:txBody>
      </p:sp>
      <p:pic>
        <p:nvPicPr>
          <p:cNvPr id="5" name="Image 1" descr="preencoded.png">
            <a:extLst>
              <a:ext uri="{FF2B5EF4-FFF2-40B4-BE49-F238E27FC236}">
                <a16:creationId xmlns:a16="http://schemas.microsoft.com/office/drawing/2014/main" id="{4FF68BEA-5EC5-4309-6C59-E00895F90535}"/>
              </a:ext>
            </a:extLst>
          </p:cNvPr>
          <p:cNvPicPr>
            <a:picLocks noChangeAspect="1"/>
          </p:cNvPicPr>
          <p:nvPr/>
        </p:nvPicPr>
        <p:blipFill>
          <a:blip r:embed="rId2"/>
          <a:stretch>
            <a:fillRect/>
          </a:stretch>
        </p:blipFill>
        <p:spPr>
          <a:xfrm>
            <a:off x="10830560" y="292100"/>
            <a:ext cx="985520" cy="386444"/>
          </a:xfrm>
          <a:prstGeom prst="rect">
            <a:avLst/>
          </a:prstGeom>
        </p:spPr>
      </p:pic>
      <p:sp>
        <p:nvSpPr>
          <p:cNvPr id="2" name="Text 5">
            <a:extLst>
              <a:ext uri="{FF2B5EF4-FFF2-40B4-BE49-F238E27FC236}">
                <a16:creationId xmlns:a16="http://schemas.microsoft.com/office/drawing/2014/main" id="{0BDA4178-AF2E-54C0-18CA-F0A4CF35DA36}"/>
              </a:ext>
            </a:extLst>
          </p:cNvPr>
          <p:cNvSpPr/>
          <p:nvPr/>
        </p:nvSpPr>
        <p:spPr>
          <a:xfrm>
            <a:off x="761999" y="6067245"/>
            <a:ext cx="3033623" cy="524055"/>
          </a:xfrm>
          <a:prstGeom prst="rect">
            <a:avLst/>
          </a:prstGeom>
          <a:noFill/>
          <a:ln/>
        </p:spPr>
        <p:txBody>
          <a:bodyPr wrap="square" lIns="25400" tIns="25400" rIns="25400" bIns="25400" rtlCol="0" anchor="b">
            <a:normAutofit/>
          </a:bodyPr>
          <a:lstStyle/>
          <a:p>
            <a:pPr lvl="0">
              <a:lnSpc>
                <a:spcPct val="150000"/>
              </a:lnSpc>
              <a:defRPr>
                <a:latin typeface="Roboto Mono"/>
              </a:defRPr>
            </a:pPr>
            <a:r>
              <a:rPr lang="en-US" sz="900" kern="0" spc="90" dirty="0">
                <a:solidFill>
                  <a:srgbClr val="C9D1DE"/>
                </a:solidFill>
                <a:latin typeface="Roboto Mono" pitchFamily="49" charset="0"/>
                <a:ea typeface="Roboto Mono" pitchFamily="49" charset="0"/>
                <a:cs typeface="Roboto Mono" pitchFamily="34" charset="-120"/>
              </a:rPr>
              <a:t>Han | han@dataroots.io</a:t>
            </a:r>
            <a:endParaRPr lang="en-US" sz="600" dirty="0">
              <a:solidFill>
                <a:prstClr val="black"/>
              </a:solidFill>
              <a:latin typeface="Roboto Mono" pitchFamily="49" charset="0"/>
              <a:ea typeface="Roboto Mono" pitchFamily="49"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210</TotalTime>
  <Words>1760</Words>
  <Application>Microsoft Office PowerPoint</Application>
  <PresentationFormat>Widescreen</PresentationFormat>
  <Paragraphs>402</Paragraphs>
  <Slides>18</Slides>
  <Notes>8</Notes>
  <HiddenSlides>0</HiddenSlides>
  <MMClips>0</MMClips>
  <ScaleCrop>false</ScaleCrop>
  <HeadingPairs>
    <vt:vector size="4" baseType="variant">
      <vt:variant>
        <vt:lpstr>Theme</vt:lpstr>
      </vt:variant>
      <vt:variant>
        <vt:i4>2</vt:i4>
      </vt:variant>
      <vt:variant>
        <vt:lpstr>Slide Titles</vt:lpstr>
      </vt:variant>
      <vt:variant>
        <vt:i4>18</vt:i4>
      </vt:variant>
    </vt:vector>
  </HeadingPairs>
  <TitlesOfParts>
    <vt:vector size="20" baseType="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Simon VANDEPUTTE</cp:lastModifiedBy>
  <cp:revision>122</cp:revision>
  <dcterms:created xsi:type="dcterms:W3CDTF">2026-06-11T09:23:58Z</dcterms:created>
  <dcterms:modified xsi:type="dcterms:W3CDTF">2026-09-23T14:58:53Z</dcterms:modified>
</cp:coreProperties>
</file>